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7" r:id="rId2"/>
    <p:sldId id="306" r:id="rId3"/>
    <p:sldId id="309" r:id="rId4"/>
    <p:sldId id="259" r:id="rId5"/>
    <p:sldId id="260" r:id="rId6"/>
    <p:sldId id="262" r:id="rId7"/>
    <p:sldId id="264" r:id="rId8"/>
    <p:sldId id="265" r:id="rId9"/>
    <p:sldId id="266" r:id="rId10"/>
    <p:sldId id="268" r:id="rId11"/>
    <p:sldId id="269" r:id="rId12"/>
    <p:sldId id="270" r:id="rId13"/>
    <p:sldId id="272" r:id="rId14"/>
    <p:sldId id="273" r:id="rId15"/>
    <p:sldId id="274" r:id="rId16"/>
    <p:sldId id="299" r:id="rId17"/>
    <p:sldId id="275" r:id="rId18"/>
    <p:sldId id="277" r:id="rId19"/>
    <p:sldId id="310" r:id="rId20"/>
    <p:sldId id="280" r:id="rId21"/>
    <p:sldId id="293" r:id="rId22"/>
    <p:sldId id="300" r:id="rId23"/>
    <p:sldId id="281" r:id="rId24"/>
    <p:sldId id="282" r:id="rId25"/>
    <p:sldId id="283" r:id="rId26"/>
    <p:sldId id="284" r:id="rId27"/>
    <p:sldId id="285" r:id="rId28"/>
    <p:sldId id="286" r:id="rId29"/>
    <p:sldId id="288" r:id="rId30"/>
    <p:sldId id="289" r:id="rId31"/>
    <p:sldId id="290" r:id="rId32"/>
    <p:sldId id="303" r:id="rId33"/>
    <p:sldId id="296" r:id="rId34"/>
    <p:sldId id="297" r:id="rId35"/>
    <p:sldId id="304" r:id="rId36"/>
    <p:sldId id="305" r:id="rId37"/>
    <p:sldId id="291" r:id="rId38"/>
    <p:sldId id="307" r:id="rId39"/>
    <p:sldId id="308" r:id="rId40"/>
    <p:sldId id="295" r:id="rId4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gP2ilxbP4fbylPDHpeNO7vjF0h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2F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31E142-F8EF-4464-ABEE-8F79346A5F01}">
  <a:tblStyle styleId="{9131E142-F8EF-4464-ABEE-8F79346A5F0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566C69D-7605-41C1-8B6E-26930E785AC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121C066-12C2-47B8-9F6F-AFCF570762B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477" autoAdjust="0"/>
  </p:normalViewPr>
  <p:slideViewPr>
    <p:cSldViewPr snapToGrid="0">
      <p:cViewPr varScale="1">
        <p:scale>
          <a:sx n="72" d="100"/>
          <a:sy n="72" d="100"/>
        </p:scale>
        <p:origin x="1384" y="19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zh-TW"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zh-TW" altLang="en-US" sz="1600" dirty="0"/>
              <a:t>本研究採用存活分析模型，建構以治療前骨骼肌指標預測癌症病患整體存活風險的模型，並進一步透過可解釋 </a:t>
            </a:r>
            <a:r>
              <a:rPr lang="en-US" altLang="zh-TW" sz="1600" dirty="0"/>
              <a:t>AI </a:t>
            </a:r>
            <a:r>
              <a:rPr lang="zh-TW" altLang="en-US" sz="1600" dirty="0"/>
              <a:t>工具（如 </a:t>
            </a:r>
            <a:r>
              <a:rPr lang="en-US" altLang="zh-TW" sz="1600" dirty="0"/>
              <a:t>SHAP</a:t>
            </a:r>
            <a:r>
              <a:rPr lang="zh-TW" altLang="en-US" sz="1600" dirty="0"/>
              <a:t>），發掘具有臨床意義的風險切點（</a:t>
            </a:r>
            <a:r>
              <a:rPr lang="en-US" altLang="zh-TW" sz="1600" dirty="0"/>
              <a:t>cut-point</a:t>
            </a:r>
            <a:r>
              <a:rPr lang="zh-TW" altLang="en-US" sz="1600" dirty="0"/>
              <a:t>）。</a:t>
            </a:r>
            <a:endParaRPr dirty="0"/>
          </a:p>
        </p:txBody>
      </p:sp>
      <p:sp>
        <p:nvSpPr>
          <p:cNvPr id="73" name="Google Shape;73;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25F8A5DA-A035-5F31-1E8D-324D5CF84B23}"/>
            </a:ext>
          </a:extLst>
        </p:cNvPr>
        <p:cNvGrpSpPr/>
        <p:nvPr/>
      </p:nvGrpSpPr>
      <p:grpSpPr>
        <a:xfrm>
          <a:off x="0" y="0"/>
          <a:ext cx="0" cy="0"/>
          <a:chOff x="0" y="0"/>
          <a:chExt cx="0" cy="0"/>
        </a:xfrm>
      </p:grpSpPr>
      <p:sp>
        <p:nvSpPr>
          <p:cNvPr id="79" name="Google Shape;79;g35d33317a91_0_34:notes">
            <a:extLst>
              <a:ext uri="{FF2B5EF4-FFF2-40B4-BE49-F238E27FC236}">
                <a16:creationId xmlns:a16="http://schemas.microsoft.com/office/drawing/2014/main" id="{D1892321-D8A5-5C5A-F410-F91314D99E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g35d33317a91_0_34:notes">
            <a:extLst>
              <a:ext uri="{FF2B5EF4-FFF2-40B4-BE49-F238E27FC236}">
                <a16:creationId xmlns:a16="http://schemas.microsoft.com/office/drawing/2014/main" id="{A680F8B5-C4D8-15EF-B17F-841AD8CA582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1200"/>
              </a:spcBef>
              <a:spcAft>
                <a:spcPts val="0"/>
              </a:spcAft>
              <a:buSzPts val="1400"/>
              <a:buNone/>
            </a:pPr>
            <a:r>
              <a:rPr lang="zh-TW" sz="3600" dirty="0"/>
              <a:t>預後作用</a:t>
            </a:r>
            <a:r>
              <a:rPr lang="en-US" altLang="zh-TW" sz="3600" dirty="0"/>
              <a:t>/</a:t>
            </a:r>
            <a:r>
              <a:rPr lang="zh-TW" dirty="0"/>
              <a:t>傳統和基於人工智慧的生存模型</a:t>
            </a:r>
            <a:endParaRPr dirty="0"/>
          </a:p>
        </p:txBody>
      </p:sp>
      <p:sp>
        <p:nvSpPr>
          <p:cNvPr id="81" name="Google Shape;81;g35d33317a91_0_34:notes">
            <a:extLst>
              <a:ext uri="{FF2B5EF4-FFF2-40B4-BE49-F238E27FC236}">
                <a16:creationId xmlns:a16="http://schemas.microsoft.com/office/drawing/2014/main" id="{BE7385D3-B2E2-1834-9291-568890D1233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a:t>
            </a:fld>
            <a:endParaRPr/>
          </a:p>
        </p:txBody>
      </p:sp>
    </p:spTree>
    <p:extLst>
      <p:ext uri="{BB962C8B-B14F-4D97-AF65-F5344CB8AC3E}">
        <p14:creationId xmlns:p14="http://schemas.microsoft.com/office/powerpoint/2010/main" val="3805656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8BA6087B-3170-38D3-05C3-15A53E5EC85A}"/>
            </a:ext>
          </a:extLst>
        </p:cNvPr>
        <p:cNvGrpSpPr/>
        <p:nvPr/>
      </p:nvGrpSpPr>
      <p:grpSpPr>
        <a:xfrm>
          <a:off x="0" y="0"/>
          <a:ext cx="0" cy="0"/>
          <a:chOff x="0" y="0"/>
          <a:chExt cx="0" cy="0"/>
        </a:xfrm>
      </p:grpSpPr>
      <p:sp>
        <p:nvSpPr>
          <p:cNvPr id="71" name="Google Shape;71;p2:notes">
            <a:extLst>
              <a:ext uri="{FF2B5EF4-FFF2-40B4-BE49-F238E27FC236}">
                <a16:creationId xmlns:a16="http://schemas.microsoft.com/office/drawing/2014/main" id="{6BC323D0-6FAD-B7A3-6860-16AED0B955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a:extLst>
              <a:ext uri="{FF2B5EF4-FFF2-40B4-BE49-F238E27FC236}">
                <a16:creationId xmlns:a16="http://schemas.microsoft.com/office/drawing/2014/main" id="{A11E115A-FBB5-80F2-F08A-A6EBEA17CD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p:txBody>
      </p:sp>
      <p:sp>
        <p:nvSpPr>
          <p:cNvPr id="73" name="Google Shape;73;p2:notes">
            <a:extLst>
              <a:ext uri="{FF2B5EF4-FFF2-40B4-BE49-F238E27FC236}">
                <a16:creationId xmlns:a16="http://schemas.microsoft.com/office/drawing/2014/main" id="{315D94BD-45FB-EC99-DCB6-ED9196A7F41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3</a:t>
            </a:fld>
            <a:endParaRPr/>
          </a:p>
        </p:txBody>
      </p:sp>
    </p:spTree>
    <p:extLst>
      <p:ext uri="{BB962C8B-B14F-4D97-AF65-F5344CB8AC3E}">
        <p14:creationId xmlns:p14="http://schemas.microsoft.com/office/powerpoint/2010/main" val="2485654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dirty="0">
              <a:latin typeface="Arial"/>
              <a:ea typeface="Arial"/>
              <a:cs typeface="Arial"/>
              <a:sym typeface="Arial"/>
            </a:endParaRPr>
          </a:p>
        </p:txBody>
      </p:sp>
      <p:sp>
        <p:nvSpPr>
          <p:cNvPr id="91" name="Google Shape;91;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None/>
            </a:pPr>
            <a:endParaRPr lang="zh-TW" altLang="en-US" sz="3200" dirty="0"/>
          </a:p>
        </p:txBody>
      </p:sp>
      <p:sp>
        <p:nvSpPr>
          <p:cNvPr id="100" name="Google Shape;100;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dirty="0">
              <a:latin typeface="Arial"/>
              <a:ea typeface="Arial"/>
              <a:cs typeface="Arial"/>
              <a:sym typeface="Arial"/>
            </a:endParaRPr>
          </a:p>
        </p:txBody>
      </p:sp>
      <p:sp>
        <p:nvSpPr>
          <p:cNvPr id="114" name="Google Shape;11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buNone/>
            </a:pPr>
            <a:endParaRPr dirty="0"/>
          </a:p>
        </p:txBody>
      </p:sp>
      <p:sp>
        <p:nvSpPr>
          <p:cNvPr id="130" name="Google Shape;13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5d440b47b6_0_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g35d440b47b6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p:txBody>
      </p:sp>
      <p:sp>
        <p:nvSpPr>
          <p:cNvPr id="138" name="Google Shape;138;g35d440b47b6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5d440b47b6_0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g35d440b47b6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47" name="Google Shape;147;g35d440b47b6_0_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dirty="0">
              <a:latin typeface="Arial"/>
              <a:ea typeface="Arial"/>
              <a:cs typeface="Arial"/>
              <a:sym typeface="Arial"/>
            </a:endParaRPr>
          </a:p>
        </p:txBody>
      </p:sp>
      <p:sp>
        <p:nvSpPr>
          <p:cNvPr id="164" name="Google Shape;164;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2" name="Google Shape;172;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0" name="Google Shape;180;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ae18f784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5ae18f784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a:buNone/>
            </a:pPr>
            <a:endParaRPr dirty="0"/>
          </a:p>
        </p:txBody>
      </p:sp>
      <p:sp>
        <p:nvSpPr>
          <p:cNvPr id="198" name="Google Shape;198;g35ae18f784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5ae18f7844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5ae18f7844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rtl="0" fontAlgn="base"/>
            <a:br>
              <a:rPr lang="zh-TW" sz="1100" dirty="0">
                <a:latin typeface="Arial"/>
                <a:ea typeface="Arial"/>
                <a:cs typeface="Arial"/>
                <a:sym typeface="Arial"/>
              </a:rPr>
            </a:br>
            <a:endParaRPr sz="1100" dirty="0">
              <a:latin typeface="Arial"/>
              <a:ea typeface="Arial"/>
              <a:cs typeface="Arial"/>
              <a:sym typeface="Arial"/>
            </a:endParaRPr>
          </a:p>
          <a:p>
            <a:pPr marL="0" lvl="0" indent="0" algn="l" rtl="0">
              <a:lnSpc>
                <a:spcPct val="100000"/>
              </a:lnSpc>
              <a:spcBef>
                <a:spcPts val="1200"/>
              </a:spcBef>
              <a:spcAft>
                <a:spcPts val="0"/>
              </a:spcAft>
              <a:buSzPts val="1400"/>
              <a:buNone/>
            </a:pPr>
            <a:endParaRPr dirty="0"/>
          </a:p>
        </p:txBody>
      </p:sp>
      <p:sp>
        <p:nvSpPr>
          <p:cNvPr id="206" name="Google Shape;206;g35ae18f7844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5aa69b00f9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5aa69b00f9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216" name="Google Shape;216;g35aa69b00f9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a:extLst>
            <a:ext uri="{FF2B5EF4-FFF2-40B4-BE49-F238E27FC236}">
              <a16:creationId xmlns:a16="http://schemas.microsoft.com/office/drawing/2014/main" id="{95265D02-FD5F-3375-9525-67B5F3C4061C}"/>
            </a:ext>
          </a:extLst>
        </p:cNvPr>
        <p:cNvGrpSpPr/>
        <p:nvPr/>
      </p:nvGrpSpPr>
      <p:grpSpPr>
        <a:xfrm>
          <a:off x="0" y="0"/>
          <a:ext cx="0" cy="0"/>
          <a:chOff x="0" y="0"/>
          <a:chExt cx="0" cy="0"/>
        </a:xfrm>
      </p:grpSpPr>
      <p:sp>
        <p:nvSpPr>
          <p:cNvPr id="214" name="Google Shape;214;g35aa69b00f9_0_77:notes">
            <a:extLst>
              <a:ext uri="{FF2B5EF4-FFF2-40B4-BE49-F238E27FC236}">
                <a16:creationId xmlns:a16="http://schemas.microsoft.com/office/drawing/2014/main" id="{A1006C42-C013-9CDD-86EC-91E5E9081D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5aa69b00f9_0_77:notes">
            <a:extLst>
              <a:ext uri="{FF2B5EF4-FFF2-40B4-BE49-F238E27FC236}">
                <a16:creationId xmlns:a16="http://schemas.microsoft.com/office/drawing/2014/main" id="{234DA264-F8E8-5228-DA15-9E484697A3F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br>
              <a:rPr lang="zh-TW" altLang="en-US" sz="1200" b="0" i="0" u="none" strike="noStrike" cap="none" dirty="0">
                <a:solidFill>
                  <a:schemeClr val="dk1"/>
                </a:solidFill>
                <a:effectLst/>
                <a:latin typeface="Calibri"/>
                <a:ea typeface="Calibri"/>
                <a:cs typeface="Calibri"/>
                <a:sym typeface="Calibri"/>
              </a:rPr>
            </a:br>
            <a:endParaRPr dirty="0"/>
          </a:p>
        </p:txBody>
      </p:sp>
      <p:sp>
        <p:nvSpPr>
          <p:cNvPr id="216" name="Google Shape;216;g35aa69b00f9_0_77:notes">
            <a:extLst>
              <a:ext uri="{FF2B5EF4-FFF2-40B4-BE49-F238E27FC236}">
                <a16:creationId xmlns:a16="http://schemas.microsoft.com/office/drawing/2014/main" id="{01E40D58-7C93-64D5-20DF-A5DFAAA8E00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16</a:t>
            </a:fld>
            <a:endParaRPr/>
          </a:p>
        </p:txBody>
      </p:sp>
    </p:spTree>
    <p:extLst>
      <p:ext uri="{BB962C8B-B14F-4D97-AF65-F5344CB8AC3E}">
        <p14:creationId xmlns:p14="http://schemas.microsoft.com/office/powerpoint/2010/main" val="1829979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5aa69b00f9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5aa69b00f9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br>
              <a:rPr lang="zh-TW" altLang="en-US" dirty="0"/>
            </a:br>
            <a:endParaRPr dirty="0"/>
          </a:p>
        </p:txBody>
      </p:sp>
      <p:sp>
        <p:nvSpPr>
          <p:cNvPr id="225" name="Google Shape;225;g35aa69b00f9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aa69b00f9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5aa69b00f9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241" name="Google Shape;241;g35aa69b00f9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8E6F0958-7651-869C-32F2-938F7D30A4CC}"/>
            </a:ext>
          </a:extLst>
        </p:cNvPr>
        <p:cNvGrpSpPr/>
        <p:nvPr/>
      </p:nvGrpSpPr>
      <p:grpSpPr>
        <a:xfrm>
          <a:off x="0" y="0"/>
          <a:ext cx="0" cy="0"/>
          <a:chOff x="0" y="0"/>
          <a:chExt cx="0" cy="0"/>
        </a:xfrm>
      </p:grpSpPr>
      <p:sp>
        <p:nvSpPr>
          <p:cNvPr id="71" name="Google Shape;71;p2:notes">
            <a:extLst>
              <a:ext uri="{FF2B5EF4-FFF2-40B4-BE49-F238E27FC236}">
                <a16:creationId xmlns:a16="http://schemas.microsoft.com/office/drawing/2014/main" id="{4F63303B-4038-0CA0-A0B1-E0389C700D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a:extLst>
              <a:ext uri="{FF2B5EF4-FFF2-40B4-BE49-F238E27FC236}">
                <a16:creationId xmlns:a16="http://schemas.microsoft.com/office/drawing/2014/main" id="{A87570BF-0889-8898-5DE1-E10E66C358E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p:txBody>
      </p:sp>
      <p:sp>
        <p:nvSpPr>
          <p:cNvPr id="73" name="Google Shape;73;p2:notes">
            <a:extLst>
              <a:ext uri="{FF2B5EF4-FFF2-40B4-BE49-F238E27FC236}">
                <a16:creationId xmlns:a16="http://schemas.microsoft.com/office/drawing/2014/main" id="{5AFB50FE-1C30-3BDA-B483-E9DCAFA1BE6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19</a:t>
            </a:fld>
            <a:endParaRPr/>
          </a:p>
        </p:txBody>
      </p:sp>
    </p:spTree>
    <p:extLst>
      <p:ext uri="{BB962C8B-B14F-4D97-AF65-F5344CB8AC3E}">
        <p14:creationId xmlns:p14="http://schemas.microsoft.com/office/powerpoint/2010/main" val="241254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afffe928d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g35afffe928d_0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zh-TW" sz="1100" dirty="0">
                <a:latin typeface="Arial"/>
                <a:ea typeface="Arial"/>
                <a:cs typeface="Arial"/>
                <a:sym typeface="Arial"/>
              </a:rPr>
              <a:t>資料 → 前處理 → 生存模型 → XAI → threshold 推導 → 分群驗證</a:t>
            </a:r>
            <a:endParaRPr sz="1100" dirty="0">
              <a:latin typeface="Arial"/>
              <a:ea typeface="Arial"/>
              <a:cs typeface="Arial"/>
              <a:sym typeface="Arial"/>
            </a:endParaRPr>
          </a:p>
          <a:p>
            <a:pPr marL="0" lvl="0" indent="0" algn="l" rtl="0">
              <a:lnSpc>
                <a:spcPct val="100000"/>
              </a:lnSpc>
              <a:spcBef>
                <a:spcPts val="1200"/>
              </a:spcBef>
              <a:spcAft>
                <a:spcPts val="0"/>
              </a:spcAft>
              <a:buSzPts val="1400"/>
              <a:buNone/>
            </a:pPr>
            <a:endParaRPr dirty="0"/>
          </a:p>
        </p:txBody>
      </p:sp>
      <p:sp>
        <p:nvSpPr>
          <p:cNvPr id="294" name="Google Shape;294;g35afffe928d_0_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zh-TW" altLang="en-US" dirty="0"/>
              <a:t>從患者確定疾病開始，到其死亡或最後一次追蹤為止的</a:t>
            </a:r>
            <a:r>
              <a:rPr lang="zh-TW" altLang="en-US" b="1" dirty="0"/>
              <a:t>年數</a:t>
            </a:r>
            <a:r>
              <a:rPr lang="zh-TW" altLang="en-US" dirty="0"/>
              <a:t>。</a:t>
            </a:r>
            <a:endParaRPr lang="en-US" altLang="zh-TW" dirty="0"/>
          </a:p>
          <a:p>
            <a:pPr marL="0" lvl="0" indent="0" algn="l" rtl="0">
              <a:spcBef>
                <a:spcPts val="0"/>
              </a:spcBef>
              <a:spcAft>
                <a:spcPts val="0"/>
              </a:spcAft>
              <a:buNone/>
            </a:pPr>
            <a:r>
              <a:rPr lang="zh-TW" altLang="en-US" dirty="0"/>
              <a:t>無惡化存活率</a:t>
            </a:r>
            <a:r>
              <a:rPr lang="en-US" altLang="zh-TW" dirty="0"/>
              <a:t>: </a:t>
            </a:r>
            <a:r>
              <a:rPr lang="zh-TW" altLang="en-US" dirty="0"/>
              <a:t>治療開始到疾病復發、惡化期間</a:t>
            </a:r>
            <a:endParaRPr dirty="0"/>
          </a:p>
        </p:txBody>
      </p:sp>
      <p:sp>
        <p:nvSpPr>
          <p:cNvPr id="441" name="Google Shape;44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a:extLst>
            <a:ext uri="{FF2B5EF4-FFF2-40B4-BE49-F238E27FC236}">
              <a16:creationId xmlns:a16="http://schemas.microsoft.com/office/drawing/2014/main" id="{0D971A3B-64A7-F6AA-7A7E-49CC05B7436B}"/>
            </a:ext>
          </a:extLst>
        </p:cNvPr>
        <p:cNvGrpSpPr/>
        <p:nvPr/>
      </p:nvGrpSpPr>
      <p:grpSpPr>
        <a:xfrm>
          <a:off x="0" y="0"/>
          <a:ext cx="0" cy="0"/>
          <a:chOff x="0" y="0"/>
          <a:chExt cx="0" cy="0"/>
        </a:xfrm>
      </p:grpSpPr>
      <p:sp>
        <p:nvSpPr>
          <p:cNvPr id="440" name="Google Shape;440;p27:notes">
            <a:extLst>
              <a:ext uri="{FF2B5EF4-FFF2-40B4-BE49-F238E27FC236}">
                <a16:creationId xmlns:a16="http://schemas.microsoft.com/office/drawing/2014/main" id="{33EF893F-BBFC-DD73-A3C4-A2C4638D69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buNone/>
            </a:pPr>
            <a:r>
              <a:rPr lang="zh-TW" altLang="en-US" b="1" dirty="0"/>
              <a:t>基本資料與身體組成</a:t>
            </a:r>
            <a:r>
              <a:rPr lang="en-US" altLang="zh-TW" b="1" dirty="0"/>
              <a:t>:</a:t>
            </a:r>
            <a:r>
              <a:rPr lang="en-US" altLang="zh-TW" dirty="0"/>
              <a:t>Age</a:t>
            </a:r>
            <a:r>
              <a:rPr lang="zh-TW" altLang="en-US" dirty="0"/>
              <a:t>、</a:t>
            </a:r>
            <a:r>
              <a:rPr lang="en-US" altLang="zh-TW" dirty="0"/>
              <a:t>BMI</a:t>
            </a:r>
            <a:r>
              <a:rPr lang="zh-TW" altLang="en-US" dirty="0"/>
              <a:t>、</a:t>
            </a:r>
            <a:r>
              <a:rPr lang="en-US" altLang="zh-TW" b="1" dirty="0"/>
              <a:t>SMI</a:t>
            </a:r>
            <a:r>
              <a:rPr lang="zh-TW" altLang="en-US" b="1" dirty="0"/>
              <a:t>、</a:t>
            </a:r>
            <a:r>
              <a:rPr lang="en-US" altLang="zh-TW" b="1" dirty="0"/>
              <a:t>SMD</a:t>
            </a:r>
          </a:p>
          <a:p>
            <a:pPr>
              <a:buNone/>
            </a:pPr>
            <a:r>
              <a:rPr lang="zh-TW" altLang="en-US" b="1" dirty="0"/>
              <a:t>發炎相關指標：白蛋白（</a:t>
            </a:r>
            <a:r>
              <a:rPr lang="zh-TW" altLang="en-US" dirty="0"/>
              <a:t>作為營養與發炎狀態的指標</a:t>
            </a:r>
            <a:r>
              <a:rPr lang="zh-TW" altLang="en-US" b="1" dirty="0"/>
              <a:t>）嗜中性白血球與淋巴細胞比</a:t>
            </a:r>
            <a:r>
              <a:rPr lang="en-US" altLang="zh-TW" b="1" dirty="0"/>
              <a:t>(</a:t>
            </a:r>
            <a:r>
              <a:rPr lang="zh-TW" altLang="en-US" dirty="0"/>
              <a:t>全身系統性發炎</a:t>
            </a:r>
            <a:r>
              <a:rPr lang="en-US" altLang="zh-TW" b="1" dirty="0"/>
              <a:t>)</a:t>
            </a:r>
            <a:r>
              <a:rPr lang="zh-TW" altLang="en-US" b="1" dirty="0"/>
              <a:t>、血小板與淋巴細胞比（</a:t>
            </a:r>
            <a:r>
              <a:rPr lang="en-US" altLang="zh-TW" b="1" dirty="0"/>
              <a:t>+</a:t>
            </a:r>
            <a:r>
              <a:rPr lang="zh-TW" altLang="en-US" b="1" dirty="0"/>
              <a:t>免疫反應）</a:t>
            </a:r>
            <a:r>
              <a:rPr lang="zh-TW" altLang="en-US" dirty="0"/>
              <a:t>。</a:t>
            </a:r>
          </a:p>
          <a:p>
            <a:pPr>
              <a:buNone/>
            </a:pPr>
            <a:r>
              <a:rPr lang="zh-TW" altLang="en-US" b="1" dirty="0"/>
              <a:t>惡性腹水狀態</a:t>
            </a:r>
            <a:endParaRPr lang="en-US" altLang="zh-TW" b="1" dirty="0"/>
          </a:p>
          <a:p>
            <a:pPr>
              <a:buNone/>
            </a:pPr>
            <a:r>
              <a:rPr lang="zh-TW" altLang="en-US" dirty="0"/>
              <a:t>第二個是</a:t>
            </a:r>
            <a:r>
              <a:rPr lang="en-US" altLang="zh-TW" b="1" dirty="0"/>
              <a:t>FIGO(</a:t>
            </a:r>
            <a:r>
              <a:rPr lang="zh-TW" altLang="en-US" dirty="0"/>
              <a:t>婦科腫瘤（如</a:t>
            </a:r>
            <a:r>
              <a:rPr lang="zh-TW" altLang="en-US" b="1" dirty="0"/>
              <a:t>卵巢癌、子宮內膜癌、子宮頸癌</a:t>
            </a:r>
            <a:r>
              <a:rPr lang="zh-TW" altLang="en-US" dirty="0"/>
              <a:t>）的標準分期系統</a:t>
            </a:r>
            <a:r>
              <a:rPr lang="en-US" altLang="zh-TW" b="1" dirty="0"/>
              <a:t>) </a:t>
            </a:r>
            <a:r>
              <a:rPr lang="zh-TW" altLang="en-US" b="1" dirty="0"/>
              <a:t>分期分類</a:t>
            </a:r>
            <a:r>
              <a:rPr lang="zh-TW" altLang="en-US" dirty="0"/>
              <a:t>，根據卵巢癌國際標準，我們將第 </a:t>
            </a:r>
            <a:r>
              <a:rPr lang="en-US" altLang="zh-TW" dirty="0"/>
              <a:t>I/II </a:t>
            </a:r>
            <a:r>
              <a:rPr lang="zh-TW" altLang="en-US" dirty="0"/>
              <a:t>期設為 </a:t>
            </a:r>
            <a:r>
              <a:rPr lang="en-US" altLang="zh-TW" dirty="0"/>
              <a:t>0</a:t>
            </a:r>
            <a:r>
              <a:rPr lang="zh-TW" altLang="en-US" dirty="0"/>
              <a:t>，</a:t>
            </a:r>
            <a:r>
              <a:rPr lang="en-US" altLang="zh-TW" dirty="0"/>
              <a:t>III/IV </a:t>
            </a:r>
            <a:r>
              <a:rPr lang="zh-TW" altLang="en-US" dirty="0"/>
              <a:t>期為 </a:t>
            </a:r>
            <a:r>
              <a:rPr lang="en-US" altLang="zh-TW" dirty="0"/>
              <a:t>1</a:t>
            </a:r>
            <a:r>
              <a:rPr lang="zh-TW" altLang="en-US" dirty="0"/>
              <a:t>。</a:t>
            </a:r>
          </a:p>
          <a:p>
            <a:pPr marL="0" lvl="0" indent="0" algn="l" rtl="0">
              <a:spcBef>
                <a:spcPts val="0"/>
              </a:spcBef>
              <a:spcAft>
                <a:spcPts val="0"/>
              </a:spcAft>
              <a:buNone/>
            </a:pPr>
            <a:endParaRPr dirty="0"/>
          </a:p>
        </p:txBody>
      </p:sp>
      <p:sp>
        <p:nvSpPr>
          <p:cNvPr id="441" name="Google Shape;441;p27:notes">
            <a:extLst>
              <a:ext uri="{FF2B5EF4-FFF2-40B4-BE49-F238E27FC236}">
                <a16:creationId xmlns:a16="http://schemas.microsoft.com/office/drawing/2014/main" id="{0F1022FE-5856-1ADA-FD0A-3E1F2DC852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74979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5aa69b00f9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g35aa69b00f9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329" name="Google Shape;329;g35aa69b00f9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5afffe928d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g35afffe928d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37" name="Google Shape;337;g35afffe928d_0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5afffe928d_0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g35afffe928d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344" name="Google Shape;344;g35afffe928d_0_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5aa69b00f9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g35aa69b00f9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400"/>
              <a:buNone/>
            </a:pPr>
            <a:endParaRPr sz="1100" dirty="0">
              <a:latin typeface="Arial"/>
              <a:ea typeface="Arial"/>
              <a:cs typeface="Arial"/>
              <a:sym typeface="Arial"/>
            </a:endParaRPr>
          </a:p>
          <a:p>
            <a:pPr marL="0" lvl="0" indent="0" algn="l" rtl="0">
              <a:lnSpc>
                <a:spcPct val="100000"/>
              </a:lnSpc>
              <a:spcBef>
                <a:spcPts val="1200"/>
              </a:spcBef>
              <a:spcAft>
                <a:spcPts val="0"/>
              </a:spcAft>
              <a:buSzPts val="1400"/>
              <a:buNone/>
            </a:pPr>
            <a:endParaRPr dirty="0"/>
          </a:p>
        </p:txBody>
      </p:sp>
      <p:sp>
        <p:nvSpPr>
          <p:cNvPr id="352" name="Google Shape;352;g35aa69b00f9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5d24a1ea2c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g35d24a1ea2c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360" name="Google Shape;360;g35d24a1ea2c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5d33317a91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g35d33317a91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4" name="Google Shape;374;g35d33317a91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5d440b47b6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g35d440b47b6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endParaRPr dirty="0"/>
          </a:p>
        </p:txBody>
      </p:sp>
      <p:sp>
        <p:nvSpPr>
          <p:cNvPr id="397" name="Google Shape;397;g35d440b47b6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5d440b47b6_0_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g35d440b47b6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br>
              <a:rPr lang="zh-TW" altLang="en-US" sz="1100" dirty="0"/>
            </a:br>
            <a:endParaRPr dirty="0"/>
          </a:p>
        </p:txBody>
      </p:sp>
      <p:sp>
        <p:nvSpPr>
          <p:cNvPr id="407" name="Google Shape;407;g35d440b47b6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5aa69b00f9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g35aa69b00f9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endParaRPr dirty="0"/>
          </a:p>
        </p:txBody>
      </p:sp>
      <p:sp>
        <p:nvSpPr>
          <p:cNvPr id="418" name="Google Shape;418;g35aa69b00f9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538BD50D-0D98-4680-2DEA-96036E32ABDD}"/>
            </a:ext>
          </a:extLst>
        </p:cNvPr>
        <p:cNvGrpSpPr/>
        <p:nvPr/>
      </p:nvGrpSpPr>
      <p:grpSpPr>
        <a:xfrm>
          <a:off x="0" y="0"/>
          <a:ext cx="0" cy="0"/>
          <a:chOff x="0" y="0"/>
          <a:chExt cx="0" cy="0"/>
        </a:xfrm>
      </p:grpSpPr>
      <p:sp>
        <p:nvSpPr>
          <p:cNvPr id="447" name="Google Shape;447;p28:notes">
            <a:extLst>
              <a:ext uri="{FF2B5EF4-FFF2-40B4-BE49-F238E27FC236}">
                <a16:creationId xmlns:a16="http://schemas.microsoft.com/office/drawing/2014/main" id="{A896429A-8853-1C09-5568-CA0C2D6081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28:notes">
            <a:extLst>
              <a:ext uri="{FF2B5EF4-FFF2-40B4-BE49-F238E27FC236}">
                <a16:creationId xmlns:a16="http://schemas.microsoft.com/office/drawing/2014/main" id="{8FA801B4-667F-5736-82B8-1F8E1A5CECC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449" name="Google Shape;449;p28:notes">
            <a:extLst>
              <a:ext uri="{FF2B5EF4-FFF2-40B4-BE49-F238E27FC236}">
                <a16:creationId xmlns:a16="http://schemas.microsoft.com/office/drawing/2014/main" id="{105421AD-607E-C3BB-149D-51864481605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32</a:t>
            </a:fld>
            <a:endParaRPr/>
          </a:p>
        </p:txBody>
      </p:sp>
    </p:spTree>
    <p:extLst>
      <p:ext uri="{BB962C8B-B14F-4D97-AF65-F5344CB8AC3E}">
        <p14:creationId xmlns:p14="http://schemas.microsoft.com/office/powerpoint/2010/main" val="4252982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24022533-C6D2-2C1C-4CBE-2EB0A14B3F9A}"/>
            </a:ext>
          </a:extLst>
        </p:cNvPr>
        <p:cNvGrpSpPr/>
        <p:nvPr/>
      </p:nvGrpSpPr>
      <p:grpSpPr>
        <a:xfrm>
          <a:off x="0" y="0"/>
          <a:ext cx="0" cy="0"/>
          <a:chOff x="0" y="0"/>
          <a:chExt cx="0" cy="0"/>
        </a:xfrm>
      </p:grpSpPr>
      <p:sp>
        <p:nvSpPr>
          <p:cNvPr id="447" name="Google Shape;447;p28:notes">
            <a:extLst>
              <a:ext uri="{FF2B5EF4-FFF2-40B4-BE49-F238E27FC236}">
                <a16:creationId xmlns:a16="http://schemas.microsoft.com/office/drawing/2014/main" id="{0D630BF7-ACAD-A268-0233-99DD1BF466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28:notes">
            <a:extLst>
              <a:ext uri="{FF2B5EF4-FFF2-40B4-BE49-F238E27FC236}">
                <a16:creationId xmlns:a16="http://schemas.microsoft.com/office/drawing/2014/main" id="{61D38EAD-0AFB-1AFB-AFBD-4419C4EE0DD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449" name="Google Shape;449;p28:notes">
            <a:extLst>
              <a:ext uri="{FF2B5EF4-FFF2-40B4-BE49-F238E27FC236}">
                <a16:creationId xmlns:a16="http://schemas.microsoft.com/office/drawing/2014/main" id="{421CB65A-9A3E-4808-8266-981B5DA77A5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33</a:t>
            </a:fld>
            <a:endParaRPr/>
          </a:p>
        </p:txBody>
      </p:sp>
    </p:spTree>
    <p:extLst>
      <p:ext uri="{BB962C8B-B14F-4D97-AF65-F5344CB8AC3E}">
        <p14:creationId xmlns:p14="http://schemas.microsoft.com/office/powerpoint/2010/main" val="3609780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1A17F7C7-B733-04D2-2463-A38B9A114CB3}"/>
            </a:ext>
          </a:extLst>
        </p:cNvPr>
        <p:cNvGrpSpPr/>
        <p:nvPr/>
      </p:nvGrpSpPr>
      <p:grpSpPr>
        <a:xfrm>
          <a:off x="0" y="0"/>
          <a:ext cx="0" cy="0"/>
          <a:chOff x="0" y="0"/>
          <a:chExt cx="0" cy="0"/>
        </a:xfrm>
      </p:grpSpPr>
      <p:sp>
        <p:nvSpPr>
          <p:cNvPr id="447" name="Google Shape;447;p28:notes">
            <a:extLst>
              <a:ext uri="{FF2B5EF4-FFF2-40B4-BE49-F238E27FC236}">
                <a16:creationId xmlns:a16="http://schemas.microsoft.com/office/drawing/2014/main" id="{4F4BBA0E-0891-BB70-1D5F-444A3C1DC6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28:notes">
            <a:extLst>
              <a:ext uri="{FF2B5EF4-FFF2-40B4-BE49-F238E27FC236}">
                <a16:creationId xmlns:a16="http://schemas.microsoft.com/office/drawing/2014/main" id="{447E3CE2-841A-7636-D962-ED721C6C0C9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449" name="Google Shape;449;p28:notes">
            <a:extLst>
              <a:ext uri="{FF2B5EF4-FFF2-40B4-BE49-F238E27FC236}">
                <a16:creationId xmlns:a16="http://schemas.microsoft.com/office/drawing/2014/main" id="{B67F7092-F615-4CFC-9F1D-EA43B5E2FDE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34</a:t>
            </a:fld>
            <a:endParaRPr/>
          </a:p>
        </p:txBody>
      </p:sp>
    </p:spTree>
    <p:extLst>
      <p:ext uri="{BB962C8B-B14F-4D97-AF65-F5344CB8AC3E}">
        <p14:creationId xmlns:p14="http://schemas.microsoft.com/office/powerpoint/2010/main" val="1468087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87FEE09C-3CC3-1DED-311E-0B3412478398}"/>
            </a:ext>
          </a:extLst>
        </p:cNvPr>
        <p:cNvGrpSpPr/>
        <p:nvPr/>
      </p:nvGrpSpPr>
      <p:grpSpPr>
        <a:xfrm>
          <a:off x="0" y="0"/>
          <a:ext cx="0" cy="0"/>
          <a:chOff x="0" y="0"/>
          <a:chExt cx="0" cy="0"/>
        </a:xfrm>
      </p:grpSpPr>
      <p:sp>
        <p:nvSpPr>
          <p:cNvPr id="447" name="Google Shape;447;p28:notes">
            <a:extLst>
              <a:ext uri="{FF2B5EF4-FFF2-40B4-BE49-F238E27FC236}">
                <a16:creationId xmlns:a16="http://schemas.microsoft.com/office/drawing/2014/main" id="{29A8FF20-CC8C-59C8-E778-C9E7C8127D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28:notes">
            <a:extLst>
              <a:ext uri="{FF2B5EF4-FFF2-40B4-BE49-F238E27FC236}">
                <a16:creationId xmlns:a16="http://schemas.microsoft.com/office/drawing/2014/main" id="{1403639F-FA86-5A9C-1B4F-B7F4B49B2B8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lang="en-US" altLang="zh-TW" dirty="0"/>
          </a:p>
        </p:txBody>
      </p:sp>
      <p:sp>
        <p:nvSpPr>
          <p:cNvPr id="449" name="Google Shape;449;p28:notes">
            <a:extLst>
              <a:ext uri="{FF2B5EF4-FFF2-40B4-BE49-F238E27FC236}">
                <a16:creationId xmlns:a16="http://schemas.microsoft.com/office/drawing/2014/main" id="{154F7FCB-868B-3F06-F7ED-7EDBA552C11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35</a:t>
            </a:fld>
            <a:endParaRPr/>
          </a:p>
        </p:txBody>
      </p:sp>
    </p:spTree>
    <p:extLst>
      <p:ext uri="{BB962C8B-B14F-4D97-AF65-F5344CB8AC3E}">
        <p14:creationId xmlns:p14="http://schemas.microsoft.com/office/powerpoint/2010/main" val="27842306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7DFFD775-07CA-0456-F45B-C851F57EB609}"/>
            </a:ext>
          </a:extLst>
        </p:cNvPr>
        <p:cNvGrpSpPr/>
        <p:nvPr/>
      </p:nvGrpSpPr>
      <p:grpSpPr>
        <a:xfrm>
          <a:off x="0" y="0"/>
          <a:ext cx="0" cy="0"/>
          <a:chOff x="0" y="0"/>
          <a:chExt cx="0" cy="0"/>
        </a:xfrm>
      </p:grpSpPr>
      <p:sp>
        <p:nvSpPr>
          <p:cNvPr id="447" name="Google Shape;447;p28:notes">
            <a:extLst>
              <a:ext uri="{FF2B5EF4-FFF2-40B4-BE49-F238E27FC236}">
                <a16:creationId xmlns:a16="http://schemas.microsoft.com/office/drawing/2014/main" id="{1949FA08-91BF-95BA-797E-5DD8AA674F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28:notes">
            <a:extLst>
              <a:ext uri="{FF2B5EF4-FFF2-40B4-BE49-F238E27FC236}">
                <a16:creationId xmlns:a16="http://schemas.microsoft.com/office/drawing/2014/main" id="{FDB08FB4-570E-C65B-431B-E455FCF4838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449" name="Google Shape;449;p28:notes">
            <a:extLst>
              <a:ext uri="{FF2B5EF4-FFF2-40B4-BE49-F238E27FC236}">
                <a16:creationId xmlns:a16="http://schemas.microsoft.com/office/drawing/2014/main" id="{668215FC-E247-09B8-C1B6-F1BF083E36B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36</a:t>
            </a:fld>
            <a:endParaRPr/>
          </a:p>
        </p:txBody>
      </p:sp>
    </p:spTree>
    <p:extLst>
      <p:ext uri="{BB962C8B-B14F-4D97-AF65-F5344CB8AC3E}">
        <p14:creationId xmlns:p14="http://schemas.microsoft.com/office/powerpoint/2010/main" val="14090193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5aa69b00f9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g35aa69b00f9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200"/>
              </a:spcBef>
              <a:spcAft>
                <a:spcPts val="0"/>
              </a:spcAft>
              <a:buSzPts val="1400"/>
              <a:buNone/>
            </a:pPr>
            <a:endParaRPr dirty="0"/>
          </a:p>
        </p:txBody>
      </p:sp>
      <p:sp>
        <p:nvSpPr>
          <p:cNvPr id="427" name="Google Shape;427;g35aa69b00f9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zh-TW"/>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4D68170-FAA6-A2CE-2D5A-97E28124D2B4}"/>
            </a:ext>
          </a:extLst>
        </p:cNvPr>
        <p:cNvGrpSpPr/>
        <p:nvPr/>
      </p:nvGrpSpPr>
      <p:grpSpPr>
        <a:xfrm>
          <a:off x="0" y="0"/>
          <a:ext cx="0" cy="0"/>
          <a:chOff x="0" y="0"/>
          <a:chExt cx="0" cy="0"/>
        </a:xfrm>
      </p:grpSpPr>
      <p:sp>
        <p:nvSpPr>
          <p:cNvPr id="89" name="Google Shape;89;p3:notes">
            <a:extLst>
              <a:ext uri="{FF2B5EF4-FFF2-40B4-BE49-F238E27FC236}">
                <a16:creationId xmlns:a16="http://schemas.microsoft.com/office/drawing/2014/main" id="{0F93E43D-527D-8FB3-2410-E76906DD9D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3:notes">
            <a:extLst>
              <a:ext uri="{FF2B5EF4-FFF2-40B4-BE49-F238E27FC236}">
                <a16:creationId xmlns:a16="http://schemas.microsoft.com/office/drawing/2014/main" id="{DFCECEE9-7AD4-9FE3-7135-3DF79A668C1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dirty="0">
              <a:latin typeface="Arial"/>
              <a:ea typeface="Arial"/>
              <a:cs typeface="Arial"/>
              <a:sym typeface="Arial"/>
            </a:endParaRPr>
          </a:p>
        </p:txBody>
      </p:sp>
      <p:sp>
        <p:nvSpPr>
          <p:cNvPr id="91" name="Google Shape;91;p3:notes">
            <a:extLst>
              <a:ext uri="{FF2B5EF4-FFF2-40B4-BE49-F238E27FC236}">
                <a16:creationId xmlns:a16="http://schemas.microsoft.com/office/drawing/2014/main" id="{F0FE4D79-7813-E8B1-4EB9-BA9621D593D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38</a:t>
            </a:fld>
            <a:endParaRPr/>
          </a:p>
        </p:txBody>
      </p:sp>
    </p:spTree>
    <p:extLst>
      <p:ext uri="{BB962C8B-B14F-4D97-AF65-F5344CB8AC3E}">
        <p14:creationId xmlns:p14="http://schemas.microsoft.com/office/powerpoint/2010/main" val="2827426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FDF4EABA-A6B4-2ED7-11F9-16CDF2CE4183}"/>
            </a:ext>
          </a:extLst>
        </p:cNvPr>
        <p:cNvGrpSpPr/>
        <p:nvPr/>
      </p:nvGrpSpPr>
      <p:grpSpPr>
        <a:xfrm>
          <a:off x="0" y="0"/>
          <a:ext cx="0" cy="0"/>
          <a:chOff x="0" y="0"/>
          <a:chExt cx="0" cy="0"/>
        </a:xfrm>
      </p:grpSpPr>
      <p:sp>
        <p:nvSpPr>
          <p:cNvPr id="89" name="Google Shape;89;p3:notes">
            <a:extLst>
              <a:ext uri="{FF2B5EF4-FFF2-40B4-BE49-F238E27FC236}">
                <a16:creationId xmlns:a16="http://schemas.microsoft.com/office/drawing/2014/main" id="{63377F49-09E7-B677-C1D2-C1DEF1EF77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3:notes">
            <a:extLst>
              <a:ext uri="{FF2B5EF4-FFF2-40B4-BE49-F238E27FC236}">
                <a16:creationId xmlns:a16="http://schemas.microsoft.com/office/drawing/2014/main" id="{CC1A6D60-E212-D7AD-53FA-7FD49B5809C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100" dirty="0">
              <a:latin typeface="Arial"/>
              <a:ea typeface="Arial"/>
              <a:cs typeface="Arial"/>
              <a:sym typeface="Arial"/>
            </a:endParaRPr>
          </a:p>
        </p:txBody>
      </p:sp>
      <p:sp>
        <p:nvSpPr>
          <p:cNvPr id="91" name="Google Shape;91;p3:notes">
            <a:extLst>
              <a:ext uri="{FF2B5EF4-FFF2-40B4-BE49-F238E27FC236}">
                <a16:creationId xmlns:a16="http://schemas.microsoft.com/office/drawing/2014/main" id="{099C7699-32DD-630A-F6F9-F4BD1EA9C8D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ltLang="zh-TW"/>
              <a:t>39</a:t>
            </a:fld>
            <a:endParaRPr/>
          </a:p>
        </p:txBody>
      </p:sp>
    </p:spTree>
    <p:extLst>
      <p:ext uri="{BB962C8B-B14F-4D97-AF65-F5344CB8AC3E}">
        <p14:creationId xmlns:p14="http://schemas.microsoft.com/office/powerpoint/2010/main" val="3181166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zh-TW"/>
              <a:t>40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35d5cc129d7_0_4"/>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5" name="Google Shape;15;g35d5cc129d7_0_4"/>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35d5cc129d7_0_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35d5cc129d7_0_8"/>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g35d5cc129d7_0_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g35d5cc129d7_0_1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g35d5cc129d7_0_1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3" name="Google Shape;23;g35d5cc129d7_0_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g35d5cc129d7_0_1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6" name="Google Shape;26;g35d5cc129d7_0_1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7" name="Google Shape;27;g35d5cc129d7_0_1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8" name="Google Shape;28;g35d5cc129d7_0_1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g35d5cc129d7_0_20"/>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31" name="Google Shape;31;g35d5cc129d7_0_2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g35d5cc129d7_0_23"/>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4" name="Google Shape;34;g35d5cc129d7_0_23"/>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5" name="Google Shape;35;g35d5cc129d7_0_2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35d5cc129d7_0_27"/>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8" name="Google Shape;38;g35d5cc129d7_0_2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35d5cc129d7_0_3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 name="Google Shape;41;g35d5cc129d7_0_30"/>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2" name="Google Shape;42;g35d5cc129d7_0_30"/>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3" name="Google Shape;43;g35d5cc129d7_0_30"/>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4" name="Google Shape;44;g35d5cc129d7_0_3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g35d5cc129d7_0_36"/>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7" name="Google Shape;47;g35d5cc129d7_0_3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g35d5cc129d7_0_39"/>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g35d5cc129d7_0_39"/>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1" name="Google Shape;51;g35d5cc129d7_0_3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g35d5cc129d7_0_4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標題投影片 1">
  <p:cSld name="標題投影片">
    <p:spTree>
      <p:nvGrpSpPr>
        <p:cNvPr id="1" name="Shape 54"/>
        <p:cNvGrpSpPr/>
        <p:nvPr/>
      </p:nvGrpSpPr>
      <p:grpSpPr>
        <a:xfrm>
          <a:off x="0" y="0"/>
          <a:ext cx="0" cy="0"/>
          <a:chOff x="0" y="0"/>
          <a:chExt cx="0" cy="0"/>
        </a:xfrm>
      </p:grpSpPr>
      <p:sp>
        <p:nvSpPr>
          <p:cNvPr id="55" name="Google Shape;55;g35d5cc129d7_0_45"/>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56"/>
        <p:cNvGrpSpPr/>
        <p:nvPr/>
      </p:nvGrpSpPr>
      <p:grpSpPr>
        <a:xfrm>
          <a:off x="0" y="0"/>
          <a:ext cx="0" cy="0"/>
          <a:chOff x="0" y="0"/>
          <a:chExt cx="0" cy="0"/>
        </a:xfrm>
      </p:grpSpPr>
      <p:sp>
        <p:nvSpPr>
          <p:cNvPr id="57" name="Google Shape;57;g35d5cc129d7_0_47"/>
          <p:cNvSpPr txBox="1">
            <a:spLocks noGrp="1"/>
          </p:cNvSpPr>
          <p:nvPr>
            <p:ph type="title"/>
          </p:nvPr>
        </p:nvSpPr>
        <p:spPr>
          <a:xfrm>
            <a:off x="673440" y="152398"/>
            <a:ext cx="10515600" cy="763500"/>
          </a:xfrm>
          <a:prstGeom prst="rect">
            <a:avLst/>
          </a:prstGeom>
          <a:noFill/>
          <a:ln>
            <a:noFill/>
          </a:ln>
        </p:spPr>
        <p:txBody>
          <a:bodyPr spcFirstLastPara="1" wrap="square" lIns="91425" tIns="45700" rIns="91425" bIns="45700" anchor="t" anchorCtr="0">
            <a:noAutofit/>
          </a:bodyPr>
          <a:lstStyle>
            <a:lvl1pPr marR="0" lvl="0" algn="l">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g35d5cc129d7_0_47"/>
          <p:cNvSpPr txBox="1">
            <a:spLocks noGrp="1"/>
          </p:cNvSpPr>
          <p:nvPr>
            <p:ph type="body" idx="1"/>
          </p:nvPr>
        </p:nvSpPr>
        <p:spPr>
          <a:xfrm>
            <a:off x="673440" y="1171486"/>
            <a:ext cx="10515600" cy="44370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59" name="Google Shape;59;g35d5cc129d7_0_4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60" name="Google Shape;60;g35d5cc129d7_0_4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g35d5cc129d7_0_47"/>
          <p:cNvSpPr txBox="1">
            <a:spLocks noGrp="1"/>
          </p:cNvSpPr>
          <p:nvPr>
            <p:ph type="sldNum" idx="12"/>
          </p:nvPr>
        </p:nvSpPr>
        <p:spPr>
          <a:xfrm>
            <a:off x="11561463" y="6492875"/>
            <a:ext cx="787500" cy="3651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35d5cc129d7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1" name="Google Shape;11;g35d5cc129d7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12" name="Google Shape;12;g35d5cc129d7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grpSp>
        <p:nvGrpSpPr>
          <p:cNvPr id="2" name="群組 1">
            <a:extLst>
              <a:ext uri="{FF2B5EF4-FFF2-40B4-BE49-F238E27FC236}">
                <a16:creationId xmlns:a16="http://schemas.microsoft.com/office/drawing/2014/main" id="{B4219DB6-7194-F461-7FE8-535693EB0DF0}"/>
              </a:ext>
            </a:extLst>
          </p:cNvPr>
          <p:cNvGrpSpPr/>
          <p:nvPr/>
        </p:nvGrpSpPr>
        <p:grpSpPr>
          <a:xfrm>
            <a:off x="955403" y="1187397"/>
            <a:ext cx="10281194" cy="4483207"/>
            <a:chOff x="1131755" y="1406437"/>
            <a:chExt cx="10281194" cy="4483207"/>
          </a:xfrm>
        </p:grpSpPr>
        <p:sp>
          <p:nvSpPr>
            <p:cNvPr id="75" name="Google Shape;75;p2"/>
            <p:cNvSpPr txBox="1"/>
            <p:nvPr/>
          </p:nvSpPr>
          <p:spPr>
            <a:xfrm>
              <a:off x="4420752" y="4473644"/>
              <a:ext cx="3703200" cy="1416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zh-TW" sz="2200" b="0" i="0" u="none" strike="noStrike" cap="none">
                  <a:solidFill>
                    <a:schemeClr val="dk1"/>
                  </a:solidFill>
                  <a:latin typeface="Calibri"/>
                  <a:ea typeface="Calibri"/>
                  <a:cs typeface="Calibri"/>
                  <a:sym typeface="Calibri"/>
                </a:rPr>
                <a:t>Student：Ning-Hsiang Weng</a:t>
              </a:r>
              <a:endParaRPr sz="2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200"/>
                <a:buFont typeface="Arial"/>
                <a:buNone/>
              </a:pPr>
              <a:r>
                <a:rPr lang="zh-TW" sz="2200" b="0" i="0" u="none" strike="noStrike" cap="none">
                  <a:solidFill>
                    <a:schemeClr val="dk1"/>
                  </a:solidFill>
                  <a:latin typeface="Calibri"/>
                  <a:ea typeface="Calibri"/>
                  <a:cs typeface="Calibri"/>
                  <a:sym typeface="Calibri"/>
                </a:rPr>
                <a:t>Advisor：Kun-Pin Wu, PH.D. </a:t>
              </a:r>
              <a:endParaRPr sz="22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200"/>
                <a:buFont typeface="Arial"/>
                <a:buNone/>
              </a:pPr>
              <a:r>
                <a:rPr lang="zh-TW" sz="2200" b="0" i="0" u="none" strike="noStrike" cap="none">
                  <a:solidFill>
                    <a:schemeClr val="dk1"/>
                  </a:solidFill>
                  <a:latin typeface="Calibri"/>
                  <a:ea typeface="Calibri"/>
                  <a:cs typeface="Calibri"/>
                  <a:sym typeface="Calibri"/>
                </a:rPr>
                <a:t>Date : 2025.06.05</a:t>
              </a:r>
              <a:endParaRPr sz="22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76" name="Google Shape;76;p2"/>
            <p:cNvSpPr/>
            <p:nvPr/>
          </p:nvSpPr>
          <p:spPr>
            <a:xfrm>
              <a:off x="1986102" y="4173053"/>
              <a:ext cx="8572500" cy="56700"/>
            </a:xfrm>
            <a:prstGeom prst="rect">
              <a:avLst/>
            </a:prstGeom>
            <a:solidFill>
              <a:srgbClr val="2F5496"/>
            </a:solid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7" name="Google Shape;77;p2"/>
            <p:cNvSpPr txBox="1"/>
            <p:nvPr/>
          </p:nvSpPr>
          <p:spPr>
            <a:xfrm>
              <a:off x="1131755" y="1406437"/>
              <a:ext cx="10281194" cy="2739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300"/>
                <a:buFont typeface="Arial"/>
                <a:buNone/>
              </a:pPr>
              <a:r>
                <a:rPr lang="en-US" altLang="zh-TW" sz="4300" b="1" i="0" u="none" strike="noStrike" cap="none" dirty="0">
                  <a:solidFill>
                    <a:schemeClr val="dk1"/>
                  </a:solidFill>
                  <a:latin typeface="Calibri"/>
                  <a:ea typeface="Calibri"/>
                  <a:cs typeface="Calibri"/>
                  <a:sym typeface="Calibri"/>
                </a:rPr>
                <a:t>Survival Analysis and Threshold Discovery from Pre-treatment Skeletal Muscle Index and Density in Cancer Patients Using Explainable AI</a:t>
              </a:r>
              <a:endParaRPr lang="en-US" sz="4300" b="1" i="0" u="none" strike="noStrike" cap="none" dirty="0">
                <a:solidFill>
                  <a:schemeClr val="dk1"/>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847C05C4-2F08-8DE6-725A-25A8ABA94645}"/>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18A5BA2E-D160-278C-4A66-ED5C33BC86D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a:t>
            </a:fld>
            <a:endParaRPr lang="en-US"/>
          </a:p>
        </p:txBody>
      </p:sp>
      <p:sp>
        <p:nvSpPr>
          <p:cNvPr id="3" name="矩形 2">
            <a:extLst>
              <a:ext uri="{FF2B5EF4-FFF2-40B4-BE49-F238E27FC236}">
                <a16:creationId xmlns:a16="http://schemas.microsoft.com/office/drawing/2014/main" id="{3E9BC983-48BF-75B6-8D18-A3B98DABD9CE}"/>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Google Shape;83;g35d33317a91_0_34">
            <a:extLst>
              <a:ext uri="{FF2B5EF4-FFF2-40B4-BE49-F238E27FC236}">
                <a16:creationId xmlns:a16="http://schemas.microsoft.com/office/drawing/2014/main" id="{D811272D-A458-647F-B929-730EB6DCD683}"/>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a:t>
            </a:fld>
            <a:endParaRPr/>
          </a:p>
        </p:txBody>
      </p:sp>
      <p:sp>
        <p:nvSpPr>
          <p:cNvPr id="84" name="Google Shape;84;g35d33317a91_0_34">
            <a:extLst>
              <a:ext uri="{FF2B5EF4-FFF2-40B4-BE49-F238E27FC236}">
                <a16:creationId xmlns:a16="http://schemas.microsoft.com/office/drawing/2014/main" id="{A3A0C7AD-D299-C4CA-51A0-B452904413C2}"/>
              </a:ext>
            </a:extLst>
          </p:cNvPr>
          <p:cNvSpPr/>
          <p:nvPr/>
        </p:nvSpPr>
        <p:spPr>
          <a:xfrm>
            <a:off x="1051886" y="1615344"/>
            <a:ext cx="4425000" cy="76500"/>
          </a:xfrm>
          <a:prstGeom prst="rect">
            <a:avLst/>
          </a:prstGeom>
          <a:solidFill>
            <a:srgbClr val="2F5496"/>
          </a:solid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85" name="Google Shape;85;g35d33317a91_0_34">
            <a:extLst>
              <a:ext uri="{FF2B5EF4-FFF2-40B4-BE49-F238E27FC236}">
                <a16:creationId xmlns:a16="http://schemas.microsoft.com/office/drawing/2014/main" id="{B5D0720B-4AA0-A96F-1ABD-C20CE3E37544}"/>
              </a:ext>
            </a:extLst>
          </p:cNvPr>
          <p:cNvSpPr/>
          <p:nvPr/>
        </p:nvSpPr>
        <p:spPr>
          <a:xfrm>
            <a:off x="6881186" y="1615344"/>
            <a:ext cx="4425000" cy="76500"/>
          </a:xfrm>
          <a:prstGeom prst="rect">
            <a:avLst/>
          </a:prstGeom>
          <a:solidFill>
            <a:srgbClr val="2F5496"/>
          </a:solid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86" name="Google Shape;86;g35d33317a91_0_34">
            <a:extLst>
              <a:ext uri="{FF2B5EF4-FFF2-40B4-BE49-F238E27FC236}">
                <a16:creationId xmlns:a16="http://schemas.microsoft.com/office/drawing/2014/main" id="{84996B2F-16B6-A25C-6FC2-3B9308B1C1C2}"/>
              </a:ext>
            </a:extLst>
          </p:cNvPr>
          <p:cNvSpPr txBox="1"/>
          <p:nvPr/>
        </p:nvSpPr>
        <p:spPr>
          <a:xfrm>
            <a:off x="631268" y="997045"/>
            <a:ext cx="5543578" cy="6672555"/>
          </a:xfrm>
          <a:prstGeom prst="rect">
            <a:avLst/>
          </a:prstGeom>
          <a:noFill/>
          <a:ln>
            <a:noFill/>
          </a:ln>
        </p:spPr>
        <p:txBody>
          <a:bodyPr spcFirstLastPara="1" wrap="square" lIns="91425" tIns="45700" rIns="91425" bIns="45700" anchor="t" anchorCtr="0">
            <a:spAutoFit/>
          </a:bodyPr>
          <a:lstStyle/>
          <a:p>
            <a:pPr marL="457200" marR="0" lvl="0" indent="-368300" algn="ctr" rtl="0">
              <a:lnSpc>
                <a:spcPct val="100000"/>
              </a:lnSpc>
              <a:spcBef>
                <a:spcPts val="0"/>
              </a:spcBef>
              <a:spcAft>
                <a:spcPts val="0"/>
              </a:spcAft>
              <a:buClr>
                <a:schemeClr val="dk1"/>
              </a:buClr>
              <a:buSzPts val="2200"/>
              <a:buFont typeface="Calibri"/>
              <a:buAutoNum type="arabicPeriod"/>
            </a:pPr>
            <a:r>
              <a:rPr lang="zh-TW" sz="2400" b="1" i="0" u="none" strike="noStrike" cap="none" dirty="0">
                <a:solidFill>
                  <a:schemeClr val="dk1"/>
                </a:solidFill>
                <a:latin typeface="Calibri"/>
                <a:ea typeface="Calibri"/>
                <a:cs typeface="Calibri"/>
                <a:sym typeface="Calibri"/>
              </a:rPr>
              <a:t>Background and Motivation</a:t>
            </a:r>
            <a:endParaRPr sz="2400" b="1" i="0" u="none" strike="noStrike" cap="none" dirty="0">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000000"/>
              </a:buClr>
              <a:buSzPts val="2200"/>
              <a:buFont typeface="Arial"/>
              <a:buNone/>
            </a:pPr>
            <a:endParaRPr sz="2200" b="0" i="0" u="none" strike="noStrike" cap="none" dirty="0">
              <a:solidFill>
                <a:schemeClr val="dk1"/>
              </a:solidFill>
              <a:latin typeface="Calibri"/>
              <a:ea typeface="Calibri"/>
              <a:cs typeface="Calibri"/>
              <a:sym typeface="Calibri"/>
            </a:endParaRPr>
          </a:p>
          <a:p>
            <a:pPr marL="457200" marR="0" lvl="0" indent="0" algn="l" rtl="0">
              <a:lnSpc>
                <a:spcPct val="150000"/>
              </a:lnSpc>
              <a:spcBef>
                <a:spcPts val="1200"/>
              </a:spcBef>
              <a:spcAft>
                <a:spcPts val="0"/>
              </a:spcAft>
              <a:buClr>
                <a:schemeClr val="dk1"/>
              </a:buClr>
              <a:buSzPts val="1100"/>
              <a:buFont typeface="Arial"/>
              <a:buNone/>
            </a:pPr>
            <a:r>
              <a:rPr lang="zh-TW" sz="2000" b="0" i="0" u="none" strike="noStrike" cap="none" dirty="0">
                <a:solidFill>
                  <a:schemeClr val="dk1"/>
                </a:solidFill>
                <a:latin typeface="Calibri"/>
                <a:ea typeface="Calibri"/>
                <a:cs typeface="Calibri"/>
                <a:sym typeface="Calibri"/>
              </a:rPr>
              <a:t>1.1 </a:t>
            </a:r>
            <a:r>
              <a:rPr lang="en-US" altLang="zh-TW" sz="2000" b="0" i="0" u="none" strike="noStrike" cap="none" dirty="0">
                <a:solidFill>
                  <a:schemeClr val="dk1"/>
                </a:solidFill>
                <a:latin typeface="Calibri"/>
                <a:ea typeface="Calibri"/>
                <a:cs typeface="Calibri"/>
                <a:sym typeface="Calibri"/>
              </a:rPr>
              <a:t>Definition and Prognostic Role of</a:t>
            </a:r>
            <a:r>
              <a:rPr lang="zh-TW" altLang="en-US" sz="2000" b="0" i="0" u="none" strike="noStrike" cap="none" dirty="0">
                <a:solidFill>
                  <a:schemeClr val="dk1"/>
                </a:solidFill>
                <a:latin typeface="Calibri"/>
                <a:ea typeface="Calibri"/>
                <a:cs typeface="Calibri"/>
                <a:sym typeface="Calibri"/>
              </a:rPr>
              <a:t> </a:t>
            </a:r>
            <a:r>
              <a:rPr lang="zh-TW" sz="2000" b="0" i="0" u="none" strike="noStrike" cap="none" dirty="0">
                <a:solidFill>
                  <a:schemeClr val="dk1"/>
                </a:solidFill>
                <a:latin typeface="Calibri"/>
                <a:ea typeface="Calibri"/>
                <a:cs typeface="Calibri"/>
                <a:sym typeface="Calibri"/>
              </a:rPr>
              <a:t>Skeletal Muscle Index (SMI) and Skeletal Muscle Density (SMD)</a:t>
            </a:r>
            <a:endParaRPr lang="en-US" altLang="zh-TW" sz="2000" b="0" i="0" u="none" strike="noStrike" cap="none" dirty="0">
              <a:solidFill>
                <a:schemeClr val="dk1"/>
              </a:solidFill>
              <a:latin typeface="Calibri"/>
              <a:ea typeface="Calibri"/>
              <a:cs typeface="Calibri"/>
              <a:sym typeface="Calibri"/>
            </a:endParaRPr>
          </a:p>
          <a:p>
            <a:pPr marL="457200">
              <a:lnSpc>
                <a:spcPct val="150000"/>
              </a:lnSpc>
              <a:spcBef>
                <a:spcPts val="1200"/>
              </a:spcBef>
              <a:buClr>
                <a:schemeClr val="dk1"/>
              </a:buClr>
              <a:buSzPts val="1100"/>
            </a:pPr>
            <a:r>
              <a:rPr lang="en-US" altLang="zh-TW" sz="2000" b="0" i="0" u="none" strike="noStrike" cap="none" dirty="0">
                <a:solidFill>
                  <a:schemeClr val="dk1"/>
                </a:solidFill>
                <a:latin typeface="Calibri"/>
                <a:ea typeface="Calibri"/>
                <a:cs typeface="Calibri"/>
                <a:sym typeface="Calibri"/>
              </a:rPr>
              <a:t>1.2 Review of Traditional and AI-based Survival Models</a:t>
            </a:r>
            <a:endParaRPr sz="2000" b="0" i="0" u="none" strike="noStrike" cap="none" dirty="0">
              <a:solidFill>
                <a:schemeClr val="dk1"/>
              </a:solidFill>
              <a:latin typeface="Calibri"/>
              <a:ea typeface="Calibri"/>
              <a:cs typeface="Calibri"/>
              <a:sym typeface="Calibri"/>
            </a:endParaRP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1.4 Research Aim</a:t>
            </a:r>
            <a:endParaRPr lang="en-US"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
        <p:nvSpPr>
          <p:cNvPr id="87" name="Google Shape;87;g35d33317a91_0_34">
            <a:extLst>
              <a:ext uri="{FF2B5EF4-FFF2-40B4-BE49-F238E27FC236}">
                <a16:creationId xmlns:a16="http://schemas.microsoft.com/office/drawing/2014/main" id="{20D47804-B033-404B-1D6C-38D4EB0CEFCE}"/>
              </a:ext>
            </a:extLst>
          </p:cNvPr>
          <p:cNvSpPr txBox="1"/>
          <p:nvPr/>
        </p:nvSpPr>
        <p:spPr>
          <a:xfrm>
            <a:off x="6411634" y="804164"/>
            <a:ext cx="5543578" cy="624166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1200"/>
              </a:spcBef>
              <a:spcAft>
                <a:spcPts val="0"/>
              </a:spcAft>
              <a:buClr>
                <a:srgbClr val="000000"/>
              </a:buClr>
              <a:buSzPts val="2200"/>
              <a:buFont typeface="Arial"/>
              <a:buNone/>
            </a:pPr>
            <a:r>
              <a:rPr lang="zh-TW" sz="2400" b="1" i="0" u="none" strike="noStrike" cap="none" dirty="0">
                <a:solidFill>
                  <a:schemeClr val="dk1"/>
                </a:solidFill>
                <a:latin typeface="Calibri"/>
                <a:ea typeface="Calibri"/>
                <a:cs typeface="Calibri"/>
                <a:sym typeface="Calibri"/>
              </a:rPr>
              <a:t>2.   Study Design and Methodology </a:t>
            </a:r>
            <a:endParaRPr sz="2400" b="1" i="0" u="none" strike="noStrike" cap="none" dirty="0">
              <a:solidFill>
                <a:schemeClr val="dk1"/>
              </a:solidFill>
              <a:latin typeface="Calibri"/>
              <a:ea typeface="Calibri"/>
              <a:cs typeface="Calibri"/>
              <a:sym typeface="Calibri"/>
            </a:endParaRPr>
          </a:p>
          <a:p>
            <a:pPr marL="0" marR="0" lvl="0" indent="0" algn="ctr" rtl="0">
              <a:lnSpc>
                <a:spcPct val="115000"/>
              </a:lnSpc>
              <a:spcBef>
                <a:spcPts val="0"/>
              </a:spcBef>
              <a:spcAft>
                <a:spcPts val="0"/>
              </a:spcAft>
              <a:buClr>
                <a:srgbClr val="000000"/>
              </a:buClr>
              <a:buSzPts val="2200"/>
              <a:buFont typeface="Arial"/>
              <a:buNone/>
            </a:pPr>
            <a:endParaRPr sz="2200" b="0" i="0" u="none" strike="noStrike" cap="none" dirty="0">
              <a:solidFill>
                <a:schemeClr val="dk1"/>
              </a:solidFill>
              <a:latin typeface="Calibri"/>
              <a:ea typeface="Calibri"/>
              <a:cs typeface="Calibri"/>
              <a:sym typeface="Calibri"/>
            </a:endParaRP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2.1 Study Workflow and Data</a:t>
            </a: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2.2 Survival Modeling and Evaluation</a:t>
            </a: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2.3 SHAP-based Interpretation, Threshold Discovery and Validation</a:t>
            </a: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2.4 Preliminary Results</a:t>
            </a:r>
          </a:p>
          <a:p>
            <a:pPr marL="457200" marR="0" lvl="0" indent="0" algn="l" rtl="0">
              <a:lnSpc>
                <a:spcPct val="150000"/>
              </a:lnSpc>
              <a:spcBef>
                <a:spcPts val="1200"/>
              </a:spcBef>
              <a:spcAft>
                <a:spcPts val="0"/>
              </a:spcAft>
              <a:buClr>
                <a:schemeClr val="dk1"/>
              </a:buClr>
              <a:buSzPts val="1100"/>
              <a:buFont typeface="Arial"/>
              <a:buNone/>
            </a:pPr>
            <a:r>
              <a:rPr lang="en-US" altLang="zh-TW" sz="2000" b="0" i="0" u="none" strike="noStrike" cap="none" dirty="0">
                <a:solidFill>
                  <a:schemeClr val="dk1"/>
                </a:solidFill>
                <a:latin typeface="Calibri"/>
                <a:ea typeface="Calibri"/>
                <a:cs typeface="Calibri"/>
                <a:sym typeface="Calibri"/>
              </a:rPr>
              <a:t>2.5 Conclusion and Future Work</a:t>
            </a:r>
            <a:endParaRPr lang="en-US"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l" rtl="0">
              <a:lnSpc>
                <a:spcPct val="115000"/>
              </a:lnSpc>
              <a:spcBef>
                <a:spcPts val="1200"/>
              </a:spcBef>
              <a:spcAft>
                <a:spcPts val="0"/>
              </a:spcAft>
              <a:buClr>
                <a:schemeClr val="dk1"/>
              </a:buClr>
              <a:buSzPts val="2000"/>
              <a:buFont typeface="Arial"/>
              <a:buNone/>
            </a:pPr>
            <a:endParaRPr sz="1400" b="1" i="0" u="none" strike="noStrike" cap="none" dirty="0">
              <a:solidFill>
                <a:schemeClr val="dk1"/>
              </a:solidFill>
              <a:highlight>
                <a:schemeClr val="accent2"/>
              </a:highlight>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
        <p:nvSpPr>
          <p:cNvPr id="5" name="文字方塊 4">
            <a:extLst>
              <a:ext uri="{FF2B5EF4-FFF2-40B4-BE49-F238E27FC236}">
                <a16:creationId xmlns:a16="http://schemas.microsoft.com/office/drawing/2014/main" id="{8B134536-F482-5449-CC9B-79FC348DB85B}"/>
              </a:ext>
            </a:extLst>
          </p:cNvPr>
          <p:cNvSpPr txBox="1"/>
          <p:nvPr/>
        </p:nvSpPr>
        <p:spPr>
          <a:xfrm>
            <a:off x="401796" y="267482"/>
            <a:ext cx="6177914" cy="523220"/>
          </a:xfrm>
          <a:prstGeom prst="rect">
            <a:avLst/>
          </a:prstGeom>
          <a:noFill/>
        </p:spPr>
        <p:txBody>
          <a:bodyPr wrap="square">
            <a:spAutoFit/>
          </a:bodyPr>
          <a:lstStyle/>
          <a:p>
            <a:r>
              <a:rPr lang="en-US" sz="2800" b="1" i="0" dirty="0">
                <a:solidFill>
                  <a:srgbClr val="040C28"/>
                </a:solidFill>
                <a:effectLst/>
                <a:latin typeface="Calibri" panose="020F0502020204030204" pitchFamily="34" charset="0"/>
                <a:cs typeface="Calibri" panose="020F0502020204030204" pitchFamily="34" charset="0"/>
              </a:rPr>
              <a:t>Contents</a:t>
            </a:r>
            <a:endParaRPr lang="en-US" sz="2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25043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6A2F79F6-F4B1-B969-F7D4-46E11ED79668}"/>
            </a:ext>
          </a:extLst>
        </p:cNvPr>
        <p:cNvGrpSpPr/>
        <p:nvPr/>
      </p:nvGrpSpPr>
      <p:grpSpPr>
        <a:xfrm>
          <a:off x="0" y="0"/>
          <a:ext cx="0" cy="0"/>
          <a:chOff x="0" y="0"/>
          <a:chExt cx="0" cy="0"/>
        </a:xfrm>
      </p:grpSpPr>
      <p:grpSp>
        <p:nvGrpSpPr>
          <p:cNvPr id="2" name="群組 1">
            <a:extLst>
              <a:ext uri="{FF2B5EF4-FFF2-40B4-BE49-F238E27FC236}">
                <a16:creationId xmlns:a16="http://schemas.microsoft.com/office/drawing/2014/main" id="{86C69C0D-EBCD-7A5A-0762-923E816601E4}"/>
              </a:ext>
            </a:extLst>
          </p:cNvPr>
          <p:cNvGrpSpPr/>
          <p:nvPr/>
        </p:nvGrpSpPr>
        <p:grpSpPr>
          <a:xfrm>
            <a:off x="955403" y="2265315"/>
            <a:ext cx="10281194" cy="1815926"/>
            <a:chOff x="1131755" y="2413827"/>
            <a:chExt cx="10281194" cy="1815926"/>
          </a:xfrm>
        </p:grpSpPr>
        <p:sp>
          <p:nvSpPr>
            <p:cNvPr id="76" name="Google Shape;76;p2">
              <a:extLst>
                <a:ext uri="{FF2B5EF4-FFF2-40B4-BE49-F238E27FC236}">
                  <a16:creationId xmlns:a16="http://schemas.microsoft.com/office/drawing/2014/main" id="{E7AB7601-3D53-AEBC-B3AB-66E94A4829DC}"/>
                </a:ext>
              </a:extLst>
            </p:cNvPr>
            <p:cNvSpPr/>
            <p:nvPr/>
          </p:nvSpPr>
          <p:spPr>
            <a:xfrm>
              <a:off x="1986102" y="4173053"/>
              <a:ext cx="8572500" cy="56700"/>
            </a:xfrm>
            <a:prstGeom prst="rect">
              <a:avLst/>
            </a:prstGeom>
            <a:solidFill>
              <a:srgbClr val="2F5496"/>
            </a:solid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7" name="Google Shape;77;p2">
              <a:extLst>
                <a:ext uri="{FF2B5EF4-FFF2-40B4-BE49-F238E27FC236}">
                  <a16:creationId xmlns:a16="http://schemas.microsoft.com/office/drawing/2014/main" id="{225E38B0-648C-D4C3-FBC1-CF7E97CA253A}"/>
                </a:ext>
              </a:extLst>
            </p:cNvPr>
            <p:cNvSpPr txBox="1"/>
            <p:nvPr/>
          </p:nvSpPr>
          <p:spPr>
            <a:xfrm>
              <a:off x="1131755" y="2413827"/>
              <a:ext cx="10281194" cy="14157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300"/>
                <a:buFont typeface="Arial"/>
                <a:buNone/>
              </a:pPr>
              <a:r>
                <a:rPr lang="en-US" altLang="zh-TW" sz="4300" b="1" i="0" u="none" strike="noStrike" cap="none" dirty="0">
                  <a:solidFill>
                    <a:schemeClr val="dk1"/>
                  </a:solidFill>
                  <a:latin typeface="Calibri"/>
                  <a:ea typeface="Calibri"/>
                  <a:cs typeface="Calibri"/>
                  <a:sym typeface="Calibri"/>
                </a:rPr>
                <a:t>1.</a:t>
              </a:r>
            </a:p>
            <a:p>
              <a:pPr marL="0" marR="0" lvl="0" indent="0" algn="ctr" rtl="0">
                <a:lnSpc>
                  <a:spcPct val="100000"/>
                </a:lnSpc>
                <a:spcBef>
                  <a:spcPts val="0"/>
                </a:spcBef>
                <a:spcAft>
                  <a:spcPts val="0"/>
                </a:spcAft>
                <a:buClr>
                  <a:srgbClr val="000000"/>
                </a:buClr>
                <a:buSzPts val="4300"/>
                <a:buFont typeface="Arial"/>
                <a:buNone/>
              </a:pPr>
              <a:r>
                <a:rPr lang="en-US" altLang="zh-TW" sz="4300" b="1" i="0" u="none" strike="noStrike" cap="none" dirty="0">
                  <a:solidFill>
                    <a:schemeClr val="dk1"/>
                  </a:solidFill>
                  <a:latin typeface="Calibri"/>
                  <a:ea typeface="Calibri"/>
                  <a:cs typeface="Calibri"/>
                  <a:sym typeface="Calibri"/>
                </a:rPr>
                <a:t>Background and Motivation</a:t>
              </a:r>
            </a:p>
          </p:txBody>
        </p:sp>
      </p:grpSp>
    </p:spTree>
    <p:extLst>
      <p:ext uri="{BB962C8B-B14F-4D97-AF65-F5344CB8AC3E}">
        <p14:creationId xmlns:p14="http://schemas.microsoft.com/office/powerpoint/2010/main" val="10508160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2" name="Google Shape;132;p8">
            <a:extLst>
              <a:ext uri="{FF2B5EF4-FFF2-40B4-BE49-F238E27FC236}">
                <a16:creationId xmlns:a16="http://schemas.microsoft.com/office/drawing/2014/main" id="{F0B03BB0-AFF0-6665-3893-9D2F05896862}"/>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4</a:t>
            </a:fld>
            <a:endParaRPr lang="en-US"/>
          </a:p>
        </p:txBody>
      </p:sp>
      <p:sp>
        <p:nvSpPr>
          <p:cNvPr id="3" name="矩形 2">
            <a:extLst>
              <a:ext uri="{FF2B5EF4-FFF2-40B4-BE49-F238E27FC236}">
                <a16:creationId xmlns:a16="http://schemas.microsoft.com/office/drawing/2014/main" id="{4C2F7D3A-9F1D-B83E-9E25-6D24C35C8E03}"/>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Google Shape;93;p3"/>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4</a:t>
            </a:fld>
            <a:endParaRPr/>
          </a:p>
        </p:txBody>
      </p:sp>
      <p:sp>
        <p:nvSpPr>
          <p:cNvPr id="94" name="Google Shape;94;p3"/>
          <p:cNvSpPr txBox="1"/>
          <p:nvPr/>
        </p:nvSpPr>
        <p:spPr>
          <a:xfrm>
            <a:off x="575576" y="1210520"/>
            <a:ext cx="6266367" cy="349323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000"/>
              <a:buFont typeface="Arial"/>
              <a:buNone/>
            </a:pPr>
            <a:r>
              <a:rPr lang="zh-TW" sz="2000" b="1" i="0" u="none" strike="noStrike" cap="none" dirty="0">
                <a:solidFill>
                  <a:schemeClr val="dk1"/>
                </a:solidFill>
                <a:latin typeface="Arial"/>
                <a:ea typeface="Arial"/>
                <a:cs typeface="Arial"/>
                <a:sym typeface="Arial"/>
              </a:rPr>
              <a:t>1. Skeletal Muscle Index (SMI)</a:t>
            </a:r>
            <a:endParaRPr sz="2000" b="1" i="0" u="none" strike="noStrike" cap="none" dirty="0">
              <a:solidFill>
                <a:schemeClr val="dk1"/>
              </a:solidFill>
              <a:latin typeface="Arial"/>
              <a:ea typeface="Arial"/>
              <a:cs typeface="Arial"/>
              <a:sym typeface="Arial"/>
            </a:endParaRPr>
          </a:p>
          <a:p>
            <a:pPr marL="457200" marR="0" lvl="0" indent="-342900" algn="l" rtl="0">
              <a:lnSpc>
                <a:spcPct val="150000"/>
              </a:lnSpc>
              <a:spcBef>
                <a:spcPts val="1200"/>
              </a:spcBef>
              <a:spcAft>
                <a:spcPts val="0"/>
              </a:spcAft>
              <a:buClr>
                <a:schemeClr val="dk1"/>
              </a:buClr>
              <a:buSzPts val="1800"/>
              <a:buFont typeface="Arial"/>
              <a:buChar char="●"/>
            </a:pPr>
            <a:r>
              <a:rPr lang="en-US" altLang="zh-TW" sz="1800" b="0" i="0" u="none" strike="noStrike" cap="none" dirty="0">
                <a:solidFill>
                  <a:schemeClr val="dk1"/>
                </a:solidFill>
                <a:latin typeface="Arial"/>
                <a:ea typeface="Arial"/>
                <a:cs typeface="Arial"/>
                <a:sym typeface="Arial"/>
              </a:rPr>
              <a:t>SMI is a </a:t>
            </a:r>
            <a:r>
              <a:rPr lang="en-US" altLang="zh-TW" sz="1800" b="1" i="0" u="none" strike="noStrike" cap="none" dirty="0">
                <a:solidFill>
                  <a:schemeClr val="dk1"/>
                </a:solidFill>
                <a:latin typeface="Arial"/>
                <a:ea typeface="Arial"/>
                <a:cs typeface="Arial"/>
                <a:sym typeface="Arial"/>
              </a:rPr>
              <a:t>standardized metric of skeletal muscle mass.</a:t>
            </a:r>
          </a:p>
          <a:p>
            <a:pPr marL="457200" marR="0" lvl="0" indent="-342900" algn="l" rtl="0">
              <a:lnSpc>
                <a:spcPct val="150000"/>
              </a:lnSpc>
              <a:spcBef>
                <a:spcPts val="1200"/>
              </a:spcBef>
              <a:spcAft>
                <a:spcPts val="0"/>
              </a:spcAft>
              <a:buClr>
                <a:schemeClr val="dk1"/>
              </a:buClr>
              <a:buSzPts val="1800"/>
              <a:buFont typeface="Arial"/>
              <a:buChar char="●"/>
            </a:pPr>
            <a:r>
              <a:rPr lang="en-US" altLang="zh-TW" sz="1800" b="0" i="0" u="none" strike="noStrike" cap="none" dirty="0">
                <a:solidFill>
                  <a:schemeClr val="dk1"/>
                </a:solidFill>
                <a:latin typeface="Arial"/>
                <a:ea typeface="Arial"/>
                <a:cs typeface="Arial"/>
                <a:sym typeface="Arial"/>
              </a:rPr>
              <a:t>Derived from </a:t>
            </a:r>
            <a:r>
              <a:rPr lang="en-US" altLang="zh-TW" sz="1800" b="1" i="0" u="none" strike="noStrike" cap="none" dirty="0">
                <a:solidFill>
                  <a:schemeClr val="dk1"/>
                </a:solidFill>
                <a:latin typeface="Arial"/>
                <a:ea typeface="Arial"/>
                <a:cs typeface="Arial"/>
                <a:sym typeface="Arial"/>
              </a:rPr>
              <a:t>L3 CT images </a:t>
            </a:r>
            <a:r>
              <a:rPr lang="en-US" altLang="zh-TW" sz="1800" b="0" i="0" u="none" strike="noStrike" cap="none" dirty="0">
                <a:solidFill>
                  <a:schemeClr val="dk1"/>
                </a:solidFill>
                <a:latin typeface="Arial"/>
                <a:ea typeface="Arial"/>
                <a:cs typeface="Arial"/>
                <a:sym typeface="Arial"/>
              </a:rPr>
              <a:t>using a Hounsfield Unit (HU) range of </a:t>
            </a:r>
            <a:r>
              <a:rPr lang="en-US" altLang="zh-TW" sz="1800" b="1" i="0" u="none" strike="noStrike" cap="none" dirty="0">
                <a:solidFill>
                  <a:schemeClr val="dk1"/>
                </a:solidFill>
                <a:latin typeface="Arial"/>
                <a:ea typeface="Arial"/>
                <a:cs typeface="Arial"/>
                <a:sym typeface="Arial"/>
              </a:rPr>
              <a:t>-29 to +150</a:t>
            </a:r>
            <a:r>
              <a:rPr lang="en-US" altLang="zh-TW" sz="1800" b="0" i="0" u="none" strike="noStrike" cap="none" dirty="0">
                <a:solidFill>
                  <a:schemeClr val="dk1"/>
                </a:solidFill>
                <a:latin typeface="Arial"/>
                <a:ea typeface="Arial"/>
                <a:cs typeface="Arial"/>
                <a:sym typeface="Arial"/>
              </a:rPr>
              <a:t>, and serves as a validated proxy for total body skeletal muscle mass </a:t>
            </a:r>
            <a:r>
              <a:rPr lang="fr-FR" altLang="zh-TW" sz="1800" b="0" i="0" u="none" strike="noStrike" cap="none" dirty="0">
                <a:solidFill>
                  <a:schemeClr val="dk1"/>
                </a:solidFill>
                <a:latin typeface="Arial"/>
                <a:ea typeface="Arial"/>
                <a:cs typeface="Arial"/>
                <a:sym typeface="Arial"/>
              </a:rPr>
              <a:t>(Mourtzakis et al., 2008; Shen et al., 2004)</a:t>
            </a:r>
            <a:r>
              <a:rPr lang="en-US" altLang="zh-TW" sz="1800" b="0" i="0" u="none" strike="noStrike" cap="none" dirty="0">
                <a:solidFill>
                  <a:schemeClr val="dk1"/>
                </a:solidFill>
                <a:latin typeface="Arial"/>
                <a:ea typeface="Arial"/>
                <a:cs typeface="Arial"/>
                <a:sym typeface="Arial"/>
              </a:rPr>
              <a:t>.</a:t>
            </a:r>
            <a:endParaRPr lang="en-US" sz="2000" b="0" i="0" u="none" strike="noStrike" cap="none" dirty="0">
              <a:solidFill>
                <a:schemeClr val="dk1"/>
              </a:solidFill>
              <a:latin typeface="Arial"/>
              <a:ea typeface="Arial"/>
              <a:cs typeface="Arial"/>
              <a:sym typeface="Arial"/>
            </a:endParaRPr>
          </a:p>
        </p:txBody>
      </p:sp>
      <p:pic>
        <p:nvPicPr>
          <p:cNvPr id="95" name="Google Shape;95;p3" title="螢幕快照 2025-05-15 11-24-23.png"/>
          <p:cNvPicPr preferRelativeResize="0"/>
          <p:nvPr/>
        </p:nvPicPr>
        <p:blipFill rotWithShape="1">
          <a:blip r:embed="rId3">
            <a:alphaModFix/>
          </a:blip>
          <a:srcRect/>
          <a:stretch/>
        </p:blipFill>
        <p:spPr>
          <a:xfrm>
            <a:off x="1063750" y="4613067"/>
            <a:ext cx="5032250" cy="1641280"/>
          </a:xfrm>
          <a:prstGeom prst="rect">
            <a:avLst/>
          </a:prstGeom>
          <a:noFill/>
          <a:ln>
            <a:noFill/>
          </a:ln>
        </p:spPr>
      </p:pic>
      <p:sp>
        <p:nvSpPr>
          <p:cNvPr id="96" name="Google Shape;96;p3"/>
          <p:cNvSpPr txBox="1"/>
          <p:nvPr/>
        </p:nvSpPr>
        <p:spPr>
          <a:xfrm>
            <a:off x="-301519" y="106957"/>
            <a:ext cx="12795038" cy="1532953"/>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400"/>
              </a:spcBef>
              <a:spcAft>
                <a:spcPts val="0"/>
              </a:spcAft>
              <a:buClr>
                <a:srgbClr val="000000"/>
              </a:buClr>
              <a:buSzPts val="2500"/>
              <a:buFont typeface="Arial"/>
              <a:buNone/>
            </a:pPr>
            <a:r>
              <a:rPr lang="zh-TW" sz="2800" b="1" i="0" u="none" strike="noStrike" cap="none" dirty="0">
                <a:solidFill>
                  <a:schemeClr val="dk1"/>
                </a:solidFill>
                <a:latin typeface="Calibri"/>
                <a:ea typeface="Calibri"/>
                <a:cs typeface="Calibri"/>
                <a:sym typeface="Calibri"/>
              </a:rPr>
              <a:t>Definition of Skeletal Muscle Index (SMI) and Skeletal Muscle Density (SMD)</a:t>
            </a:r>
            <a:endParaRPr sz="2800" b="1" i="0" u="none" strike="noStrike" cap="none" dirty="0">
              <a:solidFill>
                <a:schemeClr val="dk1"/>
              </a:solidFill>
              <a:latin typeface="Calibri"/>
              <a:ea typeface="Calibri"/>
              <a:cs typeface="Calibri"/>
              <a:sym typeface="Calibri"/>
            </a:endParaRPr>
          </a:p>
          <a:p>
            <a:pPr marL="0" marR="0" lvl="0" indent="0" algn="ctr" rtl="0">
              <a:lnSpc>
                <a:spcPct val="115000"/>
              </a:lnSpc>
              <a:spcBef>
                <a:spcPts val="1400"/>
              </a:spcBef>
              <a:spcAft>
                <a:spcPts val="400"/>
              </a:spcAft>
              <a:buClr>
                <a:srgbClr val="000000"/>
              </a:buClr>
              <a:buSzPts val="2500"/>
              <a:buFont typeface="Arial"/>
              <a:buNone/>
            </a:pPr>
            <a:endParaRPr sz="2500" b="1" i="0" u="none" strike="noStrike" cap="none" dirty="0">
              <a:solidFill>
                <a:schemeClr val="dk1"/>
              </a:solidFill>
              <a:latin typeface="Arial"/>
              <a:ea typeface="Arial"/>
              <a:cs typeface="Arial"/>
              <a:sym typeface="Arial"/>
            </a:endParaRPr>
          </a:p>
        </p:txBody>
      </p:sp>
      <p:sp>
        <p:nvSpPr>
          <p:cNvPr id="4" name="文字方塊 3">
            <a:extLst>
              <a:ext uri="{FF2B5EF4-FFF2-40B4-BE49-F238E27FC236}">
                <a16:creationId xmlns:a16="http://schemas.microsoft.com/office/drawing/2014/main" id="{C487085D-13D2-32A7-8B14-B2B0F2EE443D}"/>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1.1 Definition and Prognostic Role of Skeletal Muscle Index (SMI) and Skeletal Muscle Density (SMD)</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pic>
        <p:nvPicPr>
          <p:cNvPr id="6" name="圖片 5">
            <a:extLst>
              <a:ext uri="{FF2B5EF4-FFF2-40B4-BE49-F238E27FC236}">
                <a16:creationId xmlns:a16="http://schemas.microsoft.com/office/drawing/2014/main" id="{ED01615F-2680-A7D7-165E-0234944DD35B}"/>
              </a:ext>
            </a:extLst>
          </p:cNvPr>
          <p:cNvPicPr>
            <a:picLocks noChangeAspect="1"/>
          </p:cNvPicPr>
          <p:nvPr/>
        </p:nvPicPr>
        <p:blipFill>
          <a:blip r:embed="rId4"/>
          <a:stretch>
            <a:fillRect/>
          </a:stretch>
        </p:blipFill>
        <p:spPr>
          <a:xfrm>
            <a:off x="7040535" y="1362315"/>
            <a:ext cx="4919901" cy="3963717"/>
          </a:xfrm>
          <a:prstGeom prst="rect">
            <a:avLst/>
          </a:prstGeom>
        </p:spPr>
      </p:pic>
      <p:cxnSp>
        <p:nvCxnSpPr>
          <p:cNvPr id="8" name="直線接點 7">
            <a:extLst>
              <a:ext uri="{FF2B5EF4-FFF2-40B4-BE49-F238E27FC236}">
                <a16:creationId xmlns:a16="http://schemas.microsoft.com/office/drawing/2014/main" id="{C5AC1455-94F3-A776-ECA0-5A1E3698638D}"/>
              </a:ext>
            </a:extLst>
          </p:cNvPr>
          <p:cNvCxnSpPr>
            <a:cxnSpLocks/>
          </p:cNvCxnSpPr>
          <p:nvPr/>
        </p:nvCxnSpPr>
        <p:spPr>
          <a:xfrm>
            <a:off x="8604985" y="3693160"/>
            <a:ext cx="610982" cy="3454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ABAAB0FD-C075-8377-A290-AE8B0BE2C967}"/>
              </a:ext>
            </a:extLst>
          </p:cNvPr>
          <p:cNvSpPr/>
          <p:nvPr/>
        </p:nvSpPr>
        <p:spPr>
          <a:xfrm>
            <a:off x="9215968" y="3900103"/>
            <a:ext cx="2713566" cy="14259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文字方塊 11">
            <a:extLst>
              <a:ext uri="{FF2B5EF4-FFF2-40B4-BE49-F238E27FC236}">
                <a16:creationId xmlns:a16="http://schemas.microsoft.com/office/drawing/2014/main" id="{7982EF32-2AB1-9577-D6C3-5C52F5C0D1C9}"/>
              </a:ext>
            </a:extLst>
          </p:cNvPr>
          <p:cNvSpPr txBox="1"/>
          <p:nvPr/>
        </p:nvSpPr>
        <p:spPr>
          <a:xfrm>
            <a:off x="9271462" y="5367582"/>
            <a:ext cx="6444114" cy="307777"/>
          </a:xfrm>
          <a:prstGeom prst="rect">
            <a:avLst/>
          </a:prstGeom>
          <a:noFill/>
        </p:spPr>
        <p:txBody>
          <a:bodyPr wrap="square">
            <a:spAutoFit/>
          </a:bodyPr>
          <a:lstStyle/>
          <a:p>
            <a:r>
              <a:rPr lang="zh-TW" sz="1400" b="1" i="0" u="none" strike="noStrike" cap="none" dirty="0">
                <a:solidFill>
                  <a:srgbClr val="FF0000"/>
                </a:solidFill>
                <a:latin typeface="Arial"/>
                <a:ea typeface="Arial"/>
                <a:cs typeface="Arial"/>
                <a:sym typeface="Arial"/>
              </a:rPr>
              <a:t>Single CT slice</a:t>
            </a:r>
            <a:r>
              <a:rPr lang="zh-TW" sz="1400" b="0" i="0" u="none" strike="noStrike" cap="none" dirty="0">
                <a:solidFill>
                  <a:srgbClr val="FF0000"/>
                </a:solidFill>
                <a:latin typeface="Arial"/>
                <a:ea typeface="Arial"/>
                <a:cs typeface="Arial"/>
                <a:sym typeface="Arial"/>
              </a:rPr>
              <a:t> at L3 vertebra</a:t>
            </a:r>
            <a:endParaRPr lang="en-US" dirty="0">
              <a:solidFill>
                <a:srgbClr val="FF0000"/>
              </a:solidFill>
            </a:endParaRPr>
          </a:p>
        </p:txBody>
      </p:sp>
      <p:sp>
        <p:nvSpPr>
          <p:cNvPr id="14" name="文字方塊 13">
            <a:extLst>
              <a:ext uri="{FF2B5EF4-FFF2-40B4-BE49-F238E27FC236}">
                <a16:creationId xmlns:a16="http://schemas.microsoft.com/office/drawing/2014/main" id="{ADFB616D-2E96-F0AC-435C-2EFA815428B8}"/>
              </a:ext>
            </a:extLst>
          </p:cNvPr>
          <p:cNvSpPr txBox="1"/>
          <p:nvPr/>
        </p:nvSpPr>
        <p:spPr>
          <a:xfrm>
            <a:off x="9166744" y="5675359"/>
            <a:ext cx="8051800" cy="307777"/>
          </a:xfrm>
          <a:prstGeom prst="rect">
            <a:avLst/>
          </a:prstGeom>
          <a:noFill/>
        </p:spPr>
        <p:txBody>
          <a:bodyPr wrap="square">
            <a:spAutoFit/>
          </a:bodyPr>
          <a:lstStyle/>
          <a:p>
            <a:r>
              <a:rPr lang="fr-FR" sz="1100" dirty="0">
                <a:solidFill>
                  <a:schemeClr val="bg1">
                    <a:lumMod val="65000"/>
                  </a:schemeClr>
                </a:solidFill>
                <a:latin typeface="Calibri" panose="020F0502020204030204" pitchFamily="34" charset="0"/>
                <a:cs typeface="Calibri" panose="020F0502020204030204" pitchFamily="34" charset="0"/>
              </a:rPr>
              <a:t>Source: Arayne et al. </a:t>
            </a:r>
            <a:r>
              <a:rPr lang="fr-FR" sz="1100" i="1" dirty="0">
                <a:solidFill>
                  <a:schemeClr val="bg1">
                    <a:lumMod val="65000"/>
                  </a:schemeClr>
                </a:solidFill>
                <a:latin typeface="Calibri" panose="020F0502020204030204" pitchFamily="34" charset="0"/>
                <a:cs typeface="Calibri" panose="020F0502020204030204" pitchFamily="34" charset="0"/>
              </a:rPr>
              <a:t>BMC Cancer</a:t>
            </a:r>
            <a:r>
              <a:rPr lang="fr-FR" sz="1100" dirty="0">
                <a:solidFill>
                  <a:schemeClr val="bg1">
                    <a:lumMod val="65000"/>
                  </a:schemeClr>
                </a:solidFill>
                <a:latin typeface="Calibri" panose="020F0502020204030204" pitchFamily="34" charset="0"/>
                <a:cs typeface="Calibri" panose="020F0502020204030204" pitchFamily="34" charset="0"/>
              </a:rPr>
              <a:t> (2023); 23:56</a:t>
            </a:r>
            <a:r>
              <a:rPr lang="fr-FR" dirty="0"/>
              <a:t>.</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2" name="Google Shape;132;p8">
            <a:extLst>
              <a:ext uri="{FF2B5EF4-FFF2-40B4-BE49-F238E27FC236}">
                <a16:creationId xmlns:a16="http://schemas.microsoft.com/office/drawing/2014/main" id="{C58087FA-DC5A-ABA8-EB25-AF0111560BE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5</a:t>
            </a:fld>
            <a:endParaRPr lang="en-US"/>
          </a:p>
        </p:txBody>
      </p:sp>
      <p:sp>
        <p:nvSpPr>
          <p:cNvPr id="3" name="矩形 2">
            <a:extLst>
              <a:ext uri="{FF2B5EF4-FFF2-40B4-BE49-F238E27FC236}">
                <a16:creationId xmlns:a16="http://schemas.microsoft.com/office/drawing/2014/main" id="{C1595CC0-8044-D144-FB28-B2EF897A2A0A}"/>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Google Shape;102;p4"/>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5</a:t>
            </a:fld>
            <a:endParaRPr/>
          </a:p>
        </p:txBody>
      </p:sp>
      <p:sp>
        <p:nvSpPr>
          <p:cNvPr id="103" name="Google Shape;103;p4"/>
          <p:cNvSpPr txBox="1"/>
          <p:nvPr/>
        </p:nvSpPr>
        <p:spPr>
          <a:xfrm>
            <a:off x="410206" y="296119"/>
            <a:ext cx="7287270" cy="709421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50000"/>
              </a:lnSpc>
              <a:spcBef>
                <a:spcPts val="1200"/>
              </a:spcBef>
              <a:spcAft>
                <a:spcPts val="0"/>
              </a:spcAft>
              <a:buClr>
                <a:srgbClr val="000000"/>
              </a:buClr>
              <a:buSzPts val="2000"/>
              <a:buFont typeface="Arial"/>
              <a:buNone/>
            </a:pPr>
            <a:r>
              <a:rPr lang="zh-TW" sz="2000" b="1" i="0" u="none" strike="noStrike" cap="none" dirty="0">
                <a:solidFill>
                  <a:schemeClr val="dk1"/>
                </a:solidFill>
                <a:latin typeface="Calibri" panose="020F0502020204030204" pitchFamily="34" charset="0"/>
                <a:cs typeface="Calibri" panose="020F0502020204030204" pitchFamily="34" charset="0"/>
                <a:sym typeface="Arial"/>
              </a:rPr>
              <a:t>2. Skeletal Muscle Density (SMD)</a:t>
            </a:r>
            <a:endParaRPr sz="2000" b="1"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55600" algn="l" rtl="0">
              <a:lnSpc>
                <a:spcPct val="150000"/>
              </a:lnSpc>
              <a:spcBef>
                <a:spcPts val="1200"/>
              </a:spcBef>
              <a:spcAft>
                <a:spcPts val="0"/>
              </a:spcAft>
              <a:buClr>
                <a:schemeClr val="dk1"/>
              </a:buClr>
              <a:buSzPts val="2000"/>
              <a:buFont typeface="Arial"/>
              <a:buChar char="●"/>
            </a:pPr>
            <a:r>
              <a:rPr lang="zh-TW" sz="1800" b="1" i="0" u="none" strike="noStrike" cap="none" dirty="0">
                <a:solidFill>
                  <a:schemeClr val="dk1"/>
                </a:solidFill>
                <a:latin typeface="Calibri" panose="020F0502020204030204" pitchFamily="34" charset="0"/>
                <a:cs typeface="Calibri" panose="020F0502020204030204" pitchFamily="34" charset="0"/>
                <a:sym typeface="Arial"/>
              </a:rPr>
              <a:t>SMD</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 reflects the </a:t>
            </a:r>
            <a:r>
              <a:rPr lang="zh-TW" sz="1800" b="1" i="0" u="none" strike="noStrike" cap="none" dirty="0">
                <a:solidFill>
                  <a:schemeClr val="dk1"/>
                </a:solidFill>
                <a:latin typeface="Calibri" panose="020F0502020204030204" pitchFamily="34" charset="0"/>
                <a:cs typeface="Calibri" panose="020F0502020204030204" pitchFamily="34" charset="0"/>
                <a:sym typeface="Arial"/>
              </a:rPr>
              <a:t>quality of skeletal muscle</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 specifically the degree of fat infiltration (myosteatosis), assessed using CT imaging.</a:t>
            </a:r>
            <a:endParaRPr lang="en-US" altLang="zh-TW" sz="18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55600" algn="l" rtl="0">
              <a:lnSpc>
                <a:spcPct val="150000"/>
              </a:lnSpc>
              <a:spcBef>
                <a:spcPts val="1200"/>
              </a:spcBef>
              <a:spcAft>
                <a:spcPts val="0"/>
              </a:spcAft>
              <a:buClr>
                <a:schemeClr val="dk1"/>
              </a:buClr>
              <a:buSzPts val="2000"/>
              <a:buFont typeface="Arial"/>
              <a:buChar char="●"/>
            </a:pPr>
            <a:r>
              <a:rPr lang="en-US" altLang="zh-TW" sz="1800" b="0" i="0" u="none" strike="noStrike" cap="none" dirty="0">
                <a:solidFill>
                  <a:schemeClr val="dk1"/>
                </a:solidFill>
                <a:latin typeface="Calibri" panose="020F0502020204030204" pitchFamily="34" charset="0"/>
                <a:cs typeface="Calibri" panose="020F0502020204030204" pitchFamily="34" charset="0"/>
                <a:sym typeface="Arial"/>
              </a:rPr>
              <a:t>SMD is expressed in Hounsfield Units (HU).</a:t>
            </a:r>
            <a:endParaRPr sz="18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55600" algn="l" rtl="0">
              <a:lnSpc>
                <a:spcPct val="150000"/>
              </a:lnSpc>
              <a:spcBef>
                <a:spcPts val="0"/>
              </a:spcBef>
              <a:spcAft>
                <a:spcPts val="0"/>
              </a:spcAft>
              <a:buClr>
                <a:schemeClr val="dk1"/>
              </a:buClr>
              <a:buSzPts val="2000"/>
              <a:buFont typeface="Arial"/>
              <a:buChar char="●"/>
            </a:pPr>
            <a:r>
              <a:rPr lang="zh-TW" sz="1800" b="0" i="0" u="none" strike="noStrike" cap="none" dirty="0">
                <a:solidFill>
                  <a:schemeClr val="dk1"/>
                </a:solidFill>
                <a:latin typeface="Calibri" panose="020F0502020204030204" pitchFamily="34" charset="0"/>
                <a:cs typeface="Calibri" panose="020F0502020204030204" pitchFamily="34" charset="0"/>
                <a:sym typeface="Arial"/>
              </a:rPr>
              <a:t>Measured as the </a:t>
            </a:r>
            <a:r>
              <a:rPr lang="zh-TW" sz="1800" b="1" i="0" u="none" strike="noStrike" cap="none" dirty="0">
                <a:solidFill>
                  <a:schemeClr val="dk1"/>
                </a:solidFill>
                <a:latin typeface="Calibri" panose="020F0502020204030204" pitchFamily="34" charset="0"/>
                <a:cs typeface="Calibri" panose="020F0502020204030204" pitchFamily="34" charset="0"/>
                <a:sym typeface="Arial"/>
              </a:rPr>
              <a:t>mean Hounsfield Unit (HU) value</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 of skeletal muscle area at the </a:t>
            </a:r>
            <a:r>
              <a:rPr lang="zh-TW" sz="1800" b="1" i="0" u="none" strike="noStrike" cap="none" dirty="0">
                <a:solidFill>
                  <a:schemeClr val="dk1"/>
                </a:solidFill>
                <a:latin typeface="Calibri" panose="020F0502020204030204" pitchFamily="34" charset="0"/>
                <a:cs typeface="Calibri" panose="020F0502020204030204" pitchFamily="34" charset="0"/>
                <a:sym typeface="Arial"/>
              </a:rPr>
              <a:t>L3 vertebra</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a:t>
            </a:r>
            <a:endParaRPr lang="en-US" altLang="zh-TW" sz="18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55600" algn="l" rtl="0">
              <a:lnSpc>
                <a:spcPct val="15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Calibri" panose="020F0502020204030204" pitchFamily="34" charset="0"/>
                <a:cs typeface="Calibri" panose="020F0502020204030204" pitchFamily="34" charset="0"/>
                <a:sym typeface="Arial"/>
              </a:rPr>
              <a:t>Muscle region is defined using HU thresholds: –29 to +150, same as for SMI.</a:t>
            </a:r>
            <a:endParaRPr sz="18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55600" algn="l" rtl="0">
              <a:lnSpc>
                <a:spcPct val="150000"/>
              </a:lnSpc>
              <a:spcBef>
                <a:spcPts val="0"/>
              </a:spcBef>
              <a:spcAft>
                <a:spcPts val="0"/>
              </a:spcAft>
              <a:buClr>
                <a:schemeClr val="dk1"/>
              </a:buClr>
              <a:buSzPts val="2000"/>
              <a:buFont typeface="Arial"/>
              <a:buChar char="●"/>
            </a:pPr>
            <a:r>
              <a:rPr lang="zh-TW" sz="1800" b="1" i="0" u="none" strike="noStrike" cap="none" dirty="0">
                <a:solidFill>
                  <a:schemeClr val="dk1"/>
                </a:solidFill>
                <a:latin typeface="Calibri" panose="020F0502020204030204" pitchFamily="34" charset="0"/>
                <a:cs typeface="Calibri" panose="020F0502020204030204" pitchFamily="34" charset="0"/>
                <a:sym typeface="Arial"/>
              </a:rPr>
              <a:t>Lower SMD values indicate higher intramuscular fat content and poorer muscle quality.</a:t>
            </a:r>
            <a:br>
              <a:rPr lang="zh-TW" sz="2000" b="0" i="0" u="none" strike="noStrike" cap="none" dirty="0">
                <a:solidFill>
                  <a:schemeClr val="dk1"/>
                </a:solidFill>
                <a:latin typeface="Calibri" panose="020F0502020204030204" pitchFamily="34" charset="0"/>
                <a:cs typeface="Calibri" panose="020F0502020204030204" pitchFamily="34" charset="0"/>
                <a:sym typeface="Arial"/>
              </a:rPr>
            </a:br>
            <a:endParaRPr sz="2000" b="0" i="0" u="none" strike="noStrike" cap="none" dirty="0">
              <a:solidFill>
                <a:schemeClr val="dk1"/>
              </a:solidFill>
              <a:latin typeface="Calibri" panose="020F0502020204030204" pitchFamily="34" charset="0"/>
              <a:cs typeface="Calibri" panose="020F0502020204030204" pitchFamily="34" charset="0"/>
              <a:sym typeface="Arial"/>
            </a:endParaRPr>
          </a:p>
          <a:p>
            <a:pPr marL="0" marR="0" lvl="0" indent="0" algn="l" rtl="0">
              <a:lnSpc>
                <a:spcPct val="150000"/>
              </a:lnSpc>
              <a:spcBef>
                <a:spcPts val="1200"/>
              </a:spcBef>
              <a:spcAft>
                <a:spcPts val="0"/>
              </a:spcAft>
              <a:buClr>
                <a:srgbClr val="000000"/>
              </a:buClr>
              <a:buSzPts val="2000"/>
              <a:buFont typeface="Arial"/>
              <a:buNone/>
            </a:pPr>
            <a:endParaRPr sz="2000" b="0" i="0" u="none" strike="noStrike" cap="none" dirty="0">
              <a:solidFill>
                <a:schemeClr val="dk1"/>
              </a:solidFill>
              <a:highlight>
                <a:schemeClr val="lt2"/>
              </a:highlight>
              <a:latin typeface="Arial"/>
              <a:ea typeface="Arial"/>
              <a:cs typeface="Arial"/>
              <a:sym typeface="Arial"/>
            </a:endParaRPr>
          </a:p>
          <a:p>
            <a:pPr marL="457200" marR="0" lvl="0" indent="0" algn="l" rtl="0">
              <a:lnSpc>
                <a:spcPct val="115000"/>
              </a:lnSpc>
              <a:spcBef>
                <a:spcPts val="1200"/>
              </a:spcBef>
              <a:spcAft>
                <a:spcPts val="120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pic>
        <p:nvPicPr>
          <p:cNvPr id="6" name="圖片 5">
            <a:extLst>
              <a:ext uri="{FF2B5EF4-FFF2-40B4-BE49-F238E27FC236}">
                <a16:creationId xmlns:a16="http://schemas.microsoft.com/office/drawing/2014/main" id="{CD3F4364-3F33-4462-AE73-FF2B707530E8}"/>
              </a:ext>
            </a:extLst>
          </p:cNvPr>
          <p:cNvPicPr>
            <a:picLocks noChangeAspect="1"/>
          </p:cNvPicPr>
          <p:nvPr/>
        </p:nvPicPr>
        <p:blipFill>
          <a:blip r:embed="rId3"/>
          <a:stretch>
            <a:fillRect/>
          </a:stretch>
        </p:blipFill>
        <p:spPr>
          <a:xfrm>
            <a:off x="8003550" y="1702964"/>
            <a:ext cx="3733800" cy="2884580"/>
          </a:xfrm>
          <a:prstGeom prst="rect">
            <a:avLst/>
          </a:prstGeom>
        </p:spPr>
      </p:pic>
      <p:sp>
        <p:nvSpPr>
          <p:cNvPr id="8" name="文字方塊 7">
            <a:extLst>
              <a:ext uri="{FF2B5EF4-FFF2-40B4-BE49-F238E27FC236}">
                <a16:creationId xmlns:a16="http://schemas.microsoft.com/office/drawing/2014/main" id="{57A47ADC-A03D-2642-26D6-6F3A9AFD1A54}"/>
              </a:ext>
            </a:extLst>
          </p:cNvPr>
          <p:cNvSpPr txBox="1"/>
          <p:nvPr/>
        </p:nvSpPr>
        <p:spPr>
          <a:xfrm>
            <a:off x="8925560" y="4629094"/>
            <a:ext cx="3733800" cy="261610"/>
          </a:xfrm>
          <a:prstGeom prst="rect">
            <a:avLst/>
          </a:prstGeom>
          <a:noFill/>
        </p:spPr>
        <p:txBody>
          <a:bodyPr wrap="square">
            <a:spAutoFit/>
          </a:bodyPr>
          <a:lstStyle/>
          <a:p>
            <a:r>
              <a:rPr lang="en-US" sz="1100" dirty="0">
                <a:solidFill>
                  <a:schemeClr val="bg1">
                    <a:lumMod val="65000"/>
                  </a:schemeClr>
                </a:solidFill>
                <a:latin typeface="Calibri" panose="020F0502020204030204" pitchFamily="34" charset="0"/>
                <a:cs typeface="Calibri" panose="020F0502020204030204" pitchFamily="34" charset="0"/>
              </a:rPr>
              <a:t>Source: Tham et al. </a:t>
            </a:r>
            <a:r>
              <a:rPr lang="en-US" sz="1100" i="1" dirty="0">
                <a:solidFill>
                  <a:schemeClr val="bg1">
                    <a:lumMod val="65000"/>
                  </a:schemeClr>
                </a:solidFill>
                <a:latin typeface="Calibri" panose="020F0502020204030204" pitchFamily="34" charset="0"/>
                <a:cs typeface="Calibri" panose="020F0502020204030204" pitchFamily="34" charset="0"/>
              </a:rPr>
              <a:t>Cancers</a:t>
            </a:r>
            <a:r>
              <a:rPr lang="en-US" sz="1100" dirty="0">
                <a:solidFill>
                  <a:schemeClr val="bg1">
                    <a:lumMod val="65000"/>
                  </a:schemeClr>
                </a:solidFill>
                <a:latin typeface="Calibri" panose="020F0502020204030204" pitchFamily="34" charset="0"/>
                <a:cs typeface="Calibri" panose="020F0502020204030204" pitchFamily="34" charset="0"/>
              </a:rPr>
              <a:t> (2023); 15(6):1752. </a:t>
            </a:r>
            <a:endParaRPr lang="en-US" sz="1000" dirty="0">
              <a:solidFill>
                <a:schemeClr val="bg1">
                  <a:lumMod val="65000"/>
                </a:schemeClr>
              </a:solidFill>
              <a:latin typeface="Calibri" panose="020F0502020204030204" pitchFamily="34" charset="0"/>
              <a:cs typeface="Calibri" panose="020F0502020204030204" pitchFamily="34" charset="0"/>
            </a:endParaRPr>
          </a:p>
        </p:txBody>
      </p:sp>
      <p:sp>
        <p:nvSpPr>
          <p:cNvPr id="5" name="文字方塊 4">
            <a:extLst>
              <a:ext uri="{FF2B5EF4-FFF2-40B4-BE49-F238E27FC236}">
                <a16:creationId xmlns:a16="http://schemas.microsoft.com/office/drawing/2014/main" id="{AA579AF2-EBCD-1EA1-FB87-F5186B603E36}"/>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1.1 Definition and Prognostic Role of Skeletal Muscle Index (SMI) and Skeletal Muscle Density (SMD)</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2" name="Google Shape;132;p8">
            <a:extLst>
              <a:ext uri="{FF2B5EF4-FFF2-40B4-BE49-F238E27FC236}">
                <a16:creationId xmlns:a16="http://schemas.microsoft.com/office/drawing/2014/main" id="{0B795C52-161B-D586-19B6-24658A0FB3EC}"/>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6</a:t>
            </a:fld>
            <a:endParaRPr lang="en-US"/>
          </a:p>
        </p:txBody>
      </p:sp>
      <p:sp>
        <p:nvSpPr>
          <p:cNvPr id="3" name="矩形 2">
            <a:extLst>
              <a:ext uri="{FF2B5EF4-FFF2-40B4-BE49-F238E27FC236}">
                <a16:creationId xmlns:a16="http://schemas.microsoft.com/office/drawing/2014/main" id="{2C8B0B92-EEFC-44DF-7B8D-B1221F791CFF}"/>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Google Shape;116;p6"/>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6</a:t>
            </a:fld>
            <a:endParaRPr/>
          </a:p>
        </p:txBody>
      </p:sp>
      <p:sp>
        <p:nvSpPr>
          <p:cNvPr id="117" name="Google Shape;117;p6"/>
          <p:cNvSpPr txBox="1"/>
          <p:nvPr/>
        </p:nvSpPr>
        <p:spPr>
          <a:xfrm>
            <a:off x="789084" y="417022"/>
            <a:ext cx="11736600" cy="594108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800"/>
              <a:buFont typeface="Arial"/>
              <a:buNone/>
            </a:pPr>
            <a:endParaRPr sz="2000" b="1" i="0" u="none" strike="noStrike" cap="none" dirty="0">
              <a:solidFill>
                <a:schemeClr val="dk1"/>
              </a:solidFill>
              <a:latin typeface="Calibri"/>
              <a:ea typeface="Calibri"/>
              <a:cs typeface="Calibri"/>
              <a:sym typeface="Calibri"/>
            </a:endParaRPr>
          </a:p>
          <a:p>
            <a:pPr marL="457200" marR="0" lvl="0" indent="-355600" algn="l" rtl="0">
              <a:lnSpc>
                <a:spcPct val="115000"/>
              </a:lnSpc>
              <a:spcBef>
                <a:spcPts val="1400"/>
              </a:spcBef>
              <a:spcAft>
                <a:spcPts val="0"/>
              </a:spcAft>
              <a:buClr>
                <a:schemeClr val="dk1"/>
              </a:buClr>
              <a:buSzPts val="2000"/>
              <a:buFont typeface="Calibri"/>
              <a:buAutoNum type="arabicPeriod"/>
            </a:pPr>
            <a:r>
              <a:rPr lang="en-US" altLang="zh-TW" sz="1800" b="1" i="0" u="none" strike="noStrike" cap="none" dirty="0">
                <a:solidFill>
                  <a:schemeClr val="dk1"/>
                </a:solidFill>
                <a:latin typeface="Calibri"/>
                <a:ea typeface="Calibri"/>
                <a:cs typeface="Calibri"/>
                <a:sym typeface="Calibri"/>
              </a:rPr>
              <a:t>Low SMI</a:t>
            </a:r>
            <a:endParaRPr lang="en-US" sz="1800" b="1" i="0" u="none" strike="noStrike" cap="none" dirty="0">
              <a:solidFill>
                <a:schemeClr val="dk1"/>
              </a:solidFill>
              <a:latin typeface="Calibri"/>
              <a:ea typeface="Calibri"/>
              <a:cs typeface="Calibri"/>
              <a:sym typeface="Calibri"/>
            </a:endParaRPr>
          </a:p>
          <a:p>
            <a:pPr marL="400050" lvl="2" indent="-285750">
              <a:lnSpc>
                <a:spcPct val="115000"/>
              </a:lnSpc>
              <a:spcBef>
                <a:spcPts val="1200"/>
              </a:spcBef>
              <a:buClr>
                <a:schemeClr val="dk1"/>
              </a:buClr>
              <a:buSzPts val="1800"/>
              <a:buFont typeface="Arial" panose="020B0604020202020204" pitchFamily="34" charset="0"/>
              <a:buChar char="•"/>
            </a:pPr>
            <a:r>
              <a:rPr lang="en-US" altLang="zh-TW" sz="1800" b="0" i="0" u="none" strike="noStrike" cap="none" dirty="0">
                <a:solidFill>
                  <a:schemeClr val="dk1"/>
                </a:solidFill>
                <a:latin typeface="Calibri"/>
                <a:ea typeface="Calibri"/>
                <a:cs typeface="Calibri"/>
                <a:sym typeface="Calibri"/>
              </a:rPr>
              <a:t>Meta-analysis </a:t>
            </a:r>
            <a:r>
              <a:rPr lang="en-US" altLang="zh-TW" sz="1800" i="0" u="none" strike="noStrike" cap="none" dirty="0">
                <a:solidFill>
                  <a:schemeClr val="dk1"/>
                </a:solidFill>
                <a:latin typeface="Calibri"/>
                <a:ea typeface="Calibri"/>
                <a:cs typeface="Calibri"/>
                <a:sym typeface="Calibri"/>
              </a:rPr>
              <a:t>of 7,843 patients with solid tumors from 38 studies (Shachar et al., 2016).</a:t>
            </a:r>
            <a:endParaRPr lang="en-US" sz="1800" i="0" u="none" strike="noStrike" cap="none" dirty="0">
              <a:solidFill>
                <a:schemeClr val="dk1"/>
              </a:solidFill>
              <a:latin typeface="Calibri"/>
              <a:ea typeface="Calibri"/>
              <a:cs typeface="Calibri"/>
              <a:sym typeface="Calibri"/>
            </a:endParaRPr>
          </a:p>
          <a:p>
            <a:pPr marL="400050" lvl="2" indent="-285750">
              <a:lnSpc>
                <a:spcPct val="115000"/>
              </a:lnSpc>
              <a:buClr>
                <a:schemeClr val="dk1"/>
              </a:buClr>
              <a:buSzPts val="1800"/>
              <a:buFont typeface="Arial" panose="020B0604020202020204" pitchFamily="34" charset="0"/>
              <a:buChar char="•"/>
            </a:pPr>
            <a:r>
              <a:rPr lang="en-US" altLang="zh-TW" sz="1800" b="1" dirty="0">
                <a:solidFill>
                  <a:schemeClr val="dk1"/>
                </a:solidFill>
                <a:latin typeface="Calibri"/>
                <a:ea typeface="Calibri"/>
                <a:cs typeface="Calibri"/>
                <a:sym typeface="Calibri"/>
              </a:rPr>
              <a:t>A</a:t>
            </a:r>
            <a:r>
              <a:rPr lang="en-US" altLang="zh-TW" sz="1800" b="0" i="0" u="none" strike="noStrike" cap="none" dirty="0">
                <a:solidFill>
                  <a:schemeClr val="dk1"/>
                </a:solidFill>
                <a:latin typeface="Calibri"/>
                <a:ea typeface="Calibri"/>
                <a:cs typeface="Calibri"/>
                <a:sym typeface="Calibri"/>
              </a:rPr>
              <a:t>ssociated with </a:t>
            </a:r>
            <a:r>
              <a:rPr lang="en-US" altLang="zh-TW" sz="1800" b="1" i="0" u="none" strike="noStrike" cap="none" dirty="0">
                <a:solidFill>
                  <a:schemeClr val="dk1"/>
                </a:solidFill>
                <a:latin typeface="Calibri"/>
                <a:ea typeface="Calibri"/>
                <a:cs typeface="Calibri"/>
                <a:sym typeface="Calibri"/>
              </a:rPr>
              <a:t>low Overall survival (HR = 1.44) and Cancer-specific survival (HR = 1.93).</a:t>
            </a:r>
            <a:endParaRPr lang="en-US" sz="1800" b="1" i="0" u="none" strike="noStrike" cap="none" dirty="0">
              <a:solidFill>
                <a:schemeClr val="dk1"/>
              </a:solidFill>
              <a:latin typeface="Calibri"/>
              <a:ea typeface="Calibri"/>
              <a:cs typeface="Calibri"/>
              <a:sym typeface="Calibri"/>
            </a:endParaRPr>
          </a:p>
          <a:p>
            <a:pPr marL="101600" marR="0" lvl="0" algn="l" rtl="0">
              <a:lnSpc>
                <a:spcPct val="150000"/>
              </a:lnSpc>
              <a:spcBef>
                <a:spcPts val="0"/>
              </a:spcBef>
              <a:spcAft>
                <a:spcPts val="0"/>
              </a:spcAft>
              <a:buClr>
                <a:schemeClr val="dk1"/>
              </a:buClr>
              <a:buSzPts val="2000"/>
            </a:pPr>
            <a:r>
              <a:rPr lang="en-US" altLang="zh-TW" sz="1800" b="1" i="0" u="none" strike="noStrike" cap="none" dirty="0">
                <a:solidFill>
                  <a:schemeClr val="dk1"/>
                </a:solidFill>
                <a:latin typeface="Calibri"/>
                <a:ea typeface="Calibri"/>
                <a:cs typeface="Calibri"/>
                <a:sym typeface="Calibri"/>
              </a:rPr>
              <a:t>2. Low SMD (</a:t>
            </a:r>
            <a:r>
              <a:rPr lang="en-US" altLang="zh-TW" sz="1800" b="1" i="0" u="none" strike="noStrike" cap="none" dirty="0" err="1">
                <a:solidFill>
                  <a:schemeClr val="dk1"/>
                </a:solidFill>
                <a:latin typeface="Calibri"/>
                <a:ea typeface="Calibri"/>
                <a:cs typeface="Calibri"/>
                <a:sym typeface="Calibri"/>
              </a:rPr>
              <a:t>Myosteatosis</a:t>
            </a:r>
            <a:r>
              <a:rPr lang="en-US" altLang="zh-TW" sz="1800" b="1" i="0" u="none" strike="noStrike" cap="none" dirty="0">
                <a:solidFill>
                  <a:schemeClr val="dk1"/>
                </a:solidFill>
                <a:latin typeface="Calibri"/>
                <a:ea typeface="Calibri"/>
                <a:cs typeface="Calibri"/>
                <a:sym typeface="Calibri"/>
              </a:rPr>
              <a:t>)</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altLang="zh-TW" sz="1800" i="0" u="none" strike="noStrike" cap="none" dirty="0">
                <a:solidFill>
                  <a:schemeClr val="dk1"/>
                </a:solidFill>
                <a:latin typeface="Calibri"/>
                <a:ea typeface="Calibri"/>
                <a:cs typeface="Calibri"/>
                <a:sym typeface="Calibri"/>
              </a:rPr>
              <a:t>Meta-analysis of 21,222 patients (Aleixo et al., 2020).</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altLang="zh-TW" sz="1800" b="1" i="0" u="none" strike="noStrike" cap="none" dirty="0">
                <a:solidFill>
                  <a:schemeClr val="dk1"/>
                </a:solidFill>
                <a:latin typeface="Calibri"/>
                <a:ea typeface="Calibri"/>
                <a:cs typeface="Calibri"/>
                <a:sym typeface="Calibri"/>
              </a:rPr>
              <a:t>↑ 75% higher mortality risk (HR = 1.75, 95% CI: 1.60–1.92).</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altLang="zh-TW" sz="1800" i="0" u="none" strike="noStrike" cap="none" dirty="0">
                <a:solidFill>
                  <a:schemeClr val="dk1"/>
                </a:solidFill>
                <a:latin typeface="Calibri"/>
                <a:ea typeface="Calibri"/>
                <a:cs typeface="Calibri"/>
                <a:sym typeface="Calibri"/>
              </a:rPr>
              <a:t>Findings consistent across: Colorectal, hepatic, gastric, pancreatic, renal, gynecologic cancers.</a:t>
            </a:r>
          </a:p>
          <a:p>
            <a:pPr marL="101600" marR="0" lvl="0" algn="l" rtl="0">
              <a:lnSpc>
                <a:spcPct val="150000"/>
              </a:lnSpc>
              <a:spcBef>
                <a:spcPts val="0"/>
              </a:spcBef>
              <a:spcAft>
                <a:spcPts val="0"/>
              </a:spcAft>
              <a:buClr>
                <a:schemeClr val="dk1"/>
              </a:buClr>
              <a:buSzPts val="2000"/>
            </a:pPr>
            <a:r>
              <a:rPr lang="en-US" sz="1800" b="1" dirty="0">
                <a:solidFill>
                  <a:schemeClr val="dk1"/>
                </a:solidFill>
                <a:latin typeface="Calibri"/>
                <a:ea typeface="Calibri"/>
                <a:cs typeface="Calibri"/>
                <a:sym typeface="Calibri"/>
              </a:rPr>
              <a:t>3. Further Evidence</a:t>
            </a:r>
          </a:p>
          <a:p>
            <a:pPr marL="101600" marR="0" lvl="0" algn="l" rtl="0">
              <a:lnSpc>
                <a:spcPct val="150000"/>
              </a:lnSpc>
              <a:spcBef>
                <a:spcPts val="0"/>
              </a:spcBef>
              <a:spcAft>
                <a:spcPts val="0"/>
              </a:spcAft>
              <a:buClr>
                <a:schemeClr val="dk1"/>
              </a:buClr>
              <a:buSzPts val="2000"/>
            </a:pPr>
            <a:r>
              <a:rPr lang="en-US" sz="1800" dirty="0">
                <a:latin typeface="Calibri" panose="020F0502020204030204" pitchFamily="34" charset="0"/>
                <a:cs typeface="Calibri" panose="020F0502020204030204" pitchFamily="34" charset="0"/>
              </a:rPr>
              <a:t>Meta-analyses confirmed in specific cancers:</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sz="1800" b="1" i="0" u="none" strike="noStrike" cap="none" dirty="0">
                <a:solidFill>
                  <a:schemeClr val="dk1"/>
                </a:solidFill>
                <a:latin typeface="Calibri"/>
                <a:ea typeface="Calibri"/>
                <a:cs typeface="Calibri"/>
                <a:sym typeface="Calibri"/>
              </a:rPr>
              <a:t>Ovarian</a:t>
            </a:r>
            <a:r>
              <a:rPr lang="en-US" sz="1800" i="0" u="none" strike="noStrike" cap="none" dirty="0">
                <a:solidFill>
                  <a:schemeClr val="dk1"/>
                </a:solidFill>
                <a:latin typeface="Calibri"/>
                <a:ea typeface="Calibri"/>
                <a:cs typeface="Calibri"/>
                <a:sym typeface="Calibri"/>
              </a:rPr>
              <a:t> (</a:t>
            </a:r>
            <a:r>
              <a:rPr lang="en-US" sz="1800" i="0" u="none" strike="noStrike" cap="none" dirty="0" err="1">
                <a:solidFill>
                  <a:schemeClr val="dk1"/>
                </a:solidFill>
                <a:latin typeface="Calibri"/>
                <a:ea typeface="Calibri"/>
                <a:cs typeface="Calibri"/>
                <a:sym typeface="Calibri"/>
              </a:rPr>
              <a:t>Tranoulis</a:t>
            </a:r>
            <a:r>
              <a:rPr lang="en-US" sz="1800" i="0" u="none" strike="noStrike" cap="none" dirty="0">
                <a:solidFill>
                  <a:schemeClr val="dk1"/>
                </a:solidFill>
                <a:latin typeface="Calibri"/>
                <a:ea typeface="Calibri"/>
                <a:cs typeface="Calibri"/>
                <a:sym typeface="Calibri"/>
              </a:rPr>
              <a:t> et al., 2022).</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sz="1800" b="1" i="0" u="none" strike="noStrike" cap="none" dirty="0">
                <a:solidFill>
                  <a:schemeClr val="dk1"/>
                </a:solidFill>
                <a:latin typeface="Calibri"/>
                <a:ea typeface="Calibri"/>
                <a:cs typeface="Calibri"/>
                <a:sym typeface="Calibri"/>
              </a:rPr>
              <a:t>Hepatocellular</a:t>
            </a:r>
            <a:r>
              <a:rPr lang="en-US" sz="1800" i="0" u="none" strike="noStrike" cap="none" dirty="0">
                <a:solidFill>
                  <a:schemeClr val="dk1"/>
                </a:solidFill>
                <a:latin typeface="Calibri"/>
                <a:ea typeface="Calibri"/>
                <a:cs typeface="Calibri"/>
                <a:sym typeface="Calibri"/>
              </a:rPr>
              <a:t> (Xu et al., 2020).</a:t>
            </a:r>
          </a:p>
          <a:p>
            <a:pPr marL="387350" marR="0" lvl="0" indent="-285750" algn="l" rtl="0">
              <a:lnSpc>
                <a:spcPct val="150000"/>
              </a:lnSpc>
              <a:spcBef>
                <a:spcPts val="0"/>
              </a:spcBef>
              <a:spcAft>
                <a:spcPts val="0"/>
              </a:spcAft>
              <a:buClr>
                <a:schemeClr val="dk1"/>
              </a:buClr>
              <a:buSzPts val="2000"/>
              <a:buFont typeface="Arial" panose="020B0604020202020204" pitchFamily="34" charset="0"/>
              <a:buChar char="•"/>
            </a:pPr>
            <a:r>
              <a:rPr lang="en-US" sz="1800" b="1" i="0" u="none" strike="noStrike" cap="none" dirty="0">
                <a:solidFill>
                  <a:schemeClr val="dk1"/>
                </a:solidFill>
                <a:latin typeface="Calibri"/>
                <a:ea typeface="Calibri"/>
                <a:cs typeface="Calibri"/>
                <a:sym typeface="Calibri"/>
              </a:rPr>
              <a:t>Gastric </a:t>
            </a:r>
            <a:r>
              <a:rPr lang="en-US" sz="1800" i="0" u="none" strike="noStrike" cap="none" dirty="0">
                <a:solidFill>
                  <a:schemeClr val="dk1"/>
                </a:solidFill>
                <a:latin typeface="Calibri"/>
                <a:ea typeface="Calibri"/>
                <a:cs typeface="Calibri"/>
                <a:sym typeface="Calibri"/>
              </a:rPr>
              <a:t>(Guo et al., 2025).</a:t>
            </a:r>
            <a:endParaRPr sz="1800" i="0" u="none" strike="noStrike" cap="none" dirty="0">
              <a:solidFill>
                <a:schemeClr val="dk1"/>
              </a:solidFill>
              <a:latin typeface="Calibri"/>
              <a:ea typeface="Calibri"/>
              <a:cs typeface="Calibri"/>
              <a:sym typeface="Calibri"/>
            </a:endParaRPr>
          </a:p>
        </p:txBody>
      </p:sp>
      <p:sp>
        <p:nvSpPr>
          <p:cNvPr id="118" name="Google Shape;118;p6"/>
          <p:cNvSpPr txBox="1"/>
          <p:nvPr/>
        </p:nvSpPr>
        <p:spPr>
          <a:xfrm>
            <a:off x="628650" y="0"/>
            <a:ext cx="10934700" cy="834044"/>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rgbClr val="000000"/>
              </a:buClr>
              <a:buSzPts val="2500"/>
              <a:buFont typeface="Arial"/>
              <a:buNone/>
            </a:pPr>
            <a:r>
              <a:rPr lang="zh-TW" sz="2800" b="1" i="0" u="none" strike="noStrike" cap="none" dirty="0">
                <a:solidFill>
                  <a:schemeClr val="dk1"/>
                </a:solidFill>
                <a:latin typeface="Calibri"/>
                <a:ea typeface="Calibri"/>
                <a:cs typeface="Calibri"/>
                <a:sym typeface="Calibri"/>
              </a:rPr>
              <a:t>Prognostic Meta-analytic Evidence on Pre-treatment SMI and SMD</a:t>
            </a:r>
            <a:endParaRPr sz="2800" b="0" i="0" u="none" strike="noStrike" cap="none" dirty="0">
              <a:solidFill>
                <a:srgbClr val="000000"/>
              </a:solidFill>
              <a:latin typeface="Arial"/>
              <a:ea typeface="Arial"/>
              <a:cs typeface="Arial"/>
              <a:sym typeface="Arial"/>
            </a:endParaRPr>
          </a:p>
        </p:txBody>
      </p:sp>
      <p:sp>
        <p:nvSpPr>
          <p:cNvPr id="5" name="文字方塊 4">
            <a:extLst>
              <a:ext uri="{FF2B5EF4-FFF2-40B4-BE49-F238E27FC236}">
                <a16:creationId xmlns:a16="http://schemas.microsoft.com/office/drawing/2014/main" id="{AE6EB292-5F50-9C92-6D03-4AE045C38A8A}"/>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1.1 Definition and Prognostic Role of Skeletal Muscle Index (SMI) and Skeletal Muscle Density (SMD)</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2" name="矩形 1">
            <a:extLst>
              <a:ext uri="{FF2B5EF4-FFF2-40B4-BE49-F238E27FC236}">
                <a16:creationId xmlns:a16="http://schemas.microsoft.com/office/drawing/2014/main" id="{364D6B70-DF75-F42F-79E2-39301DC206FC}"/>
              </a:ext>
            </a:extLst>
          </p:cNvPr>
          <p:cNvSpPr/>
          <p:nvPr/>
        </p:nvSpPr>
        <p:spPr>
          <a:xfrm>
            <a:off x="0" y="650430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132;p8"/>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7</a:t>
            </a:fld>
            <a:endParaRPr/>
          </a:p>
        </p:txBody>
      </p:sp>
      <p:sp>
        <p:nvSpPr>
          <p:cNvPr id="133" name="Google Shape;133;p8"/>
          <p:cNvSpPr txBox="1"/>
          <p:nvPr/>
        </p:nvSpPr>
        <p:spPr>
          <a:xfrm>
            <a:off x="1122670" y="1317220"/>
            <a:ext cx="10240200" cy="490849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800"/>
              <a:buFont typeface="Arial"/>
              <a:buNone/>
            </a:pPr>
            <a:endParaRPr sz="20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r>
              <a:rPr lang="zh-TW" sz="2000" b="1" i="0" u="none" strike="noStrike" cap="none" dirty="0">
                <a:solidFill>
                  <a:schemeClr val="dk1"/>
                </a:solidFill>
                <a:latin typeface="Calibri"/>
                <a:ea typeface="Calibri"/>
                <a:cs typeface="Calibri"/>
                <a:sym typeface="Calibri"/>
              </a:rPr>
              <a:t>McGovern et al. (2021)</a:t>
            </a:r>
            <a:endParaRPr sz="2000" b="1"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120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Systematic review of </a:t>
            </a:r>
            <a:r>
              <a:rPr lang="zh-TW" sz="1800" b="1" i="0" u="none" strike="noStrike" cap="none" dirty="0">
                <a:solidFill>
                  <a:schemeClr val="dk1"/>
                </a:solidFill>
                <a:latin typeface="Calibri"/>
                <a:ea typeface="Calibri"/>
                <a:cs typeface="Calibri"/>
                <a:sym typeface="Calibri"/>
              </a:rPr>
              <a:t>160 studies</a:t>
            </a:r>
            <a:r>
              <a:rPr lang="zh-TW" sz="1800" b="0" i="0" u="none" strike="noStrike" cap="none" dirty="0">
                <a:solidFill>
                  <a:schemeClr val="dk1"/>
                </a:solidFill>
                <a:latin typeface="Calibri"/>
                <a:ea typeface="Calibri"/>
                <a:cs typeface="Calibri"/>
                <a:sym typeface="Calibri"/>
              </a:rPr>
              <a:t> including </a:t>
            </a:r>
            <a:r>
              <a:rPr lang="zh-TW" sz="1800" b="1" i="0" u="none" strike="noStrike" cap="none" dirty="0">
                <a:solidFill>
                  <a:schemeClr val="dk1"/>
                </a:solidFill>
                <a:latin typeface="Calibri"/>
                <a:ea typeface="Calibri"/>
                <a:cs typeface="Calibri"/>
                <a:sym typeface="Calibri"/>
              </a:rPr>
              <a:t>42,000+ cancer patients</a:t>
            </a:r>
            <a:r>
              <a:rPr lang="en-US" altLang="zh-TW" sz="1800" b="1" i="0" u="none" strike="noStrike" cap="none" dirty="0">
                <a:solidFill>
                  <a:schemeClr val="dk1"/>
                </a:solidFill>
                <a:latin typeface="Calibri"/>
                <a:ea typeface="Calibri"/>
                <a:cs typeface="Calibri"/>
                <a:sym typeface="Calibri"/>
              </a:rPr>
              <a:t>.</a:t>
            </a:r>
            <a:br>
              <a:rPr lang="zh-TW" sz="1800" b="1" i="0" u="none" strike="noStrike" cap="none" dirty="0">
                <a:solidFill>
                  <a:schemeClr val="dk1"/>
                </a:solidFill>
                <a:latin typeface="Calibri"/>
                <a:ea typeface="Calibri"/>
                <a:cs typeface="Calibri"/>
                <a:sym typeface="Calibri"/>
              </a:rPr>
            </a:br>
            <a:endParaRPr sz="1800" b="1"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Found that </a:t>
            </a:r>
            <a:r>
              <a:rPr lang="zh-TW" sz="1800" b="1" i="0" u="none" strike="noStrike" cap="none" dirty="0">
                <a:solidFill>
                  <a:schemeClr val="dk1"/>
                </a:solidFill>
                <a:latin typeface="Calibri"/>
                <a:ea typeface="Calibri"/>
                <a:cs typeface="Calibri"/>
                <a:sym typeface="Calibri"/>
              </a:rPr>
              <a:t>low SMI and SMD are highly prevalent</a:t>
            </a:r>
            <a:r>
              <a:rPr lang="zh-TW" sz="1800" b="0" i="0" u="none" strike="noStrike" cap="none" dirty="0">
                <a:solidFill>
                  <a:schemeClr val="dk1"/>
                </a:solidFill>
                <a:latin typeface="Calibri"/>
                <a:ea typeface="Calibri"/>
                <a:cs typeface="Calibri"/>
                <a:sym typeface="Calibri"/>
              </a:rPr>
              <a:t> across tumor types and stages</a:t>
            </a:r>
            <a:r>
              <a:rPr lang="en-US" altLang="zh-TW" sz="1800" b="0" i="0" u="none" strike="noStrike" cap="none" dirty="0">
                <a:solidFill>
                  <a:schemeClr val="dk1"/>
                </a:solidFill>
                <a:latin typeface="Calibri"/>
                <a:ea typeface="Calibri"/>
                <a:cs typeface="Calibri"/>
                <a:sym typeface="Calibri"/>
              </a:rPr>
              <a:t>.</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Prevalence of low SMI/SMD ranged from </a:t>
            </a:r>
            <a:r>
              <a:rPr lang="zh-TW" sz="1800" b="1" i="0" u="none" strike="noStrike" cap="none" dirty="0">
                <a:solidFill>
                  <a:schemeClr val="dk1"/>
                </a:solidFill>
                <a:latin typeface="Calibri"/>
                <a:ea typeface="Calibri"/>
                <a:cs typeface="Calibri"/>
                <a:sym typeface="Calibri"/>
              </a:rPr>
              <a:t>35% to 50%</a:t>
            </a:r>
            <a:r>
              <a:rPr lang="zh-TW" sz="1800" b="0" i="0" u="none" strike="noStrike" cap="none" dirty="0">
                <a:solidFill>
                  <a:schemeClr val="dk1"/>
                </a:solidFill>
                <a:latin typeface="Calibri"/>
                <a:ea typeface="Calibri"/>
                <a:cs typeface="Calibri"/>
                <a:sym typeface="Calibri"/>
              </a:rPr>
              <a:t>, regardless of threshold, cancer type, or disease stage</a:t>
            </a:r>
            <a:r>
              <a:rPr lang="en-US" altLang="zh-TW" sz="1800" dirty="0">
                <a:solidFill>
                  <a:schemeClr val="dk1"/>
                </a:solidFill>
                <a:latin typeface="Calibri"/>
                <a:ea typeface="Calibri"/>
                <a:cs typeface="Calibri"/>
                <a:sym typeface="Calibri"/>
              </a:rPr>
              <a:t>.</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Suggests that </a:t>
            </a:r>
            <a:r>
              <a:rPr lang="zh-TW" sz="1800" b="1" i="0" u="none" strike="noStrike" cap="none" dirty="0">
                <a:solidFill>
                  <a:schemeClr val="dk1"/>
                </a:solidFill>
                <a:latin typeface="Calibri"/>
                <a:ea typeface="Calibri"/>
                <a:cs typeface="Calibri"/>
                <a:sym typeface="Calibri"/>
              </a:rPr>
              <a:t>poor muscle quantity (SMI)</a:t>
            </a:r>
            <a:r>
              <a:rPr lang="zh-TW" sz="1800" b="0" i="0" u="none" strike="noStrike" cap="none" dirty="0">
                <a:solidFill>
                  <a:schemeClr val="dk1"/>
                </a:solidFill>
                <a:latin typeface="Calibri"/>
                <a:ea typeface="Calibri"/>
                <a:cs typeface="Calibri"/>
                <a:sym typeface="Calibri"/>
              </a:rPr>
              <a:t> and </a:t>
            </a:r>
            <a:r>
              <a:rPr lang="zh-TW" sz="1800" b="1" i="0" u="none" strike="noStrike" cap="none" dirty="0">
                <a:solidFill>
                  <a:schemeClr val="dk1"/>
                </a:solidFill>
                <a:latin typeface="Calibri"/>
                <a:ea typeface="Calibri"/>
                <a:cs typeface="Calibri"/>
                <a:sym typeface="Calibri"/>
              </a:rPr>
              <a:t>quality (SMD)</a:t>
            </a:r>
            <a:r>
              <a:rPr lang="zh-TW" sz="1800" b="0" i="0" u="none" strike="noStrike" cap="none" dirty="0">
                <a:solidFill>
                  <a:schemeClr val="dk1"/>
                </a:solidFill>
                <a:latin typeface="Calibri"/>
                <a:ea typeface="Calibri"/>
                <a:cs typeface="Calibri"/>
                <a:sym typeface="Calibri"/>
              </a:rPr>
              <a:t> are </a:t>
            </a:r>
            <a:r>
              <a:rPr lang="zh-TW" sz="1800" b="1" i="0" u="none" strike="noStrike" cap="none" dirty="0">
                <a:solidFill>
                  <a:schemeClr val="dk1"/>
                </a:solidFill>
                <a:latin typeface="Calibri"/>
                <a:ea typeface="Calibri"/>
                <a:cs typeface="Calibri"/>
                <a:sym typeface="Calibri"/>
              </a:rPr>
              <a:t>endemic at diagnosis</a:t>
            </a:r>
            <a:r>
              <a:rPr lang="zh-TW" sz="1800" b="0" i="0" u="none" strike="noStrike" cap="none" dirty="0">
                <a:solidFill>
                  <a:schemeClr val="dk1"/>
                </a:solidFill>
                <a:latin typeface="Calibri"/>
                <a:ea typeface="Calibri"/>
                <a:cs typeface="Calibri"/>
                <a:sym typeface="Calibri"/>
              </a:rPr>
              <a:t> in cancer patients</a:t>
            </a:r>
            <a:r>
              <a:rPr lang="en-US" altLang="zh-TW" sz="1800" b="0" i="0" u="none" strike="noStrike" cap="none" dirty="0">
                <a:solidFill>
                  <a:schemeClr val="dk1"/>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a:p>
            <a:pPr marL="457200" marR="0" lvl="0" indent="0" algn="l" rtl="0">
              <a:lnSpc>
                <a:spcPct val="115000"/>
              </a:lnSpc>
              <a:spcBef>
                <a:spcPts val="1200"/>
              </a:spcBef>
              <a:spcAft>
                <a:spcPts val="1200"/>
              </a:spcAft>
              <a:buClr>
                <a:srgbClr val="000000"/>
              </a:buClr>
              <a:buSzPts val="1300"/>
              <a:buFont typeface="Arial"/>
              <a:buNone/>
            </a:pPr>
            <a:endParaRPr sz="2000" b="1" i="0" u="none" strike="noStrike" cap="none" dirty="0">
              <a:solidFill>
                <a:schemeClr val="dk1"/>
              </a:solidFill>
              <a:latin typeface="Arial"/>
              <a:ea typeface="Arial"/>
              <a:cs typeface="Arial"/>
              <a:sym typeface="Arial"/>
            </a:endParaRPr>
          </a:p>
        </p:txBody>
      </p:sp>
      <p:sp>
        <p:nvSpPr>
          <p:cNvPr id="134" name="Google Shape;134;p8"/>
          <p:cNvSpPr txBox="1"/>
          <p:nvPr/>
        </p:nvSpPr>
        <p:spPr>
          <a:xfrm>
            <a:off x="1873155" y="313738"/>
            <a:ext cx="8445689" cy="1406509"/>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400"/>
              </a:spcBef>
              <a:spcAft>
                <a:spcPts val="400"/>
              </a:spcAft>
              <a:buClr>
                <a:schemeClr val="dk1"/>
              </a:buClr>
              <a:buSzPts val="1100"/>
              <a:buFont typeface="Arial"/>
              <a:buNone/>
            </a:pPr>
            <a:r>
              <a:rPr lang="zh-TW" sz="2800" b="1" i="0" u="none" strike="noStrike" cap="none" dirty="0">
                <a:solidFill>
                  <a:schemeClr val="dk1"/>
                </a:solidFill>
                <a:latin typeface="Calibri" panose="020F0502020204030204" pitchFamily="34" charset="0"/>
                <a:cs typeface="Calibri" panose="020F0502020204030204" pitchFamily="34" charset="0"/>
                <a:sym typeface="Arial"/>
              </a:rPr>
              <a:t>Prevalence and Prognostic Significance of Low SMI and SMD in Cancer Patients</a:t>
            </a:r>
            <a:endParaRPr sz="2800" b="1"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sp>
        <p:nvSpPr>
          <p:cNvPr id="3" name="文字方塊 2">
            <a:extLst>
              <a:ext uri="{FF2B5EF4-FFF2-40B4-BE49-F238E27FC236}">
                <a16:creationId xmlns:a16="http://schemas.microsoft.com/office/drawing/2014/main" id="{8A1F2EEE-C5FC-F13C-0668-4A8AB211CA3F}"/>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1.1 Definition and Prognostic Role of Skeletal Muscle Index (SMI) and Skeletal Muscle Density (SMD)</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3" name="矩形 2">
            <a:extLst>
              <a:ext uri="{FF2B5EF4-FFF2-40B4-BE49-F238E27FC236}">
                <a16:creationId xmlns:a16="http://schemas.microsoft.com/office/drawing/2014/main" id="{72673DA4-28C4-5058-FC62-43207ECC1326}"/>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Google Shape;140;g35d440b47b6_0_85"/>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8</a:t>
            </a:fld>
            <a:endParaRPr/>
          </a:p>
        </p:txBody>
      </p:sp>
      <p:sp>
        <p:nvSpPr>
          <p:cNvPr id="141" name="Google Shape;141;g35d440b47b6_0_85"/>
          <p:cNvSpPr txBox="1"/>
          <p:nvPr/>
        </p:nvSpPr>
        <p:spPr>
          <a:xfrm>
            <a:off x="2890200" y="226638"/>
            <a:ext cx="64116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Traditional Survival Model</a:t>
            </a:r>
            <a:endParaRPr sz="2800" b="1" i="0" u="none" strike="noStrike" cap="none" dirty="0">
              <a:solidFill>
                <a:srgbClr val="000000"/>
              </a:solidFill>
              <a:latin typeface="Calibri"/>
              <a:ea typeface="Calibri"/>
              <a:cs typeface="Calibri"/>
              <a:sym typeface="Calibri"/>
            </a:endParaRPr>
          </a:p>
        </p:txBody>
      </p:sp>
      <p:sp>
        <p:nvSpPr>
          <p:cNvPr id="142" name="Google Shape;142;g35d440b47b6_0_85"/>
          <p:cNvSpPr txBox="1"/>
          <p:nvPr/>
        </p:nvSpPr>
        <p:spPr>
          <a:xfrm>
            <a:off x="755125" y="1021491"/>
            <a:ext cx="10382100" cy="2677626"/>
          </a:xfrm>
          <a:prstGeom prst="rect">
            <a:avLst/>
          </a:prstGeom>
          <a:noFill/>
          <a:ln>
            <a:noFill/>
          </a:ln>
        </p:spPr>
        <p:txBody>
          <a:bodyPr spcFirstLastPara="1" wrap="square" lIns="91425" tIns="91425" rIns="91425" bIns="91425" anchor="t" anchorCtr="0">
            <a:spAutoFit/>
          </a:bodyPr>
          <a:lstStyle/>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The Cox Proportional Hazards (</a:t>
            </a:r>
            <a:r>
              <a:rPr lang="en-US" altLang="zh-TW" sz="1800" b="0" i="0" u="none" strike="noStrike" cap="none" dirty="0">
                <a:solidFill>
                  <a:schemeClr val="dk1"/>
                </a:solidFill>
                <a:latin typeface="Calibri"/>
                <a:ea typeface="Calibri"/>
                <a:cs typeface="Calibri"/>
                <a:sym typeface="Calibri"/>
              </a:rPr>
              <a:t>CPH</a:t>
            </a:r>
            <a:r>
              <a:rPr lang="zh-TW" sz="1800" b="0" i="0" u="none" strike="noStrike" cap="none" dirty="0">
                <a:solidFill>
                  <a:schemeClr val="dk1"/>
                </a:solidFill>
                <a:latin typeface="Calibri"/>
                <a:ea typeface="Calibri"/>
                <a:cs typeface="Calibri"/>
                <a:sym typeface="Calibri"/>
              </a:rPr>
              <a:t>) model estimates </a:t>
            </a:r>
            <a:r>
              <a:rPr lang="zh-TW" sz="1800" b="1" i="0" u="none" strike="noStrike" cap="none" dirty="0">
                <a:solidFill>
                  <a:schemeClr val="dk1"/>
                </a:solidFill>
                <a:latin typeface="Calibri"/>
                <a:ea typeface="Calibri"/>
                <a:cs typeface="Calibri"/>
                <a:sym typeface="Calibri"/>
              </a:rPr>
              <a:t>the risk of an event (e.g., death) over time based on patient covariates. </a:t>
            </a:r>
            <a:endParaRPr sz="1800" b="1"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It assumes that the hazard function is a product of a baseline hazard and a log-linear function of covariates. </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As a </a:t>
            </a:r>
            <a:r>
              <a:rPr lang="zh-TW" sz="1800" b="1" i="0" u="none" strike="noStrike" cap="none" dirty="0">
                <a:solidFill>
                  <a:schemeClr val="dk1"/>
                </a:solidFill>
                <a:latin typeface="Calibri"/>
                <a:ea typeface="Calibri"/>
                <a:cs typeface="Calibri"/>
                <a:sym typeface="Calibri"/>
              </a:rPr>
              <a:t>semi-parametric model</a:t>
            </a:r>
            <a:r>
              <a:rPr lang="zh-TW" sz="1800" b="0" i="0" u="none" strike="noStrike" cap="none" dirty="0">
                <a:solidFill>
                  <a:schemeClr val="dk1"/>
                </a:solidFill>
                <a:latin typeface="Calibri"/>
                <a:ea typeface="Calibri"/>
                <a:cs typeface="Calibri"/>
                <a:sym typeface="Calibri"/>
              </a:rPr>
              <a:t>, it does not require explicit specification of the baseline hazard function.</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However, it has the following limitations:</a:t>
            </a:r>
            <a:endParaRPr sz="1800" b="0" i="0" u="none" strike="noStrike" cap="none" dirty="0">
              <a:solidFill>
                <a:schemeClr val="dk1"/>
              </a:solidFill>
              <a:latin typeface="Calibri"/>
              <a:ea typeface="Calibri"/>
              <a:cs typeface="Calibri"/>
              <a:sym typeface="Calibri"/>
            </a:endParaRPr>
          </a:p>
        </p:txBody>
      </p:sp>
      <p:graphicFrame>
        <p:nvGraphicFramePr>
          <p:cNvPr id="143" name="Google Shape;143;g35d440b47b6_0_85"/>
          <p:cNvGraphicFramePr/>
          <p:nvPr>
            <p:extLst>
              <p:ext uri="{D42A27DB-BD31-4B8C-83A1-F6EECF244321}">
                <p14:modId xmlns:p14="http://schemas.microsoft.com/office/powerpoint/2010/main" val="2425184985"/>
              </p:ext>
            </p:extLst>
          </p:nvPr>
        </p:nvGraphicFramePr>
        <p:xfrm>
          <a:off x="755125" y="3738954"/>
          <a:ext cx="11001375" cy="2674246"/>
        </p:xfrm>
        <a:graphic>
          <a:graphicData uri="http://schemas.openxmlformats.org/drawingml/2006/table">
            <a:tbl>
              <a:tblPr>
                <a:noFill/>
                <a:tableStyleId>{9131E142-F8EF-4464-ABEE-8F79346A5F01}</a:tableStyleId>
              </a:tblPr>
              <a:tblGrid>
                <a:gridCol w="3962400">
                  <a:extLst>
                    <a:ext uri="{9D8B030D-6E8A-4147-A177-3AD203B41FA5}">
                      <a16:colId xmlns:a16="http://schemas.microsoft.com/office/drawing/2014/main" val="20000"/>
                    </a:ext>
                  </a:extLst>
                </a:gridCol>
                <a:gridCol w="7038975">
                  <a:extLst>
                    <a:ext uri="{9D8B030D-6E8A-4147-A177-3AD203B41FA5}">
                      <a16:colId xmlns:a16="http://schemas.microsoft.com/office/drawing/2014/main" val="20001"/>
                    </a:ext>
                  </a:extLst>
                </a:gridCol>
              </a:tblGrid>
              <a:tr h="228600">
                <a:tc>
                  <a:txBody>
                    <a:bodyPr/>
                    <a:lstStyle/>
                    <a:p>
                      <a:pPr marL="0" marR="0" lvl="0" indent="0" algn="ctr" rtl="0">
                        <a:lnSpc>
                          <a:spcPct val="115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Limitation</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mpd="sng">
                      <a:noFill/>
                      <a:prstDash val="soli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15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Description</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mpd="sng">
                      <a:noFill/>
                      <a:prstDash val="soli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8600">
                <a:tc>
                  <a:txBody>
                    <a:bodyPr/>
                    <a:lstStyle/>
                    <a:p>
                      <a:pPr marL="0" marR="0" lvl="0" indent="0" algn="l"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Linearity assumption</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Assumes a linear relationship between covariates and log hazard (may not hold in practice)</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600">
                <a:tc>
                  <a:txBody>
                    <a:bodyPr/>
                    <a:lstStyle/>
                    <a:p>
                      <a:pPr marL="0" marR="0" lvl="0" indent="0" algn="l"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Proportional hazards assumption</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Assumes that hazard ratios between groups are constant over time, which is often violated in dynamic clinical risks</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8600">
                <a:tc>
                  <a:txBody>
                    <a:bodyPr/>
                    <a:lstStyle/>
                    <a:p>
                      <a:pPr marL="0" marR="0" lvl="0" indent="0" algn="l"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Limited in handling high-dimensional and interaction effects</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Performance deteriorates in the presence of many variables, nonlinear patterns, or complex feature interactions</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2" name="Google Shape;132;p8">
            <a:extLst>
              <a:ext uri="{FF2B5EF4-FFF2-40B4-BE49-F238E27FC236}">
                <a16:creationId xmlns:a16="http://schemas.microsoft.com/office/drawing/2014/main" id="{41A5CB9D-D253-40FF-9B64-64A7FE3FAF4A}"/>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8</a:t>
            </a:fld>
            <a:endParaRPr lang="en-US"/>
          </a:p>
        </p:txBody>
      </p:sp>
      <p:sp>
        <p:nvSpPr>
          <p:cNvPr id="4" name="文字方塊 3">
            <a:extLst>
              <a:ext uri="{FF2B5EF4-FFF2-40B4-BE49-F238E27FC236}">
                <a16:creationId xmlns:a16="http://schemas.microsoft.com/office/drawing/2014/main" id="{3E7C4A6A-426A-BDA6-B358-E994AD20C7D2}"/>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1.2 Review of Traditional and AI-based Survival Models</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3" name="矩形 2">
            <a:extLst>
              <a:ext uri="{FF2B5EF4-FFF2-40B4-BE49-F238E27FC236}">
                <a16:creationId xmlns:a16="http://schemas.microsoft.com/office/drawing/2014/main" id="{CF083619-DA81-7916-1C10-7BF25DBA9C76}"/>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Google Shape;149;g35d440b47b6_0_94"/>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9</a:t>
            </a:fld>
            <a:endParaRPr/>
          </a:p>
        </p:txBody>
      </p:sp>
      <p:graphicFrame>
        <p:nvGraphicFramePr>
          <p:cNvPr id="150" name="Google Shape;150;g35d440b47b6_0_94"/>
          <p:cNvGraphicFramePr/>
          <p:nvPr>
            <p:extLst>
              <p:ext uri="{D42A27DB-BD31-4B8C-83A1-F6EECF244321}">
                <p14:modId xmlns:p14="http://schemas.microsoft.com/office/powerpoint/2010/main" val="1512444855"/>
              </p:ext>
            </p:extLst>
          </p:nvPr>
        </p:nvGraphicFramePr>
        <p:xfrm>
          <a:off x="604936" y="1328838"/>
          <a:ext cx="10982125" cy="5011580"/>
        </p:xfrm>
        <a:graphic>
          <a:graphicData uri="http://schemas.openxmlformats.org/drawingml/2006/table">
            <a:tbl>
              <a:tblPr>
                <a:noFill/>
                <a:tableStyleId>{9131E142-F8EF-4464-ABEE-8F79346A5F01}</a:tableStyleId>
              </a:tblPr>
              <a:tblGrid>
                <a:gridCol w="2238875">
                  <a:extLst>
                    <a:ext uri="{9D8B030D-6E8A-4147-A177-3AD203B41FA5}">
                      <a16:colId xmlns:a16="http://schemas.microsoft.com/office/drawing/2014/main" val="20000"/>
                    </a:ext>
                  </a:extLst>
                </a:gridCol>
                <a:gridCol w="3565200">
                  <a:extLst>
                    <a:ext uri="{9D8B030D-6E8A-4147-A177-3AD203B41FA5}">
                      <a16:colId xmlns:a16="http://schemas.microsoft.com/office/drawing/2014/main" val="20001"/>
                    </a:ext>
                  </a:extLst>
                </a:gridCol>
                <a:gridCol w="5178050">
                  <a:extLst>
                    <a:ext uri="{9D8B030D-6E8A-4147-A177-3AD203B41FA5}">
                      <a16:colId xmlns:a16="http://schemas.microsoft.com/office/drawing/2014/main" val="20002"/>
                    </a:ext>
                  </a:extLst>
                </a:gridCol>
              </a:tblGrid>
              <a:tr h="530775">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Aspect</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mpd="sng">
                      <a:noFill/>
                      <a:prstDash val="soli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Traditional Cox Models</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mpd="sng">
                      <a:noFill/>
                      <a:prstDash val="soli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AI-Based </a:t>
                      </a:r>
                      <a:r>
                        <a:rPr lang="en-US" altLang="zh-TW" sz="1800" b="1" u="none" strike="noStrike" cap="none" dirty="0">
                          <a:latin typeface="Calibri"/>
                          <a:ea typeface="Calibri"/>
                          <a:cs typeface="Calibri"/>
                          <a:sym typeface="Calibri"/>
                        </a:rPr>
                        <a:t>Survival </a:t>
                      </a:r>
                      <a:r>
                        <a:rPr lang="zh-TW" sz="1800" b="1" u="none" strike="noStrike" cap="none" dirty="0">
                          <a:latin typeface="Calibri"/>
                          <a:ea typeface="Calibri"/>
                          <a:cs typeface="Calibri"/>
                          <a:sym typeface="Calibri"/>
                        </a:rPr>
                        <a:t>Models</a:t>
                      </a:r>
                      <a:endParaRPr sz="1800" b="1"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mpd="sng">
                      <a:noFill/>
                      <a:prstDash val="soli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7850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Assumptions</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Linear effects, proportional hazards</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No assumption of linearity or proportional hazards</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850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Handling of time</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Static risk estimation</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Time-dependent, patient-specific survival prediction</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7850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High-dimensional data</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Limited capacity, requires manual variable selection</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Handles high-dimensional data (e.g., radiomics, genomics) automatically</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850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Interactions between variables</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Typically ignored or simplified</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Can model complex, nonlinear interactions</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850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Model interpretability</a:t>
                      </a:r>
                      <a:endParaRPr sz="1800" b="1"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Direct interpretation of coefficients</a:t>
                      </a:r>
                      <a:endParaRPr sz="1800" u="none" strike="noStrike" cap="none">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Requires XAI techniques (e.g., SHAP) for interpretability</a:t>
                      </a:r>
                      <a:endParaRPr sz="1800" u="none" strike="noStrike" cap="none" dirty="0">
                        <a:latin typeface="Calibri"/>
                        <a:ea typeface="Calibri"/>
                        <a:cs typeface="Calibri"/>
                        <a:sym typeface="Calibri"/>
                      </a:endParaRPr>
                    </a:p>
                  </a:txBody>
                  <a:tcPr marL="91425" marR="91425" marT="91425" marB="91425">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51" name="Google Shape;151;g35d440b47b6_0_94"/>
          <p:cNvSpPr txBox="1"/>
          <p:nvPr/>
        </p:nvSpPr>
        <p:spPr>
          <a:xfrm>
            <a:off x="1788044" y="282428"/>
            <a:ext cx="8615910" cy="104641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Advancing Survival Prediction: From Cox to </a:t>
            </a:r>
            <a:r>
              <a:rPr lang="zh-TW" sz="2800" b="1" i="0" u="none" strike="noStrike" cap="none" dirty="0">
                <a:solidFill>
                  <a:schemeClr val="dk1"/>
                </a:solidFill>
                <a:latin typeface="Calibri"/>
                <a:ea typeface="Calibri"/>
                <a:cs typeface="Calibri"/>
                <a:sym typeface="Calibri"/>
              </a:rPr>
              <a:t>AI-based Survival Model</a:t>
            </a:r>
            <a:endParaRPr sz="2800" b="1" i="0" u="none" strike="noStrike" cap="none" dirty="0">
              <a:solidFill>
                <a:srgbClr val="000000"/>
              </a:solidFill>
              <a:latin typeface="Calibri"/>
              <a:ea typeface="Calibri"/>
              <a:cs typeface="Calibri"/>
              <a:sym typeface="Calibri"/>
            </a:endParaRPr>
          </a:p>
        </p:txBody>
      </p:sp>
      <p:sp>
        <p:nvSpPr>
          <p:cNvPr id="2" name="Google Shape;132;p8">
            <a:extLst>
              <a:ext uri="{FF2B5EF4-FFF2-40B4-BE49-F238E27FC236}">
                <a16:creationId xmlns:a16="http://schemas.microsoft.com/office/drawing/2014/main" id="{974C2500-B215-A016-CEDE-9E71892F3BB3}"/>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9</a:t>
            </a:fld>
            <a:endParaRPr lang="en-US"/>
          </a:p>
        </p:txBody>
      </p:sp>
      <p:sp>
        <p:nvSpPr>
          <p:cNvPr id="5" name="文字方塊 4">
            <a:extLst>
              <a:ext uri="{FF2B5EF4-FFF2-40B4-BE49-F238E27FC236}">
                <a16:creationId xmlns:a16="http://schemas.microsoft.com/office/drawing/2014/main" id="{371AA3BF-2245-89C8-C4E2-A13558E31F28}"/>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1.2 Review of Traditional and AI-based Survival Models</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3" name="矩形 2">
            <a:extLst>
              <a:ext uri="{FF2B5EF4-FFF2-40B4-BE49-F238E27FC236}">
                <a16:creationId xmlns:a16="http://schemas.microsoft.com/office/drawing/2014/main" id="{245DFC5A-F268-79C4-AB3F-3930825F06F7}"/>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Google Shape;166;p9"/>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10</a:t>
            </a:fld>
            <a:endParaRPr/>
          </a:p>
        </p:txBody>
      </p:sp>
      <p:sp>
        <p:nvSpPr>
          <p:cNvPr id="167" name="Google Shape;167;p9"/>
          <p:cNvSpPr txBox="1"/>
          <p:nvPr/>
        </p:nvSpPr>
        <p:spPr>
          <a:xfrm>
            <a:off x="938339" y="1538518"/>
            <a:ext cx="10803000" cy="458584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1200"/>
              </a:spcBef>
              <a:spcAft>
                <a:spcPts val="0"/>
              </a:spcAft>
              <a:buClr>
                <a:srgbClr val="000000"/>
              </a:buClr>
              <a:buSzPts val="1800"/>
              <a:buFont typeface="Arial"/>
              <a:buNone/>
            </a:pPr>
            <a:r>
              <a:rPr lang="zh-TW" sz="1800" b="0" i="0" u="none" strike="noStrike" cap="none" dirty="0">
                <a:solidFill>
                  <a:schemeClr val="dk1"/>
                </a:solidFill>
                <a:latin typeface="Calibri" panose="020F0502020204030204" pitchFamily="34" charset="0"/>
                <a:cs typeface="Calibri" panose="020F0502020204030204" pitchFamily="34" charset="0"/>
                <a:sym typeface="Arial"/>
              </a:rPr>
              <a:t>A 2025 subanalysis of the SORAMIC clinical trial evaluated how </a:t>
            </a:r>
            <a:r>
              <a:rPr lang="zh-TW" sz="1800" b="1" i="0" u="none" strike="noStrike" cap="none" dirty="0">
                <a:solidFill>
                  <a:schemeClr val="dk1"/>
                </a:solidFill>
                <a:latin typeface="Calibri" panose="020F0502020204030204" pitchFamily="34" charset="0"/>
                <a:cs typeface="Calibri" panose="020F0502020204030204" pitchFamily="34" charset="0"/>
                <a:sym typeface="Arial"/>
              </a:rPr>
              <a:t>14 SMI</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 and </a:t>
            </a:r>
            <a:r>
              <a:rPr lang="zh-TW" sz="1800" b="1" i="0" u="none" strike="noStrike" cap="none" dirty="0">
                <a:solidFill>
                  <a:schemeClr val="dk1"/>
                </a:solidFill>
                <a:latin typeface="Calibri" panose="020F0502020204030204" pitchFamily="34" charset="0"/>
                <a:cs typeface="Calibri" panose="020F0502020204030204" pitchFamily="34" charset="0"/>
                <a:sym typeface="Arial"/>
              </a:rPr>
              <a:t>7 SMD</a:t>
            </a:r>
            <a:r>
              <a:rPr lang="zh-TW" sz="1800" b="0" i="0" u="none" strike="noStrike" cap="none" dirty="0">
                <a:solidFill>
                  <a:schemeClr val="dk1"/>
                </a:solidFill>
                <a:latin typeface="Calibri" panose="020F0502020204030204" pitchFamily="34" charset="0"/>
                <a:cs typeface="Calibri" panose="020F0502020204030204" pitchFamily="34" charset="0"/>
                <a:sym typeface="Arial"/>
              </a:rPr>
              <a:t> cutoff definitions influenced sarcopenia/myosteatosis prevalence and survival prediction in 179 liver cancer patients.</a:t>
            </a:r>
            <a:endParaRPr sz="18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42900" algn="l" rtl="0">
              <a:lnSpc>
                <a:spcPct val="150000"/>
              </a:lnSpc>
              <a:spcBef>
                <a:spcPts val="1200"/>
              </a:spcBef>
              <a:spcAft>
                <a:spcPts val="0"/>
              </a:spcAft>
              <a:buClr>
                <a:schemeClr val="dk1"/>
              </a:buClr>
              <a:buSzPts val="1800"/>
              <a:buFont typeface="Arial"/>
              <a:buChar char="●"/>
            </a:pPr>
            <a:r>
              <a:rPr lang="en-US" altLang="zh-TW" sz="1800" b="0" i="0" u="none" strike="noStrike" cap="none" dirty="0">
                <a:solidFill>
                  <a:schemeClr val="dk1"/>
                </a:solidFill>
                <a:latin typeface="Calibri" panose="020F0502020204030204" pitchFamily="34" charset="0"/>
                <a:cs typeface="Calibri" panose="020F0502020204030204" pitchFamily="34" charset="0"/>
                <a:sym typeface="Arial"/>
              </a:rPr>
              <a:t>Sarcopenia prevalence ranged from </a:t>
            </a:r>
            <a:r>
              <a:rPr lang="en-US" altLang="zh-TW" sz="1800" b="1" i="0" u="none" strike="noStrike" cap="none" dirty="0">
                <a:solidFill>
                  <a:schemeClr val="dk1"/>
                </a:solidFill>
                <a:latin typeface="Calibri" panose="020F0502020204030204" pitchFamily="34" charset="0"/>
                <a:cs typeface="Calibri" panose="020F0502020204030204" pitchFamily="34" charset="0"/>
                <a:sym typeface="Arial"/>
              </a:rPr>
              <a:t>8.9% to 69.8%</a:t>
            </a:r>
          </a:p>
          <a:p>
            <a:pPr marL="457200" marR="0" lvl="0" indent="-342900" algn="l" rtl="0">
              <a:lnSpc>
                <a:spcPct val="150000"/>
              </a:lnSpc>
              <a:spcBef>
                <a:spcPts val="1200"/>
              </a:spcBef>
              <a:spcAft>
                <a:spcPts val="0"/>
              </a:spcAft>
              <a:buClr>
                <a:schemeClr val="dk1"/>
              </a:buClr>
              <a:buSzPts val="1800"/>
              <a:buFont typeface="Arial"/>
              <a:buChar char="●"/>
            </a:pPr>
            <a:r>
              <a:rPr lang="en-US" altLang="zh-TW" sz="1800" b="0" i="0" u="none" strike="noStrike" cap="none" dirty="0">
                <a:solidFill>
                  <a:schemeClr val="dk1"/>
                </a:solidFill>
                <a:latin typeface="Calibri" panose="020F0502020204030204" pitchFamily="34" charset="0"/>
                <a:cs typeface="Calibri" panose="020F0502020204030204" pitchFamily="34" charset="0"/>
                <a:sym typeface="Arial"/>
              </a:rPr>
              <a:t>Only </a:t>
            </a:r>
            <a:r>
              <a:rPr lang="en-US" altLang="zh-TW" sz="1800" b="1" i="0" u="none" strike="noStrike" cap="none" dirty="0">
                <a:solidFill>
                  <a:schemeClr val="dk1"/>
                </a:solidFill>
                <a:latin typeface="Calibri" panose="020F0502020204030204" pitchFamily="34" charset="0"/>
                <a:cs typeface="Calibri" panose="020F0502020204030204" pitchFamily="34" charset="0"/>
                <a:sym typeface="Arial"/>
              </a:rPr>
              <a:t>3 SMI and 1 SMD </a:t>
            </a:r>
            <a:r>
              <a:rPr lang="en-US" altLang="zh-TW" sz="1800" b="0" i="0" u="none" strike="noStrike" cap="none" dirty="0">
                <a:solidFill>
                  <a:schemeClr val="dk1"/>
                </a:solidFill>
                <a:latin typeface="Calibri" panose="020F0502020204030204" pitchFamily="34" charset="0"/>
                <a:cs typeface="Calibri" panose="020F0502020204030204" pitchFamily="34" charset="0"/>
                <a:sym typeface="Arial"/>
              </a:rPr>
              <a:t>cutoffs showed significant OS prediction (HR ~1.5)</a:t>
            </a:r>
          </a:p>
          <a:p>
            <a:pPr marL="457200" marR="0" lvl="0" indent="-342900" algn="l" rtl="0">
              <a:lnSpc>
                <a:spcPct val="150000"/>
              </a:lnSpc>
              <a:spcBef>
                <a:spcPts val="1200"/>
              </a:spcBef>
              <a:spcAft>
                <a:spcPts val="0"/>
              </a:spcAft>
              <a:buClr>
                <a:schemeClr val="dk1"/>
              </a:buClr>
              <a:buSzPts val="1800"/>
              <a:buFont typeface="Arial"/>
              <a:buChar char="●"/>
            </a:pPr>
            <a:r>
              <a:rPr lang="en-US" altLang="zh-TW" sz="1800" b="0" i="0" u="none" strike="noStrike" cap="none" dirty="0">
                <a:solidFill>
                  <a:schemeClr val="dk1"/>
                </a:solidFill>
                <a:latin typeface="Calibri" panose="020F0502020204030204" pitchFamily="34" charset="0"/>
                <a:cs typeface="Calibri" panose="020F0502020204030204" pitchFamily="34" charset="0"/>
                <a:sym typeface="Arial"/>
              </a:rPr>
              <a:t>Most definitions failed to predict prognosis</a:t>
            </a:r>
          </a:p>
          <a:p>
            <a:pPr marL="114300" marR="0" lvl="0" algn="l" rtl="0">
              <a:lnSpc>
                <a:spcPct val="150000"/>
              </a:lnSpc>
              <a:spcBef>
                <a:spcPts val="1200"/>
              </a:spcBef>
              <a:spcAft>
                <a:spcPts val="0"/>
              </a:spcAft>
              <a:buClr>
                <a:schemeClr val="dk1"/>
              </a:buClr>
              <a:buSzPts val="1800"/>
            </a:pPr>
            <a:endParaRPr lang="en-US" sz="1800" b="0" i="0" u="none" strike="noStrike" cap="none" dirty="0">
              <a:solidFill>
                <a:schemeClr val="dk1"/>
              </a:solidFill>
              <a:latin typeface="Calibri" panose="020F0502020204030204" pitchFamily="34" charset="0"/>
              <a:cs typeface="Calibri" panose="020F0502020204030204" pitchFamily="34" charset="0"/>
              <a:sym typeface="Arial"/>
            </a:endParaRPr>
          </a:p>
          <a:p>
            <a:pPr marL="0" marR="0" lvl="0" indent="0" algn="l" rtl="0">
              <a:lnSpc>
                <a:spcPct val="150000"/>
              </a:lnSpc>
              <a:spcBef>
                <a:spcPts val="1200"/>
              </a:spcBef>
              <a:spcAft>
                <a:spcPts val="1200"/>
              </a:spcAft>
              <a:buClr>
                <a:srgbClr val="000000"/>
              </a:buClr>
              <a:buSzPts val="1800"/>
              <a:buFont typeface="Arial"/>
              <a:buNone/>
            </a:pPr>
            <a:r>
              <a:rPr lang="zh-TW" sz="1800" b="1" i="0" u="none" strike="noStrike" cap="none" dirty="0">
                <a:solidFill>
                  <a:schemeClr val="dk1"/>
                </a:solidFill>
                <a:latin typeface="Calibri" panose="020F0502020204030204" pitchFamily="34" charset="0"/>
                <a:cs typeface="Calibri" panose="020F0502020204030204" pitchFamily="34" charset="0"/>
                <a:sym typeface="Arial"/>
              </a:rPr>
              <a:t>These findings highlight the urgent need to establish cancer-specific, standardized cutoff values to improve clinical applicability of body composition metrics.</a:t>
            </a:r>
            <a:endParaRPr sz="1800" b="1" i="0" u="none" strike="noStrike" cap="none" dirty="0">
              <a:solidFill>
                <a:schemeClr val="dk1"/>
              </a:solidFill>
              <a:latin typeface="Calibri" panose="020F0502020204030204" pitchFamily="34" charset="0"/>
              <a:cs typeface="Calibri" panose="020F0502020204030204" pitchFamily="34" charset="0"/>
              <a:sym typeface="Arial"/>
            </a:endParaRPr>
          </a:p>
        </p:txBody>
      </p:sp>
      <p:sp>
        <p:nvSpPr>
          <p:cNvPr id="168" name="Google Shape;168;p9"/>
          <p:cNvSpPr txBox="1"/>
          <p:nvPr/>
        </p:nvSpPr>
        <p:spPr>
          <a:xfrm>
            <a:off x="2267461" y="295850"/>
            <a:ext cx="7657075" cy="104641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The Importance of Standardized Skeletal Muscle Cutoffs </a:t>
            </a:r>
            <a:r>
              <a:rPr lang="en-US" altLang="zh-TW" sz="2800" b="1" i="0" u="none" strike="noStrike" cap="none" dirty="0">
                <a:solidFill>
                  <a:srgbClr val="000000"/>
                </a:solidFill>
                <a:latin typeface="Calibri"/>
                <a:ea typeface="Calibri"/>
                <a:cs typeface="Calibri"/>
                <a:sym typeface="Calibri"/>
              </a:rPr>
              <a:t>in Oncology Prognosis</a:t>
            </a:r>
            <a:endParaRPr sz="2800" b="1" i="0" u="none" strike="noStrike" cap="none" dirty="0">
              <a:solidFill>
                <a:srgbClr val="000000"/>
              </a:solidFill>
              <a:latin typeface="Calibri"/>
              <a:ea typeface="Calibri"/>
              <a:cs typeface="Calibri"/>
              <a:sym typeface="Calibri"/>
            </a:endParaRPr>
          </a:p>
        </p:txBody>
      </p:sp>
      <p:sp>
        <p:nvSpPr>
          <p:cNvPr id="2" name="Google Shape;132;p8">
            <a:extLst>
              <a:ext uri="{FF2B5EF4-FFF2-40B4-BE49-F238E27FC236}">
                <a16:creationId xmlns:a16="http://schemas.microsoft.com/office/drawing/2014/main" id="{92DD1A30-1210-7789-A6F4-832E54A8381F}"/>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10</a:t>
            </a:fld>
            <a:endParaRPr lang="en-US"/>
          </a:p>
        </p:txBody>
      </p:sp>
      <p:sp>
        <p:nvSpPr>
          <p:cNvPr id="4" name="文字方塊 3">
            <a:extLst>
              <a:ext uri="{FF2B5EF4-FFF2-40B4-BE49-F238E27FC236}">
                <a16:creationId xmlns:a16="http://schemas.microsoft.com/office/drawing/2014/main" id="{847AE7CD-A62C-54F2-DA67-9FC0538127A8}"/>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3" name="矩形 2">
            <a:extLst>
              <a:ext uri="{FF2B5EF4-FFF2-40B4-BE49-F238E27FC236}">
                <a16:creationId xmlns:a16="http://schemas.microsoft.com/office/drawing/2014/main" id="{3C005DC7-8C34-4D76-9B37-092281070294}"/>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Google Shape;174;p10"/>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11</a:t>
            </a:fld>
            <a:endParaRPr/>
          </a:p>
        </p:txBody>
      </p:sp>
      <p:sp>
        <p:nvSpPr>
          <p:cNvPr id="175" name="Google Shape;175;p10"/>
          <p:cNvSpPr txBox="1"/>
          <p:nvPr/>
        </p:nvSpPr>
        <p:spPr>
          <a:xfrm>
            <a:off x="2744825" y="273492"/>
            <a:ext cx="6591300" cy="104641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Traditional Statistical Methods for Determining Cut-off Values</a:t>
            </a:r>
            <a:endParaRPr sz="2800" b="1" i="0" u="none" strike="noStrike" cap="none" dirty="0">
              <a:solidFill>
                <a:srgbClr val="000000"/>
              </a:solidFill>
              <a:latin typeface="Calibri"/>
              <a:ea typeface="Calibri"/>
              <a:cs typeface="Calibri"/>
              <a:sym typeface="Calibri"/>
            </a:endParaRPr>
          </a:p>
        </p:txBody>
      </p:sp>
      <p:sp>
        <p:nvSpPr>
          <p:cNvPr id="176" name="Google Shape;176;p10"/>
          <p:cNvSpPr txBox="1"/>
          <p:nvPr/>
        </p:nvSpPr>
        <p:spPr>
          <a:xfrm>
            <a:off x="1346250" y="1319902"/>
            <a:ext cx="9499500" cy="615037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000"/>
              <a:buFont typeface="Arial"/>
              <a:buNone/>
            </a:pPr>
            <a:r>
              <a:rPr lang="zh-TW" sz="2000" b="1" i="0" u="none" strike="noStrike" cap="none" dirty="0">
                <a:solidFill>
                  <a:schemeClr val="dk1"/>
                </a:solidFill>
                <a:latin typeface="Calibri" panose="020F0502020204030204" pitchFamily="34" charset="0"/>
                <a:cs typeface="Calibri" panose="020F0502020204030204" pitchFamily="34" charset="0"/>
                <a:sym typeface="Arial"/>
              </a:rPr>
              <a:t>Common Methods</a:t>
            </a:r>
            <a:endParaRPr sz="2000" b="1"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342900" algn="l" rtl="0">
              <a:lnSpc>
                <a:spcPct val="150000"/>
              </a:lnSpc>
              <a:spcBef>
                <a:spcPts val="1200"/>
              </a:spcBef>
              <a:spcAft>
                <a:spcPts val="0"/>
              </a:spcAft>
              <a:buClr>
                <a:schemeClr val="dk1"/>
              </a:buClr>
              <a:buSzPts val="1800"/>
              <a:buFont typeface="Calibri"/>
              <a:buChar char="●"/>
            </a:pPr>
            <a: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t>ROC Curve Analysis</a:t>
            </a:r>
            <a:b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br>
            <a:r>
              <a:rPr lang="zh-TW" sz="2000" b="0" i="0" u="none" strike="noStrike" cap="none" dirty="0">
                <a:solidFill>
                  <a:schemeClr val="dk1"/>
                </a:solidFill>
                <a:latin typeface="Calibri" panose="020F0502020204030204" pitchFamily="34" charset="0"/>
                <a:ea typeface="Calibri"/>
                <a:cs typeface="Calibri" panose="020F0502020204030204" pitchFamily="34" charset="0"/>
                <a:sym typeface="Calibri"/>
              </a:rPr>
              <a:t> </a:t>
            </a: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Identifies the point maximizing sensitivity and specificity</a:t>
            </a:r>
            <a:b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b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 → using </a:t>
            </a:r>
            <a:r>
              <a:rPr lang="zh-TW" sz="1800" b="1" i="0" u="none" strike="noStrike" cap="none" dirty="0">
                <a:solidFill>
                  <a:schemeClr val="dk1"/>
                </a:solidFill>
                <a:latin typeface="Calibri" panose="020F0502020204030204" pitchFamily="34" charset="0"/>
                <a:ea typeface="Calibri"/>
                <a:cs typeface="Calibri" panose="020F0502020204030204" pitchFamily="34" charset="0"/>
                <a:sym typeface="Calibri"/>
              </a:rPr>
              <a:t>Youden's Index</a:t>
            </a:r>
            <a:br>
              <a:rPr lang="zh-TW" sz="1800" b="1" i="0" u="none" strike="noStrike" cap="none" dirty="0">
                <a:solidFill>
                  <a:schemeClr val="dk1"/>
                </a:solidFill>
                <a:latin typeface="Calibri" panose="020F0502020204030204" pitchFamily="34" charset="0"/>
                <a:ea typeface="Calibri"/>
                <a:cs typeface="Calibri" panose="020F0502020204030204" pitchFamily="34" charset="0"/>
                <a:sym typeface="Calibri"/>
              </a:rPr>
            </a:br>
            <a:endParaRPr sz="18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t>Optimal Stratification</a:t>
            </a:r>
            <a:b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b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 Determines the cut-off that best separates survival curves (e.g., via log-rank test)</a:t>
            </a:r>
            <a:b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br>
            <a:endParaRPr sz="18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457200" marR="0" lvl="0" indent="-317500" algn="l" rtl="0">
              <a:lnSpc>
                <a:spcPct val="150000"/>
              </a:lnSpc>
              <a:spcBef>
                <a:spcPts val="0"/>
              </a:spcBef>
              <a:spcAft>
                <a:spcPts val="0"/>
              </a:spcAft>
              <a:buClr>
                <a:schemeClr val="dk1"/>
              </a:buClr>
              <a:buSzPts val="1400"/>
              <a:buFont typeface="Arial"/>
              <a:buChar char="●"/>
            </a:pPr>
            <a: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t>Tertile or Quartile Split</a:t>
            </a:r>
            <a:b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b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 Uses distribution-based grouping (e.g., lowest 25% vs. others)</a:t>
            </a:r>
            <a:br>
              <a:rPr lang="zh-TW" sz="2000" b="0" i="0" u="none" strike="noStrike" cap="none" dirty="0">
                <a:solidFill>
                  <a:schemeClr val="dk1"/>
                </a:solidFill>
                <a:latin typeface="Calibri" panose="020F0502020204030204" pitchFamily="34" charset="0"/>
                <a:cs typeface="Calibri" panose="020F0502020204030204" pitchFamily="34" charset="0"/>
                <a:sym typeface="Arial"/>
              </a:rPr>
            </a:br>
            <a:endParaRPr sz="2000" b="0" i="0" u="none" strike="noStrike" cap="none" dirty="0">
              <a:solidFill>
                <a:schemeClr val="dk1"/>
              </a:solidFill>
              <a:latin typeface="Calibri" panose="020F0502020204030204" pitchFamily="34" charset="0"/>
              <a:cs typeface="Calibri" panose="020F0502020204030204" pitchFamily="34" charset="0"/>
              <a:sym typeface="Arial"/>
            </a:endParaRPr>
          </a:p>
          <a:p>
            <a:pPr marL="457200" marR="0" lvl="0" indent="0" algn="l" rtl="0">
              <a:lnSpc>
                <a:spcPct val="115000"/>
              </a:lnSpc>
              <a:spcBef>
                <a:spcPts val="1200"/>
              </a:spcBef>
              <a:spcAft>
                <a:spcPts val="1200"/>
              </a:spcAft>
              <a:buClr>
                <a:srgbClr val="000000"/>
              </a:buClr>
              <a:buSzPts val="1100"/>
              <a:buFont typeface="Arial"/>
              <a:buNone/>
            </a:pPr>
            <a:endParaRPr sz="2000" b="0" i="0" u="none" strike="noStrike" cap="none" dirty="0">
              <a:solidFill>
                <a:schemeClr val="dk1"/>
              </a:solidFill>
              <a:latin typeface="Calibri" panose="020F0502020204030204" pitchFamily="34" charset="0"/>
              <a:cs typeface="Calibri" panose="020F0502020204030204" pitchFamily="34" charset="0"/>
              <a:sym typeface="Arial"/>
            </a:endParaRPr>
          </a:p>
        </p:txBody>
      </p:sp>
      <p:sp>
        <p:nvSpPr>
          <p:cNvPr id="2" name="Google Shape;132;p8">
            <a:extLst>
              <a:ext uri="{FF2B5EF4-FFF2-40B4-BE49-F238E27FC236}">
                <a16:creationId xmlns:a16="http://schemas.microsoft.com/office/drawing/2014/main" id="{C088991B-44A8-CF2D-0516-B990AAE36B0B}"/>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11</a:t>
            </a:fld>
            <a:endParaRPr lang="en-US"/>
          </a:p>
        </p:txBody>
      </p:sp>
      <p:pic>
        <p:nvPicPr>
          <p:cNvPr id="6" name="圖片 5">
            <a:extLst>
              <a:ext uri="{FF2B5EF4-FFF2-40B4-BE49-F238E27FC236}">
                <a16:creationId xmlns:a16="http://schemas.microsoft.com/office/drawing/2014/main" id="{1BDD6760-6534-ACC1-DEDC-EFA067F43392}"/>
              </a:ext>
            </a:extLst>
          </p:cNvPr>
          <p:cNvPicPr>
            <a:picLocks noChangeAspect="1"/>
          </p:cNvPicPr>
          <p:nvPr/>
        </p:nvPicPr>
        <p:blipFill>
          <a:blip r:embed="rId3"/>
          <a:stretch>
            <a:fillRect/>
          </a:stretch>
        </p:blipFill>
        <p:spPr>
          <a:xfrm>
            <a:off x="8534399" y="1120060"/>
            <a:ext cx="2536956" cy="2492503"/>
          </a:xfrm>
          <a:prstGeom prst="rect">
            <a:avLst/>
          </a:prstGeom>
        </p:spPr>
      </p:pic>
      <p:sp>
        <p:nvSpPr>
          <p:cNvPr id="8" name="文字方塊 7">
            <a:extLst>
              <a:ext uri="{FF2B5EF4-FFF2-40B4-BE49-F238E27FC236}">
                <a16:creationId xmlns:a16="http://schemas.microsoft.com/office/drawing/2014/main" id="{02CE82B3-6F5D-D95B-4A6E-7DC620483E2D}"/>
              </a:ext>
            </a:extLst>
          </p:cNvPr>
          <p:cNvSpPr txBox="1"/>
          <p:nvPr/>
        </p:nvSpPr>
        <p:spPr>
          <a:xfrm>
            <a:off x="8508961" y="3639392"/>
            <a:ext cx="3446251" cy="246221"/>
          </a:xfrm>
          <a:prstGeom prst="rect">
            <a:avLst/>
          </a:prstGeom>
          <a:noFill/>
        </p:spPr>
        <p:txBody>
          <a:bodyPr wrap="square">
            <a:spAutoFit/>
          </a:bodyPr>
          <a:lstStyle/>
          <a:p>
            <a:r>
              <a:rPr lang="fr-FR" sz="1000" dirty="0">
                <a:solidFill>
                  <a:schemeClr val="bg1">
                    <a:lumMod val="65000"/>
                  </a:schemeClr>
                </a:solidFill>
              </a:rPr>
              <a:t>Source: Voršilák et al., </a:t>
            </a:r>
            <a:r>
              <a:rPr lang="fr-FR" sz="1000" i="1" dirty="0">
                <a:solidFill>
                  <a:schemeClr val="bg1">
                    <a:lumMod val="65000"/>
                  </a:schemeClr>
                </a:solidFill>
              </a:rPr>
              <a:t>J Cheminform</a:t>
            </a:r>
            <a:r>
              <a:rPr lang="fr-FR" sz="1000" dirty="0">
                <a:solidFill>
                  <a:schemeClr val="bg1">
                    <a:lumMod val="65000"/>
                  </a:schemeClr>
                </a:solidFill>
              </a:rPr>
              <a:t>, 2020. CC BY 4.0</a:t>
            </a:r>
            <a:r>
              <a:rPr lang="fr-FR" sz="1000" dirty="0"/>
              <a:t>.</a:t>
            </a:r>
            <a:endParaRPr lang="en-US" sz="800" dirty="0">
              <a:solidFill>
                <a:schemeClr val="bg1">
                  <a:lumMod val="75000"/>
                </a:schemeClr>
              </a:solidFill>
            </a:endParaRPr>
          </a:p>
        </p:txBody>
      </p:sp>
      <p:sp>
        <p:nvSpPr>
          <p:cNvPr id="5" name="文字方塊 4">
            <a:extLst>
              <a:ext uri="{FF2B5EF4-FFF2-40B4-BE49-F238E27FC236}">
                <a16:creationId xmlns:a16="http://schemas.microsoft.com/office/drawing/2014/main" id="{10C1D397-583B-B0A1-C7EF-096A52DDC8CF}"/>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5" name="Google Shape;185;p11"/>
          <p:cNvPicPr preferRelativeResize="0"/>
          <p:nvPr/>
        </p:nvPicPr>
        <p:blipFill rotWithShape="1">
          <a:blip r:embed="rId3">
            <a:alphaModFix/>
          </a:blip>
          <a:srcRect/>
          <a:stretch/>
        </p:blipFill>
        <p:spPr>
          <a:xfrm>
            <a:off x="8280669" y="2451370"/>
            <a:ext cx="3911331" cy="1718855"/>
          </a:xfrm>
          <a:prstGeom prst="rect">
            <a:avLst/>
          </a:prstGeom>
          <a:noFill/>
          <a:ln>
            <a:noFill/>
          </a:ln>
        </p:spPr>
      </p:pic>
      <p:sp>
        <p:nvSpPr>
          <p:cNvPr id="3" name="矩形 2">
            <a:extLst>
              <a:ext uri="{FF2B5EF4-FFF2-40B4-BE49-F238E27FC236}">
                <a16:creationId xmlns:a16="http://schemas.microsoft.com/office/drawing/2014/main" id="{CF6A15A5-04A9-707F-1A0B-C810FC22C500}"/>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Google Shape;182;p11"/>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12</a:t>
            </a:fld>
            <a:endParaRPr/>
          </a:p>
        </p:txBody>
      </p:sp>
      <p:sp>
        <p:nvSpPr>
          <p:cNvPr id="183" name="Google Shape;183;p11"/>
          <p:cNvSpPr txBox="1"/>
          <p:nvPr/>
        </p:nvSpPr>
        <p:spPr>
          <a:xfrm>
            <a:off x="2482215" y="407109"/>
            <a:ext cx="722757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Explainable Artificial Intelligence (XAI)</a:t>
            </a:r>
            <a:endParaRPr sz="2800" b="0" i="0" u="none" strike="noStrike" cap="none" dirty="0">
              <a:solidFill>
                <a:srgbClr val="000000"/>
              </a:solidFill>
              <a:latin typeface="Arial"/>
              <a:ea typeface="Arial"/>
              <a:cs typeface="Arial"/>
              <a:sym typeface="Arial"/>
            </a:endParaRPr>
          </a:p>
        </p:txBody>
      </p:sp>
      <p:sp>
        <p:nvSpPr>
          <p:cNvPr id="184" name="Google Shape;184;p11"/>
          <p:cNvSpPr txBox="1"/>
          <p:nvPr/>
        </p:nvSpPr>
        <p:spPr>
          <a:xfrm>
            <a:off x="495882" y="1460842"/>
            <a:ext cx="7823043" cy="469355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zh-TW" sz="2000" b="1" i="0" u="none" strike="noStrike" cap="none" dirty="0">
                <a:solidFill>
                  <a:srgbClr val="000000"/>
                </a:solidFill>
                <a:latin typeface="Calibri"/>
                <a:ea typeface="Calibri"/>
                <a:cs typeface="Calibri"/>
                <a:sym typeface="Calibri"/>
              </a:rPr>
              <a:t>Definition</a:t>
            </a:r>
            <a:endParaRPr sz="2000" b="0" i="0" u="none" strike="noStrike" cap="none" dirty="0">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en-US" alt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XAI aims to provide insight into the inner workings of “black-box” models by generating quantitative and visual explanations of how predictions are made.</a:t>
            </a:r>
          </a:p>
          <a:p>
            <a:pPr marL="285750" marR="0" lvl="0" indent="-285750" algn="l" rtl="0">
              <a:lnSpc>
                <a:spcPct val="150000"/>
              </a:lnSpc>
              <a:spcBef>
                <a:spcPts val="0"/>
              </a:spcBef>
              <a:spcAft>
                <a:spcPts val="0"/>
              </a:spcAft>
              <a:buClr>
                <a:srgbClr val="000000"/>
              </a:buClr>
              <a:buSzPts val="1800"/>
              <a:buFont typeface="Arial"/>
              <a:buChar char="•"/>
            </a:pPr>
            <a:endParaRPr lang="en-US" sz="20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2000" b="1" i="0" u="none" strike="noStrike" cap="none" dirty="0">
                <a:solidFill>
                  <a:srgbClr val="000000"/>
                </a:solidFill>
                <a:latin typeface="Calibri"/>
                <a:ea typeface="Calibri"/>
                <a:cs typeface="Calibri"/>
                <a:sym typeface="Calibri"/>
              </a:rPr>
              <a:t>Key Functions of XAI</a:t>
            </a:r>
            <a:endParaRPr sz="2000" b="0" i="0" u="none" strike="noStrike" cap="none" dirty="0">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Quantifies</a:t>
            </a:r>
            <a:r>
              <a:rPr 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 how much each feature contributes to a specific prediction</a:t>
            </a:r>
            <a:r>
              <a:rPr lang="en-US" alt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a:t>
            </a:r>
            <a:endParaRPr sz="1800" b="0" i="0" u="none" strike="noStrike" cap="none" dirty="0">
              <a:solidFill>
                <a:srgbClr val="000000"/>
              </a:solidFill>
              <a:latin typeface="Calibri" panose="020F0502020204030204" pitchFamily="34" charset="0"/>
              <a:cs typeface="Calibri" panose="020F0502020204030204" pitchFamily="34" charset="0"/>
              <a:sym typeface="Arial"/>
            </a:endParaRPr>
          </a:p>
          <a:p>
            <a:pPr marL="285750" marR="0" lvl="0" indent="-285750" algn="l" rtl="0">
              <a:lnSpc>
                <a:spcPct val="150000"/>
              </a:lnSpc>
              <a:spcBef>
                <a:spcPts val="0"/>
              </a:spcBef>
              <a:spcAft>
                <a:spcPts val="0"/>
              </a:spcAft>
              <a:buClr>
                <a:srgbClr val="000000"/>
              </a:buClr>
              <a:buSzPts val="1800"/>
              <a:buFont typeface="Arial"/>
              <a:buChar char="•"/>
            </a:pPr>
            <a:r>
              <a:rPr 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Visualizes</a:t>
            </a:r>
            <a:r>
              <a:rPr 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 nonlinear relationships and feature interactions(SHAP dependence plots)</a:t>
            </a:r>
            <a:r>
              <a:rPr lang="en-US" alt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a:t>
            </a:r>
          </a:p>
          <a:p>
            <a:pPr marL="285750" marR="0" lvl="0" indent="-285750" algn="l" rtl="0">
              <a:lnSpc>
                <a:spcPct val="150000"/>
              </a:lnSpc>
              <a:spcBef>
                <a:spcPts val="0"/>
              </a:spcBef>
              <a:spcAft>
                <a:spcPts val="0"/>
              </a:spcAft>
              <a:buClr>
                <a:srgbClr val="000000"/>
              </a:buClr>
              <a:buSzPts val="1800"/>
              <a:buFont typeface="Arial"/>
              <a:buChar char="•"/>
            </a:pPr>
            <a:r>
              <a:rPr 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Explains</a:t>
            </a:r>
            <a:r>
              <a:rPr 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 predictions at both </a:t>
            </a:r>
            <a:r>
              <a:rPr 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global</a:t>
            </a:r>
            <a:r>
              <a:rPr 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 (entire population) and </a:t>
            </a:r>
            <a:r>
              <a:rPr lang="zh-TW" sz="1800" b="1" i="0" u="none" strike="noStrike" cap="none" dirty="0">
                <a:solidFill>
                  <a:srgbClr val="000000"/>
                </a:solidFill>
                <a:latin typeface="Calibri" panose="020F0502020204030204" pitchFamily="34" charset="0"/>
                <a:ea typeface="Calibri"/>
                <a:cs typeface="Calibri" panose="020F0502020204030204" pitchFamily="34" charset="0"/>
                <a:sym typeface="Calibri"/>
              </a:rPr>
              <a:t>individual</a:t>
            </a:r>
            <a:r>
              <a:rPr 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 (per patient) levels</a:t>
            </a:r>
            <a:r>
              <a:rPr lang="en-US" altLang="zh-TW" sz="1800" b="0" i="0" u="none" strike="noStrike" cap="none" dirty="0">
                <a:solidFill>
                  <a:srgbClr val="000000"/>
                </a:solidFill>
                <a:latin typeface="Calibri" panose="020F0502020204030204" pitchFamily="34" charset="0"/>
                <a:ea typeface="Calibri"/>
                <a:cs typeface="Calibri" panose="020F0502020204030204" pitchFamily="34" charset="0"/>
                <a:sym typeface="Calibri"/>
              </a:rPr>
              <a:t>.</a:t>
            </a:r>
            <a:endParaRPr sz="1800" b="0" i="0" u="none" strike="noStrike" cap="none" dirty="0">
              <a:solidFill>
                <a:srgbClr val="000000"/>
              </a:solidFill>
              <a:latin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1400"/>
              <a:buFont typeface="Arial"/>
              <a:buNone/>
            </a:pPr>
            <a:endParaRPr sz="2000" b="0" i="0" u="none" strike="noStrike" cap="none" dirty="0">
              <a:solidFill>
                <a:srgbClr val="000000"/>
              </a:solidFill>
              <a:latin typeface="Arial"/>
              <a:ea typeface="Arial"/>
              <a:cs typeface="Arial"/>
              <a:sym typeface="Arial"/>
            </a:endParaRPr>
          </a:p>
        </p:txBody>
      </p:sp>
      <p:sp>
        <p:nvSpPr>
          <p:cNvPr id="186" name="Google Shape;186;p11"/>
          <p:cNvSpPr txBox="1"/>
          <p:nvPr/>
        </p:nvSpPr>
        <p:spPr>
          <a:xfrm>
            <a:off x="8795544" y="4191000"/>
            <a:ext cx="6192836"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altLang="zh-TW" sz="1200" b="0" i="0" u="none" strike="noStrike" cap="none" dirty="0">
                <a:solidFill>
                  <a:srgbClr val="A5A5A5"/>
                </a:solidFill>
                <a:latin typeface="Calibri"/>
                <a:ea typeface="Calibri"/>
                <a:cs typeface="Calibri"/>
                <a:sym typeface="Calibri"/>
              </a:rPr>
              <a:t>Source: </a:t>
            </a:r>
            <a:r>
              <a:rPr lang="en-US" altLang="zh-TW" sz="1200" b="0" i="0" u="none" strike="noStrike" cap="none" dirty="0" err="1">
                <a:solidFill>
                  <a:srgbClr val="A5A5A5"/>
                </a:solidFill>
                <a:latin typeface="Calibri"/>
                <a:ea typeface="Calibri"/>
                <a:cs typeface="Calibri"/>
                <a:sym typeface="Calibri"/>
              </a:rPr>
              <a:t>Ladbury</a:t>
            </a:r>
            <a:r>
              <a:rPr lang="en-US" altLang="zh-TW" sz="1200" b="0" i="0" u="none" strike="noStrike" cap="none" dirty="0">
                <a:solidFill>
                  <a:srgbClr val="A5A5A5"/>
                </a:solidFill>
                <a:latin typeface="Calibri"/>
                <a:ea typeface="Calibri"/>
                <a:cs typeface="Calibri"/>
                <a:sym typeface="Calibri"/>
              </a:rPr>
              <a:t> et al., </a:t>
            </a:r>
            <a:r>
              <a:rPr lang="en-US" altLang="zh-TW" sz="1200" b="0" i="0" u="none" strike="noStrike" cap="none" dirty="0" err="1">
                <a:solidFill>
                  <a:srgbClr val="A5A5A5"/>
                </a:solidFill>
                <a:latin typeface="Calibri"/>
                <a:ea typeface="Calibri"/>
                <a:cs typeface="Calibri"/>
                <a:sym typeface="Calibri"/>
              </a:rPr>
              <a:t>Transl</a:t>
            </a:r>
            <a:r>
              <a:rPr lang="en-US" altLang="zh-TW" sz="1200" b="0" i="0" u="none" strike="noStrike" cap="none" dirty="0">
                <a:solidFill>
                  <a:srgbClr val="A5A5A5"/>
                </a:solidFill>
                <a:latin typeface="Calibri"/>
                <a:ea typeface="Calibri"/>
                <a:cs typeface="Calibri"/>
                <a:sym typeface="Calibri"/>
              </a:rPr>
              <a:t> Cancer Res, 2022.</a:t>
            </a:r>
            <a:endParaRPr lang="en-US" sz="1400" b="0" i="0" u="none" strike="noStrike" cap="none" dirty="0">
              <a:solidFill>
                <a:srgbClr val="000000"/>
              </a:solidFill>
              <a:latin typeface="Arial"/>
              <a:ea typeface="Arial"/>
              <a:cs typeface="Arial"/>
              <a:sym typeface="Arial"/>
            </a:endParaRPr>
          </a:p>
        </p:txBody>
      </p:sp>
      <p:sp>
        <p:nvSpPr>
          <p:cNvPr id="2" name="Google Shape;132;p8">
            <a:extLst>
              <a:ext uri="{FF2B5EF4-FFF2-40B4-BE49-F238E27FC236}">
                <a16:creationId xmlns:a16="http://schemas.microsoft.com/office/drawing/2014/main" id="{674141D6-D671-DB42-A9D3-6078FB7845D5}"/>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12</a:t>
            </a:fld>
            <a:endParaRPr lang="en-US"/>
          </a:p>
        </p:txBody>
      </p:sp>
      <p:sp>
        <p:nvSpPr>
          <p:cNvPr id="5" name="文字方塊 4">
            <a:extLst>
              <a:ext uri="{FF2B5EF4-FFF2-40B4-BE49-F238E27FC236}">
                <a16:creationId xmlns:a16="http://schemas.microsoft.com/office/drawing/2014/main" id="{C0E0769E-FA99-763B-A87A-86447BE55A32}"/>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5" name="矩形 4">
            <a:extLst>
              <a:ext uri="{FF2B5EF4-FFF2-40B4-BE49-F238E27FC236}">
                <a16:creationId xmlns:a16="http://schemas.microsoft.com/office/drawing/2014/main" id="{94BA737F-9A11-507E-7422-0E3959DF6D50}"/>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Google Shape;200;g35ae18f7844_0_0"/>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13</a:t>
            </a:fld>
            <a:endParaRPr/>
          </a:p>
        </p:txBody>
      </p:sp>
      <p:sp>
        <p:nvSpPr>
          <p:cNvPr id="201" name="Google Shape;201;g35ae18f7844_0_0"/>
          <p:cNvSpPr txBox="1"/>
          <p:nvPr/>
        </p:nvSpPr>
        <p:spPr>
          <a:xfrm>
            <a:off x="1332254" y="86715"/>
            <a:ext cx="9527490" cy="1372653"/>
          </a:xfrm>
          <a:prstGeom prst="rect">
            <a:avLst/>
          </a:prstGeom>
          <a:noFill/>
          <a:ln>
            <a:noFill/>
          </a:ln>
        </p:spPr>
        <p:txBody>
          <a:bodyPr spcFirstLastPara="1" wrap="square" lIns="91425" tIns="91425" rIns="91425" bIns="91425" anchor="t" anchorCtr="0">
            <a:spAutoFit/>
          </a:bodyPr>
          <a:lstStyle/>
          <a:p>
            <a:pPr marL="0" marR="0" lvl="0" indent="0" algn="ctr" rtl="0">
              <a:lnSpc>
                <a:spcPct val="120000"/>
              </a:lnSpc>
              <a:spcBef>
                <a:spcPts val="0"/>
              </a:spcBef>
              <a:spcAft>
                <a:spcPts val="1200"/>
              </a:spcAft>
              <a:buClr>
                <a:srgbClr val="000000"/>
              </a:buClr>
              <a:buSzPts val="2500"/>
              <a:buFont typeface="Arial"/>
              <a:buNone/>
            </a:pPr>
            <a:r>
              <a:rPr lang="zh-TW" sz="2800" b="1" i="0" u="none" strike="noStrike" cap="none" dirty="0">
                <a:solidFill>
                  <a:srgbClr val="222222"/>
                </a:solidFill>
                <a:highlight>
                  <a:srgbClr val="FFFFFF"/>
                </a:highlight>
                <a:latin typeface="Calibri"/>
                <a:ea typeface="Calibri"/>
                <a:cs typeface="Calibri"/>
                <a:sym typeface="Calibri"/>
              </a:rPr>
              <a:t>Explainable machine learning can outperform Cox regression predictions and provide insights in breast cancer survival</a:t>
            </a:r>
            <a:endParaRPr sz="2800" b="1" i="0" u="none" strike="noStrike" cap="none" dirty="0">
              <a:solidFill>
                <a:srgbClr val="222222"/>
              </a:solidFill>
              <a:highlight>
                <a:srgbClr val="FFFFFF"/>
              </a:highlight>
              <a:latin typeface="Calibri"/>
              <a:ea typeface="Calibri"/>
              <a:cs typeface="Calibri"/>
              <a:sym typeface="Calibri"/>
            </a:endParaRPr>
          </a:p>
        </p:txBody>
      </p:sp>
      <p:sp>
        <p:nvSpPr>
          <p:cNvPr id="202" name="Google Shape;202;g35ae18f7844_0_0"/>
          <p:cNvSpPr txBox="1"/>
          <p:nvPr/>
        </p:nvSpPr>
        <p:spPr>
          <a:xfrm>
            <a:off x="495600" y="1016225"/>
            <a:ext cx="11200800" cy="315211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000"/>
              <a:buFont typeface="Arial"/>
              <a:buNone/>
            </a:pPr>
            <a:r>
              <a:rPr lang="zh-TW" sz="2000" b="1" i="0" u="none" strike="noStrike" cap="none" dirty="0">
                <a:solidFill>
                  <a:schemeClr val="dk1"/>
                </a:solidFill>
                <a:latin typeface="Calibri"/>
                <a:ea typeface="Calibri"/>
                <a:cs typeface="Calibri"/>
                <a:sym typeface="Calibri"/>
              </a:rPr>
              <a:t>Dataset</a:t>
            </a:r>
            <a:endParaRPr sz="2000" b="1"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120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Data: </a:t>
            </a:r>
            <a:r>
              <a:rPr lang="zh-TW" sz="1800" i="0" u="none" strike="noStrike" cap="none" dirty="0">
                <a:solidFill>
                  <a:schemeClr val="dk1"/>
                </a:solidFill>
                <a:latin typeface="Calibri"/>
                <a:ea typeface="Calibri"/>
                <a:cs typeface="Calibri"/>
                <a:sym typeface="Calibri"/>
              </a:rPr>
              <a:t>Netherlands Cancer Registry </a:t>
            </a:r>
            <a:r>
              <a:rPr lang="zh-TW" sz="1800" b="0" i="0" u="none" strike="noStrike" cap="none" dirty="0">
                <a:solidFill>
                  <a:schemeClr val="dk1"/>
                </a:solidFill>
                <a:latin typeface="Calibri"/>
                <a:ea typeface="Calibri"/>
                <a:cs typeface="Calibri"/>
                <a:sym typeface="Calibri"/>
              </a:rPr>
              <a:t>(36,658 patients with non-metastatic breast cancer).</a:t>
            </a: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Variables: </a:t>
            </a:r>
            <a:r>
              <a:rPr lang="en-US" altLang="zh-TW" sz="1800" b="0" i="0" u="none" strike="noStrike" cap="none" dirty="0">
                <a:solidFill>
                  <a:schemeClr val="dk1"/>
                </a:solidFill>
                <a:latin typeface="Calibri"/>
                <a:ea typeface="Calibri"/>
                <a:cs typeface="Calibri"/>
                <a:sym typeface="Calibri"/>
              </a:rPr>
              <a:t>demographics, tumor size, nodal status, and receptor subtype, and surgery type.</a:t>
            </a:r>
            <a:endParaRPr lang="en-US" sz="1800" b="0" i="0" u="none" strike="noStrike" cap="none" dirty="0">
              <a:solidFill>
                <a:schemeClr val="dk1"/>
              </a:solidFill>
              <a:latin typeface="Calibri"/>
              <a:ea typeface="Calibri"/>
              <a:cs typeface="Calibri"/>
              <a:sym typeface="Calibri"/>
            </a:endParaRPr>
          </a:p>
          <a:p>
            <a:pPr marL="0" marR="0" lvl="0" indent="0" algn="l" rtl="0">
              <a:lnSpc>
                <a:spcPct val="115000"/>
              </a:lnSpc>
              <a:spcBef>
                <a:spcPts val="1400"/>
              </a:spcBef>
              <a:spcAft>
                <a:spcPts val="0"/>
              </a:spcAft>
              <a:buClr>
                <a:srgbClr val="000000"/>
              </a:buClr>
              <a:buSzPts val="2000"/>
              <a:buFont typeface="Arial"/>
              <a:buNone/>
            </a:pPr>
            <a:r>
              <a:rPr lang="en-US" altLang="zh-TW" sz="2000" b="1" i="0" u="none" strike="noStrike" cap="none" dirty="0">
                <a:solidFill>
                  <a:schemeClr val="dk1"/>
                </a:solidFill>
                <a:latin typeface="Calibri"/>
                <a:ea typeface="Calibri"/>
                <a:cs typeface="Calibri"/>
                <a:sym typeface="Calibri"/>
              </a:rPr>
              <a:t>Preprocessing</a:t>
            </a:r>
            <a:endParaRPr lang="en-US" sz="2000" b="1"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1200"/>
              </a:spcBef>
              <a:spcAft>
                <a:spcPts val="0"/>
              </a:spcAft>
              <a:buClr>
                <a:schemeClr val="dk1"/>
              </a:buClr>
              <a:buSzPts val="1800"/>
              <a:buFont typeface="Calibri"/>
              <a:buChar char="●"/>
            </a:pPr>
            <a:r>
              <a:rPr lang="en-US" altLang="zh-TW" sz="1800" i="0" u="none" strike="noStrike" cap="none" dirty="0">
                <a:solidFill>
                  <a:schemeClr val="dk1"/>
                </a:solidFill>
                <a:latin typeface="Calibri"/>
                <a:ea typeface="Calibri"/>
                <a:cs typeface="Calibri"/>
                <a:sym typeface="Calibri"/>
              </a:rPr>
              <a:t>Basic preprocessing was applied, including imputation for missing values, derivation of clinical features (e.g., lymph node ratio, hormone receptor subtypes), and selection of key variables based on clinical relevance and algorithmic ranking.</a:t>
            </a:r>
            <a:endParaRPr lang="en-US" sz="1100" i="0" u="none" strike="noStrike" cap="none" dirty="0">
              <a:solidFill>
                <a:schemeClr val="dk1"/>
              </a:solidFill>
              <a:latin typeface="Arial"/>
              <a:ea typeface="Arial"/>
              <a:cs typeface="Arial"/>
              <a:sym typeface="Arial"/>
            </a:endParaRPr>
          </a:p>
        </p:txBody>
      </p:sp>
      <p:sp>
        <p:nvSpPr>
          <p:cNvPr id="4" name="Google Shape;132;p8">
            <a:extLst>
              <a:ext uri="{FF2B5EF4-FFF2-40B4-BE49-F238E27FC236}">
                <a16:creationId xmlns:a16="http://schemas.microsoft.com/office/drawing/2014/main" id="{BE98C0B5-6133-08D3-B3C4-56B099D7364E}"/>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13</a:t>
            </a:fld>
            <a:endParaRPr lang="en-US"/>
          </a:p>
        </p:txBody>
      </p:sp>
      <p:graphicFrame>
        <p:nvGraphicFramePr>
          <p:cNvPr id="2" name="Google Shape;209;g35ae18f7844_0_21">
            <a:extLst>
              <a:ext uri="{FF2B5EF4-FFF2-40B4-BE49-F238E27FC236}">
                <a16:creationId xmlns:a16="http://schemas.microsoft.com/office/drawing/2014/main" id="{670CCDDF-3C2F-29FD-BD6C-CCB4503D4031}"/>
              </a:ext>
            </a:extLst>
          </p:cNvPr>
          <p:cNvGraphicFramePr/>
          <p:nvPr>
            <p:extLst>
              <p:ext uri="{D42A27DB-BD31-4B8C-83A1-F6EECF244321}">
                <p14:modId xmlns:p14="http://schemas.microsoft.com/office/powerpoint/2010/main" val="3171738519"/>
              </p:ext>
            </p:extLst>
          </p:nvPr>
        </p:nvGraphicFramePr>
        <p:xfrm>
          <a:off x="3242987" y="4084364"/>
          <a:ext cx="5706025" cy="2366961"/>
        </p:xfrm>
        <a:graphic>
          <a:graphicData uri="http://schemas.openxmlformats.org/drawingml/2006/table">
            <a:tbl>
              <a:tblPr>
                <a:noFill/>
                <a:tableStyleId>{1566C69D-7605-41C1-8B6E-26930E785ACE}</a:tableStyleId>
              </a:tblPr>
              <a:tblGrid>
                <a:gridCol w="2858425">
                  <a:extLst>
                    <a:ext uri="{9D8B030D-6E8A-4147-A177-3AD203B41FA5}">
                      <a16:colId xmlns:a16="http://schemas.microsoft.com/office/drawing/2014/main" val="20000"/>
                    </a:ext>
                  </a:extLst>
                </a:gridCol>
                <a:gridCol w="2847600">
                  <a:extLst>
                    <a:ext uri="{9D8B030D-6E8A-4147-A177-3AD203B41FA5}">
                      <a16:colId xmlns:a16="http://schemas.microsoft.com/office/drawing/2014/main" val="20001"/>
                    </a:ext>
                  </a:extLst>
                </a:gridCol>
              </a:tblGrid>
              <a:tr h="381000">
                <a:tc>
                  <a:txBody>
                    <a:bodyPr/>
                    <a:lstStyle/>
                    <a:p>
                      <a:pPr marL="0" marR="0" lvl="0" indent="0" algn="ctr" rtl="0">
                        <a:lnSpc>
                          <a:spcPct val="115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Model</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C-index (Test Set)</a:t>
                      </a:r>
                      <a:endParaRPr sz="1800" b="1" u="none" strike="noStrike" cap="none" dirty="0">
                        <a:latin typeface="Calibri"/>
                        <a:ea typeface="Calibri"/>
                        <a:cs typeface="Calibri"/>
                        <a:sym typeface="Calibri"/>
                      </a:endParaRPr>
                    </a:p>
                  </a:txBody>
                  <a:tcPr marL="91425" marR="91425" marT="91425" marB="91425">
                    <a:lnL w="12700" cap="flat" cmpd="sng" algn="ctr">
                      <a:no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Cox Proportional Hazards</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lvl="0" indent="0" algn="ctr" rtl="0">
                        <a:lnSpc>
                          <a:spcPct val="100000"/>
                        </a:lnSpc>
                        <a:spcBef>
                          <a:spcPts val="0"/>
                        </a:spcBef>
                        <a:spcAft>
                          <a:spcPts val="0"/>
                        </a:spcAft>
                        <a:buClr>
                          <a:srgbClr val="000000"/>
                        </a:buClr>
                        <a:buSzPts val="1800"/>
                        <a:buFont typeface="Arial"/>
                        <a:buNone/>
                      </a:pPr>
                      <a:endParaRPr lang="en-US" altLang="zh-TW" sz="1800" u="none" strike="noStrike" cap="none" dirty="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0.63 -</a:t>
                      </a:r>
                      <a:r>
                        <a:rPr lang="zh-TW" altLang="en-US" sz="1800" u="none" strike="noStrike" cap="none" dirty="0">
                          <a:latin typeface="Calibri"/>
                          <a:ea typeface="Calibri"/>
                          <a:cs typeface="Calibri"/>
                          <a:sym typeface="Calibri"/>
                        </a:rPr>
                        <a:t> </a:t>
                      </a:r>
                      <a:r>
                        <a:rPr lang="zh-TW" sz="1800" u="none" strike="noStrike" cap="none" dirty="0">
                          <a:latin typeface="Calibri"/>
                          <a:ea typeface="Calibri"/>
                          <a:cs typeface="Calibri"/>
                          <a:sym typeface="Calibri"/>
                        </a:rPr>
                        <a:t>0.64</a:t>
                      </a:r>
                      <a:endParaRPr sz="1800" u="none" strike="noStrike" cap="none" dirty="0">
                        <a:latin typeface="Calibri"/>
                        <a:ea typeface="Calibri"/>
                        <a:cs typeface="Calibri"/>
                        <a:sym typeface="Calibri"/>
                      </a:endParaRPr>
                    </a:p>
                  </a:txBody>
                  <a:tcPr marL="91425" marR="91425" marT="91425" marB="91425">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4045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Random Survival Forest</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2"/>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Survival SVM </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515675">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dirty="0">
                          <a:solidFill>
                            <a:srgbClr val="1B1B1B"/>
                          </a:solidFill>
                          <a:latin typeface="Calibri"/>
                          <a:ea typeface="Calibri"/>
                          <a:cs typeface="Calibri"/>
                          <a:sym typeface="Calibri"/>
                        </a:rPr>
                        <a:t>Extreme Gradient Boosting</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0.73 （p &lt; 0.0001）</a:t>
                      </a:r>
                      <a:endParaRPr sz="1800" u="none" strike="noStrike" cap="none" dirty="0">
                        <a:latin typeface="Calibri"/>
                        <a:ea typeface="Calibri"/>
                        <a:cs typeface="Calibri"/>
                        <a:sym typeface="Calibri"/>
                      </a:endParaRPr>
                    </a:p>
                  </a:txBody>
                  <a:tcPr marL="91425" marR="91425" marT="91425" marB="91425">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3" name="文字方塊 2">
            <a:extLst>
              <a:ext uri="{FF2B5EF4-FFF2-40B4-BE49-F238E27FC236}">
                <a16:creationId xmlns:a16="http://schemas.microsoft.com/office/drawing/2014/main" id="{D20B5289-946D-C01C-F418-C8BAEA52690A}"/>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3" name="矩形 2">
            <a:extLst>
              <a:ext uri="{FF2B5EF4-FFF2-40B4-BE49-F238E27FC236}">
                <a16:creationId xmlns:a16="http://schemas.microsoft.com/office/drawing/2014/main" id="{BD9982CA-2C45-E3F8-DFDF-842B911509D3}"/>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Google Shape;208;g35ae18f7844_0_21"/>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14</a:t>
            </a:fld>
            <a:endParaRPr/>
          </a:p>
        </p:txBody>
      </p:sp>
      <p:sp>
        <p:nvSpPr>
          <p:cNvPr id="210" name="Google Shape;210;g35ae18f7844_0_21"/>
          <p:cNvSpPr txBox="1"/>
          <p:nvPr/>
        </p:nvSpPr>
        <p:spPr>
          <a:xfrm>
            <a:off x="712885" y="705258"/>
            <a:ext cx="6168600" cy="3585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zh-TW" sz="2000" b="1" i="0" u="none" strike="noStrike" cap="none" dirty="0">
                <a:solidFill>
                  <a:srgbClr val="000000"/>
                </a:solidFill>
                <a:latin typeface="Calibri"/>
                <a:ea typeface="Calibri"/>
                <a:cs typeface="Calibri"/>
                <a:sym typeface="Calibri"/>
              </a:rPr>
              <a:t>Explainability with SHAP</a:t>
            </a:r>
            <a:endParaRPr sz="2000" b="1" i="0" u="none" strike="noStrike" cap="none" dirty="0">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400"/>
              <a:buFont typeface="Arial"/>
              <a:buNone/>
            </a:pPr>
            <a:endParaRPr sz="1400" b="0" i="0" u="none" strike="noStrike" cap="none" dirty="0">
              <a:solidFill>
                <a:srgbClr val="000000"/>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Feature importance ranking</a:t>
            </a: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Dependence plots</a:t>
            </a:r>
            <a:br>
              <a:rPr lang="zh-TW" sz="1800" b="1" i="0" u="none" strike="noStrike" cap="none" dirty="0">
                <a:solidFill>
                  <a:schemeClr val="dk1"/>
                </a:solidFill>
                <a:latin typeface="Calibri"/>
                <a:ea typeface="Calibri"/>
                <a:cs typeface="Calibri"/>
                <a:sym typeface="Calibri"/>
              </a:rPr>
            </a:br>
            <a:r>
              <a:rPr lang="zh-TW" sz="1800" b="0" i="0" u="none" strike="noStrike" cap="none" dirty="0">
                <a:solidFill>
                  <a:schemeClr val="dk1"/>
                </a:solidFill>
                <a:latin typeface="Calibri"/>
                <a:ea typeface="Calibri"/>
                <a:cs typeface="Calibri"/>
                <a:sym typeface="Calibri"/>
              </a:rPr>
              <a:t> → Revealed </a:t>
            </a:r>
            <a:r>
              <a:rPr lang="zh-TW" sz="1800" b="1" i="0" u="none" strike="noStrike" cap="none" dirty="0">
                <a:solidFill>
                  <a:schemeClr val="dk1"/>
                </a:solidFill>
                <a:latin typeface="Calibri"/>
                <a:ea typeface="Calibri"/>
                <a:cs typeface="Calibri"/>
                <a:sym typeface="Calibri"/>
              </a:rPr>
              <a:t>nonlinear patterns</a:t>
            </a:r>
            <a:r>
              <a:rPr lang="zh-TW" sz="1800" b="0" i="0" u="none" strike="noStrike" cap="none" dirty="0">
                <a:solidFill>
                  <a:schemeClr val="dk1"/>
                </a:solidFill>
                <a:latin typeface="Calibri"/>
                <a:ea typeface="Calibri"/>
                <a:cs typeface="Calibri"/>
                <a:sym typeface="Calibri"/>
              </a:rPr>
              <a:t> and </a:t>
            </a:r>
            <a:r>
              <a:rPr lang="zh-TW" sz="1800" b="1" i="0" u="none" strike="noStrike" cap="none" dirty="0">
                <a:solidFill>
                  <a:schemeClr val="dk1"/>
                </a:solidFill>
                <a:latin typeface="Calibri"/>
                <a:ea typeface="Calibri"/>
                <a:cs typeface="Calibri"/>
                <a:sym typeface="Calibri"/>
              </a:rPr>
              <a:t>turning points</a:t>
            </a:r>
            <a:r>
              <a:rPr lang="zh-TW" sz="1800" b="0" i="0" u="none" strike="noStrike" cap="none" dirty="0">
                <a:solidFill>
                  <a:schemeClr val="dk1"/>
                </a:solidFill>
                <a:latin typeface="Calibri"/>
                <a:ea typeface="Calibri"/>
                <a:cs typeface="Calibri"/>
                <a:sym typeface="Calibri"/>
              </a:rPr>
              <a:t> in risk</a:t>
            </a: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Interaction effects</a:t>
            </a:r>
            <a:br>
              <a:rPr lang="zh-TW" sz="1800" b="1"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100"/>
              <a:buFont typeface="Arial"/>
              <a:buNone/>
            </a:pPr>
            <a:endParaRPr sz="1100" b="0" i="0" u="none" strike="noStrike" cap="none" dirty="0">
              <a:solidFill>
                <a:schemeClr val="dk1"/>
              </a:solidFill>
              <a:latin typeface="Calibri"/>
              <a:ea typeface="Calibri"/>
              <a:cs typeface="Calibri"/>
              <a:sym typeface="Calibri"/>
            </a:endParaRPr>
          </a:p>
          <a:p>
            <a:pPr marL="914400" marR="0" lvl="0" indent="0" algn="l" rtl="0">
              <a:lnSpc>
                <a:spcPct val="115000"/>
              </a:lnSpc>
              <a:spcBef>
                <a:spcPts val="120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1200"/>
              </a:spcBef>
              <a:spcAft>
                <a:spcPts val="0"/>
              </a:spcAft>
              <a:buClr>
                <a:schemeClr val="dk1"/>
              </a:buClr>
              <a:buSzPts val="1100"/>
              <a:buFont typeface="Arial"/>
              <a:buNone/>
            </a:pPr>
            <a:endParaRPr sz="1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11" name="Google Shape;211;g35ae18f7844_0_21"/>
          <p:cNvSpPr txBox="1"/>
          <p:nvPr/>
        </p:nvSpPr>
        <p:spPr>
          <a:xfrm>
            <a:off x="712885" y="3118096"/>
            <a:ext cx="5529000" cy="307619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000"/>
              <a:buFont typeface="Arial"/>
              <a:buNone/>
            </a:pPr>
            <a:r>
              <a:rPr lang="zh-TW" sz="2000" b="1" i="0" u="none" strike="noStrike" cap="none" dirty="0">
                <a:solidFill>
                  <a:schemeClr val="dk1"/>
                </a:solidFill>
                <a:latin typeface="Calibri"/>
                <a:ea typeface="Calibri"/>
                <a:cs typeface="Calibri"/>
                <a:sym typeface="Calibri"/>
              </a:rPr>
              <a:t>Threshold Identification Strategy</a:t>
            </a:r>
            <a:endParaRPr sz="2000" b="1" i="0" u="none" strike="noStrike" cap="none" dirty="0">
              <a:solidFill>
                <a:schemeClr val="dk1"/>
              </a:solidFill>
              <a:highlight>
                <a:schemeClr val="accent4"/>
              </a:highlight>
              <a:latin typeface="Calibri"/>
              <a:ea typeface="Calibri"/>
              <a:cs typeface="Calibri"/>
              <a:sym typeface="Calibri"/>
            </a:endParaRPr>
          </a:p>
          <a:p>
            <a:pPr marL="457200" marR="0" lvl="0" indent="-342900" algn="l" rtl="0">
              <a:lnSpc>
                <a:spcPct val="115000"/>
              </a:lnSpc>
              <a:spcBef>
                <a:spcPts val="120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SHAP-based turning points</a:t>
            </a:r>
            <a:r>
              <a:rPr lang="zh-TW" sz="1800" b="0" i="0" u="none" strike="noStrike" cap="none" dirty="0">
                <a:solidFill>
                  <a:schemeClr val="dk1"/>
                </a:solidFill>
                <a:latin typeface="Calibri"/>
                <a:ea typeface="Calibri"/>
                <a:cs typeface="Calibri"/>
                <a:sym typeface="Calibri"/>
              </a:rPr>
              <a:t> identified risk thresholds, e.g.:</a:t>
            </a:r>
            <a:endParaRPr sz="1800" b="0" i="0" u="none" strike="noStrike" cap="none" dirty="0">
              <a:solidFill>
                <a:schemeClr val="dk1"/>
              </a:solidFill>
              <a:latin typeface="Calibri"/>
              <a:ea typeface="Calibri"/>
              <a:cs typeface="Calibri"/>
              <a:sym typeface="Calibri"/>
            </a:endParaRPr>
          </a:p>
          <a:p>
            <a:pPr marL="914400" marR="0" lvl="1" indent="-342900" algn="l" rtl="0">
              <a:lnSpc>
                <a:spcPct val="115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Age ~65: SHAP value shifts from negative to positive</a:t>
            </a:r>
            <a:endParaRPr sz="1800" b="0" i="0" u="none" strike="noStrike" cap="none" dirty="0">
              <a:solidFill>
                <a:schemeClr val="dk1"/>
              </a:solidFill>
              <a:latin typeface="Calibri"/>
              <a:ea typeface="Calibri"/>
              <a:cs typeface="Calibri"/>
              <a:sym typeface="Calibri"/>
            </a:endParaRPr>
          </a:p>
          <a:p>
            <a:pPr marL="914400" marR="0" lvl="1" indent="-342900" algn="l" rtl="0">
              <a:lnSpc>
                <a:spcPct val="115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Tumor size plateaued risk beyond ~45 mm</a:t>
            </a:r>
            <a:endParaRPr sz="1800" b="0" i="0" u="none" strike="noStrike" cap="none" dirty="0">
              <a:solidFill>
                <a:schemeClr val="dk1"/>
              </a:solidFill>
              <a:latin typeface="Calibri"/>
              <a:ea typeface="Calibri"/>
              <a:cs typeface="Calibri"/>
              <a:sym typeface="Calibri"/>
            </a:endParaRPr>
          </a:p>
          <a:p>
            <a:pPr marL="914400" marR="0" lvl="1" indent="-342900" algn="l" rtl="0">
              <a:lnSpc>
                <a:spcPct val="115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Positive lymph nodes showed risk increase only after ≥1</a:t>
            </a:r>
            <a:endParaRPr sz="1400" b="0" i="0" u="none" strike="noStrike" cap="none" dirty="0">
              <a:solidFill>
                <a:srgbClr val="000000"/>
              </a:solidFill>
              <a:latin typeface="Arial"/>
              <a:ea typeface="Arial"/>
              <a:cs typeface="Arial"/>
              <a:sym typeface="Arial"/>
            </a:endParaRPr>
          </a:p>
        </p:txBody>
      </p:sp>
      <p:pic>
        <p:nvPicPr>
          <p:cNvPr id="212" name="Google Shape;212;g35ae18f7844_0_21" title="螢幕快照 2025-05-23 16-41-59.png"/>
          <p:cNvPicPr preferRelativeResize="0"/>
          <p:nvPr/>
        </p:nvPicPr>
        <p:blipFill rotWithShape="1">
          <a:blip r:embed="rId3">
            <a:alphaModFix/>
          </a:blip>
          <a:srcRect/>
          <a:stretch/>
        </p:blipFill>
        <p:spPr>
          <a:xfrm>
            <a:off x="7320008" y="981768"/>
            <a:ext cx="4082105" cy="3674426"/>
          </a:xfrm>
          <a:prstGeom prst="rect">
            <a:avLst/>
          </a:prstGeom>
          <a:noFill/>
          <a:ln>
            <a:noFill/>
          </a:ln>
        </p:spPr>
      </p:pic>
      <p:sp>
        <p:nvSpPr>
          <p:cNvPr id="2" name="Google Shape;132;p8">
            <a:extLst>
              <a:ext uri="{FF2B5EF4-FFF2-40B4-BE49-F238E27FC236}">
                <a16:creationId xmlns:a16="http://schemas.microsoft.com/office/drawing/2014/main" id="{0D65F528-F160-C2E0-DE8F-C8C7B73BEC6D}"/>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14</a:t>
            </a:fld>
            <a:endParaRPr lang="en-US"/>
          </a:p>
        </p:txBody>
      </p:sp>
      <p:sp>
        <p:nvSpPr>
          <p:cNvPr id="6" name="文字方塊 5">
            <a:extLst>
              <a:ext uri="{FF2B5EF4-FFF2-40B4-BE49-F238E27FC236}">
                <a16:creationId xmlns:a16="http://schemas.microsoft.com/office/drawing/2014/main" id="{91E9D890-CAFC-16D3-DDAE-AAD845A85375}"/>
              </a:ext>
            </a:extLst>
          </p:cNvPr>
          <p:cNvSpPr txBox="1"/>
          <p:nvPr/>
        </p:nvSpPr>
        <p:spPr>
          <a:xfrm>
            <a:off x="7796105" y="4728931"/>
            <a:ext cx="4082105" cy="1162113"/>
          </a:xfrm>
          <a:prstGeom prst="rect">
            <a:avLst/>
          </a:prstGeom>
          <a:noFill/>
        </p:spPr>
        <p:txBody>
          <a:bodyPr wrap="square">
            <a:spAutoFit/>
          </a:bodyPr>
          <a:lstStyle/>
          <a:p>
            <a:pPr>
              <a:lnSpc>
                <a:spcPct val="150000"/>
              </a:lnSpc>
            </a:pPr>
            <a:r>
              <a:rPr lang="en-US" sz="1600" b="0" i="0" dirty="0">
                <a:solidFill>
                  <a:srgbClr val="222222"/>
                </a:solidFill>
                <a:effectLst/>
                <a:latin typeface="Calibri" panose="020F0502020204030204" pitchFamily="34" charset="0"/>
                <a:cs typeface="Calibri" panose="020F0502020204030204" pitchFamily="34" charset="0"/>
              </a:rPr>
              <a:t>SHAP feature dependence plots can help us </a:t>
            </a:r>
            <a:r>
              <a:rPr lang="en-US" sz="1600" b="1" i="0" dirty="0">
                <a:solidFill>
                  <a:srgbClr val="222222"/>
                </a:solidFill>
                <a:effectLst/>
                <a:latin typeface="Calibri" panose="020F0502020204030204" pitchFamily="34" charset="0"/>
                <a:cs typeface="Calibri" panose="020F0502020204030204" pitchFamily="34" charset="0"/>
              </a:rPr>
              <a:t>identify important turning points </a:t>
            </a:r>
            <a:r>
              <a:rPr lang="en-US" sz="1600" b="0" i="0" dirty="0">
                <a:solidFill>
                  <a:srgbClr val="222222"/>
                </a:solidFill>
                <a:effectLst/>
                <a:latin typeface="Calibri" panose="020F0502020204030204" pitchFamily="34" charset="0"/>
                <a:cs typeface="Calibri" panose="020F0502020204030204" pitchFamily="34" charset="0"/>
              </a:rPr>
              <a:t>for the different features.</a:t>
            </a:r>
            <a:endParaRPr lang="en-US" sz="1600" dirty="0">
              <a:latin typeface="Calibri" panose="020F0502020204030204" pitchFamily="34" charset="0"/>
              <a:cs typeface="Calibri" panose="020F0502020204030204" pitchFamily="34" charset="0"/>
            </a:endParaRPr>
          </a:p>
        </p:txBody>
      </p:sp>
      <p:sp>
        <p:nvSpPr>
          <p:cNvPr id="5" name="文字方塊 4">
            <a:extLst>
              <a:ext uri="{FF2B5EF4-FFF2-40B4-BE49-F238E27FC236}">
                <a16:creationId xmlns:a16="http://schemas.microsoft.com/office/drawing/2014/main" id="{F75878A9-EF05-5E8B-AEEE-4E19D3BA8027}"/>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 name="Google Shape;132;p8">
            <a:extLst>
              <a:ext uri="{FF2B5EF4-FFF2-40B4-BE49-F238E27FC236}">
                <a16:creationId xmlns:a16="http://schemas.microsoft.com/office/drawing/2014/main" id="{52791495-6432-CD26-C142-36E8F8AFB990}"/>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15</a:t>
            </a:fld>
            <a:endParaRPr lang="en-US"/>
          </a:p>
        </p:txBody>
      </p:sp>
      <p:sp>
        <p:nvSpPr>
          <p:cNvPr id="3" name="矩形 2">
            <a:extLst>
              <a:ext uri="{FF2B5EF4-FFF2-40B4-BE49-F238E27FC236}">
                <a16:creationId xmlns:a16="http://schemas.microsoft.com/office/drawing/2014/main" id="{4B4AAA79-8A8A-2C97-9C1C-178C01B9ADCC}"/>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Google Shape;218;g35aa69b00f9_0_77"/>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15</a:t>
            </a:fld>
            <a:endParaRPr/>
          </a:p>
        </p:txBody>
      </p:sp>
      <p:sp>
        <p:nvSpPr>
          <p:cNvPr id="219" name="Google Shape;219;g35aa69b00f9_0_77"/>
          <p:cNvSpPr txBox="1"/>
          <p:nvPr/>
        </p:nvSpPr>
        <p:spPr>
          <a:xfrm>
            <a:off x="756762" y="0"/>
            <a:ext cx="10678475" cy="1800463"/>
          </a:xfrm>
          <a:prstGeom prst="rect">
            <a:avLst/>
          </a:prstGeom>
          <a:noFill/>
          <a:ln>
            <a:noFill/>
          </a:ln>
        </p:spPr>
        <p:txBody>
          <a:bodyPr spcFirstLastPara="1" wrap="square" lIns="91425" tIns="91425" rIns="91425" bIns="91425" anchor="t" anchorCtr="0">
            <a:spAutoFit/>
          </a:bodyPr>
          <a:lstStyle/>
          <a:p>
            <a:pPr marL="0" marR="0" lvl="0" indent="0" algn="ctr" rtl="0">
              <a:lnSpc>
                <a:spcPct val="125000"/>
              </a:lnSpc>
              <a:spcBef>
                <a:spcPts val="0"/>
              </a:spcBef>
              <a:spcAft>
                <a:spcPts val="0"/>
              </a:spcAft>
              <a:buClr>
                <a:srgbClr val="000000"/>
              </a:buClr>
              <a:buSzPts val="1800"/>
              <a:buFont typeface="Arial"/>
              <a:buNone/>
            </a:pPr>
            <a:r>
              <a:rPr lang="zh-TW" sz="28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Interpretable Machine Learning for Choosing Radiation Dose-volume Constraints on Cardiopulmonary Substructures Associated with Overall Survival in NRG Oncology RTOG 0617</a:t>
            </a:r>
            <a:endParaRPr sz="28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endParaRPr>
          </a:p>
        </p:txBody>
      </p:sp>
      <p:sp>
        <p:nvSpPr>
          <p:cNvPr id="220" name="Google Shape;220;g35aa69b00f9_0_77"/>
          <p:cNvSpPr txBox="1"/>
          <p:nvPr/>
        </p:nvSpPr>
        <p:spPr>
          <a:xfrm>
            <a:off x="756762" y="1842013"/>
            <a:ext cx="11469916" cy="424215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2000"/>
              <a:buFont typeface="Arial"/>
              <a:buNone/>
            </a:pPr>
            <a:r>
              <a:rPr lang="zh-TW"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t>Dataset</a:t>
            </a:r>
            <a:endParaRPr sz="20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400050" marR="0" lvl="0" indent="-285750" algn="l" rtl="0">
              <a:lnSpc>
                <a:spcPct val="150000"/>
              </a:lnSpc>
              <a:spcBef>
                <a:spcPts val="1200"/>
              </a:spcBef>
              <a:spcAft>
                <a:spcPts val="0"/>
              </a:spcAft>
              <a:buClr>
                <a:schemeClr val="dk1"/>
              </a:buClr>
              <a:buSzPts val="1800"/>
              <a:buFont typeface="Arial" panose="020B0604020202020204" pitchFamily="34" charset="0"/>
              <a:buChar char="•"/>
            </a:pP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428 patients with Stage III NSCLC (RTOG 0617 trial)</a:t>
            </a:r>
            <a:endParaRPr sz="18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400050" marR="0" lvl="0" indent="-285750" algn="l" rtl="0">
              <a:lnSpc>
                <a:spcPct val="150000"/>
              </a:lnSpc>
              <a:spcBef>
                <a:spcPts val="0"/>
              </a:spcBef>
              <a:spcAft>
                <a:spcPts val="0"/>
              </a:spcAft>
              <a:buClr>
                <a:schemeClr val="dk1"/>
              </a:buClr>
              <a:buSzPts val="1800"/>
              <a:buFont typeface="Arial" panose="020B0604020202020204" pitchFamily="34" charset="0"/>
              <a:buChar char="•"/>
            </a:pPr>
            <a:r>
              <a:rPr 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Clinical data included treatment arm, demographics, tumor stage, RT delivery, chemotherapy status, and toxicity events.</a:t>
            </a:r>
            <a:endParaRPr lang="en-US" altLang="zh-TW" sz="18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114300" marR="0" lvl="0" algn="l" rtl="0">
              <a:lnSpc>
                <a:spcPct val="150000"/>
              </a:lnSpc>
              <a:spcBef>
                <a:spcPts val="0"/>
              </a:spcBef>
              <a:spcAft>
                <a:spcPts val="0"/>
              </a:spcAft>
              <a:buClr>
                <a:schemeClr val="dk1"/>
              </a:buClr>
              <a:buSzPts val="1800"/>
            </a:pPr>
            <a:endParaRPr lang="en-US" sz="1800" dirty="0">
              <a:solidFill>
                <a:schemeClr val="dk1"/>
              </a:solidFill>
              <a:latin typeface="Calibri" panose="020F0502020204030204" pitchFamily="34" charset="0"/>
              <a:ea typeface="Calibri"/>
              <a:cs typeface="Calibri" panose="020F0502020204030204" pitchFamily="34" charset="0"/>
              <a:sym typeface="Calibri"/>
            </a:endParaRPr>
          </a:p>
          <a:p>
            <a:pPr marL="114300" marR="0" lvl="0" algn="l" rtl="0">
              <a:lnSpc>
                <a:spcPct val="150000"/>
              </a:lnSpc>
              <a:spcBef>
                <a:spcPts val="0"/>
              </a:spcBef>
              <a:spcAft>
                <a:spcPts val="0"/>
              </a:spcAft>
              <a:buClr>
                <a:schemeClr val="dk1"/>
              </a:buClr>
              <a:buSzPts val="1800"/>
            </a:pPr>
            <a:r>
              <a:rPr lang="en-US" sz="2000" b="1" i="0" u="none" strike="noStrike" cap="none" dirty="0">
                <a:solidFill>
                  <a:schemeClr val="dk1"/>
                </a:solidFill>
                <a:latin typeface="Calibri" panose="020F0502020204030204" pitchFamily="34" charset="0"/>
                <a:ea typeface="Calibri"/>
                <a:cs typeface="Calibri" panose="020F0502020204030204" pitchFamily="34" charset="0"/>
                <a:sym typeface="Calibri"/>
              </a:rPr>
              <a:t>Preprocessing</a:t>
            </a:r>
          </a:p>
          <a:p>
            <a:pPr marL="400050" marR="0" lvl="0" indent="-285750" algn="l" rtl="0">
              <a:lnSpc>
                <a:spcPct val="150000"/>
              </a:lnSpc>
              <a:spcBef>
                <a:spcPts val="0"/>
              </a:spcBef>
              <a:spcAft>
                <a:spcPts val="0"/>
              </a:spcAft>
              <a:buClr>
                <a:schemeClr val="dk1"/>
              </a:buClr>
              <a:buSzPts val="1800"/>
              <a:buFont typeface="Arial" panose="020B0604020202020204" pitchFamily="34" charset="0"/>
              <a:buChar char="•"/>
            </a:pPr>
            <a:r>
              <a:rPr lang="en-US"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Censored data imputed with </a:t>
            </a:r>
            <a:r>
              <a:rPr lang="en-US" sz="1800" b="0" i="0" u="none" strike="noStrike" cap="none" dirty="0" err="1">
                <a:solidFill>
                  <a:schemeClr val="dk1"/>
                </a:solidFill>
                <a:latin typeface="Calibri" panose="020F0502020204030204" pitchFamily="34" charset="0"/>
                <a:ea typeface="Calibri"/>
                <a:cs typeface="Calibri" panose="020F0502020204030204" pitchFamily="34" charset="0"/>
                <a:sym typeface="Calibri"/>
              </a:rPr>
              <a:t>CondiS</a:t>
            </a:r>
            <a:r>
              <a:rPr lang="en-US"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 then 972 features reduced to </a:t>
            </a:r>
            <a:r>
              <a:rPr lang="en-US" sz="1800" b="1" i="0" u="none" strike="noStrike" cap="none" dirty="0">
                <a:solidFill>
                  <a:schemeClr val="dk1"/>
                </a:solidFill>
                <a:latin typeface="Calibri" panose="020F0502020204030204" pitchFamily="34" charset="0"/>
                <a:ea typeface="Calibri"/>
                <a:cs typeface="Calibri" panose="020F0502020204030204" pitchFamily="34" charset="0"/>
                <a:sym typeface="Calibri"/>
              </a:rPr>
              <a:t>5 key predictors </a:t>
            </a:r>
            <a:r>
              <a:rPr lang="en-US" sz="1800" b="0" i="0" u="none" strike="noStrike" cap="none" dirty="0">
                <a:solidFill>
                  <a:schemeClr val="dk1"/>
                </a:solidFill>
                <a:latin typeface="Calibri" panose="020F0502020204030204" pitchFamily="34" charset="0"/>
                <a:ea typeface="Calibri"/>
                <a:cs typeface="Calibri" panose="020F0502020204030204" pitchFamily="34" charset="0"/>
                <a:sym typeface="Calibri"/>
              </a:rPr>
              <a:t>via multistep selection (Sparse PLS → PCA → Boruta).</a:t>
            </a:r>
          </a:p>
          <a:p>
            <a:pPr marL="400050" marR="0" lvl="0" indent="-285750" algn="l" rtl="0">
              <a:lnSpc>
                <a:spcPct val="150000"/>
              </a:lnSpc>
              <a:spcBef>
                <a:spcPts val="0"/>
              </a:spcBef>
              <a:spcAft>
                <a:spcPts val="0"/>
              </a:spcAft>
              <a:buClr>
                <a:schemeClr val="dk1"/>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4 dose-volume metrics and chemotherapy status.</a:t>
            </a:r>
            <a:endParaRPr lang="en-US" sz="18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5" name="文字方塊 4">
            <a:extLst>
              <a:ext uri="{FF2B5EF4-FFF2-40B4-BE49-F238E27FC236}">
                <a16:creationId xmlns:a16="http://schemas.microsoft.com/office/drawing/2014/main" id="{2D1773FD-093D-2498-3B4D-E2448CC66126}"/>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4782FB66-5BC6-0E6A-A396-932EC3296379}"/>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D71CDBB6-AAF7-2729-A1FF-2D6428B8DEC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16</a:t>
            </a:fld>
            <a:endParaRPr lang="en-US"/>
          </a:p>
        </p:txBody>
      </p:sp>
      <p:sp>
        <p:nvSpPr>
          <p:cNvPr id="3" name="矩形 2">
            <a:extLst>
              <a:ext uri="{FF2B5EF4-FFF2-40B4-BE49-F238E27FC236}">
                <a16:creationId xmlns:a16="http://schemas.microsoft.com/office/drawing/2014/main" id="{039DA981-DFD4-A02C-BD8F-9F68485B3041}"/>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Google Shape;218;g35aa69b00f9_0_77">
            <a:extLst>
              <a:ext uri="{FF2B5EF4-FFF2-40B4-BE49-F238E27FC236}">
                <a16:creationId xmlns:a16="http://schemas.microsoft.com/office/drawing/2014/main" id="{FC50FCD9-8FF7-6A34-1D23-BF0720397B9C}"/>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16</a:t>
            </a:fld>
            <a:endParaRPr/>
          </a:p>
        </p:txBody>
      </p:sp>
      <p:graphicFrame>
        <p:nvGraphicFramePr>
          <p:cNvPr id="221" name="Google Shape;221;g35aa69b00f9_0_77">
            <a:extLst>
              <a:ext uri="{FF2B5EF4-FFF2-40B4-BE49-F238E27FC236}">
                <a16:creationId xmlns:a16="http://schemas.microsoft.com/office/drawing/2014/main" id="{21EC54E5-58D3-B93A-77E3-1ABFC154F2E6}"/>
              </a:ext>
            </a:extLst>
          </p:cNvPr>
          <p:cNvGraphicFramePr/>
          <p:nvPr>
            <p:extLst>
              <p:ext uri="{D42A27DB-BD31-4B8C-83A1-F6EECF244321}">
                <p14:modId xmlns:p14="http://schemas.microsoft.com/office/powerpoint/2010/main" val="2832540312"/>
              </p:ext>
            </p:extLst>
          </p:nvPr>
        </p:nvGraphicFramePr>
        <p:xfrm>
          <a:off x="688975" y="1831488"/>
          <a:ext cx="4592450" cy="3862906"/>
        </p:xfrm>
        <a:graphic>
          <a:graphicData uri="http://schemas.openxmlformats.org/drawingml/2006/table">
            <a:tbl>
              <a:tblPr>
                <a:noFill/>
                <a:tableStyleId>{1566C69D-7605-41C1-8B6E-26930E785ACE}</a:tableStyleId>
              </a:tblPr>
              <a:tblGrid>
                <a:gridCol w="2296225">
                  <a:extLst>
                    <a:ext uri="{9D8B030D-6E8A-4147-A177-3AD203B41FA5}">
                      <a16:colId xmlns:a16="http://schemas.microsoft.com/office/drawing/2014/main" val="20000"/>
                    </a:ext>
                  </a:extLst>
                </a:gridCol>
                <a:gridCol w="2296225">
                  <a:extLst>
                    <a:ext uri="{9D8B030D-6E8A-4147-A177-3AD203B41FA5}">
                      <a16:colId xmlns:a16="http://schemas.microsoft.com/office/drawing/2014/main" val="20001"/>
                    </a:ext>
                  </a:extLst>
                </a:gridCol>
              </a:tblGrid>
              <a:tr h="381000">
                <a:tc>
                  <a:txBody>
                    <a:bodyPr/>
                    <a:lstStyle/>
                    <a:p>
                      <a:pPr marL="0" marR="0" lvl="0" indent="0" algn="ctr" rtl="0">
                        <a:lnSpc>
                          <a:spcPct val="115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Model</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C-index (Test Set)</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Cox Proportional Hazards</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0.632</a:t>
                      </a:r>
                      <a:endParaRPr sz="1800"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Random Survival Forest</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0.642</a:t>
                      </a:r>
                      <a:endParaRPr sz="1800"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XGBoost Survival Embedding</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0.646</a:t>
                      </a:r>
                      <a:endParaRPr sz="1800"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1000">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a:solidFill>
                            <a:srgbClr val="1B1B1B"/>
                          </a:solidFill>
                          <a:latin typeface="Calibri"/>
                          <a:ea typeface="Calibri"/>
                          <a:cs typeface="Calibri"/>
                          <a:sym typeface="Calibri"/>
                        </a:rPr>
                        <a:t>DeepSurv</a:t>
                      </a:r>
                      <a:endParaRPr sz="1800" b="1"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0.638 </a:t>
                      </a:r>
                      <a:endParaRPr sz="1800" u="none" strike="noStrike" cap="none">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68919">
                <a:tc>
                  <a:txBody>
                    <a:bodyPr/>
                    <a:lstStyle/>
                    <a:p>
                      <a:pPr marL="0" marR="0" lvl="0" indent="0" algn="ctr" rtl="0">
                        <a:lnSpc>
                          <a:spcPct val="10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Explainable Boosting Machine</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zh-TW" sz="1800" u="none" strike="noStrike" cap="none" dirty="0">
                          <a:solidFill>
                            <a:srgbClr val="1B1B1B"/>
                          </a:solidFill>
                          <a:latin typeface="Calibri"/>
                          <a:ea typeface="Calibri"/>
                          <a:cs typeface="Calibri"/>
                          <a:sym typeface="Calibri"/>
                        </a:rPr>
                        <a:t>0.653</a:t>
                      </a:r>
                      <a:endParaRPr sz="1800" b="1" u="none" strike="noStrike" cap="none" dirty="0">
                        <a:latin typeface="Calibri"/>
                        <a:ea typeface="Calibri"/>
                        <a:cs typeface="Calibri"/>
                        <a:sym typeface="Calibri"/>
                      </a:endParaRPr>
                    </a:p>
                  </a:txBody>
                  <a:tcPr marL="91425" marR="91425" marT="91425" marB="91425">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6" name="文字方塊 5">
            <a:extLst>
              <a:ext uri="{FF2B5EF4-FFF2-40B4-BE49-F238E27FC236}">
                <a16:creationId xmlns:a16="http://schemas.microsoft.com/office/drawing/2014/main" id="{BEEE58AF-D0FC-0537-51EF-D4986C93A405}"/>
              </a:ext>
            </a:extLst>
          </p:cNvPr>
          <p:cNvSpPr txBox="1"/>
          <p:nvPr/>
        </p:nvSpPr>
        <p:spPr>
          <a:xfrm>
            <a:off x="6096000" y="982207"/>
            <a:ext cx="6372224" cy="4712187"/>
          </a:xfrm>
          <a:prstGeom prst="rect">
            <a:avLst/>
          </a:prstGeom>
          <a:noFill/>
        </p:spPr>
        <p:txBody>
          <a:bodyPr wrap="square">
            <a:spAutoFit/>
          </a:bodyPr>
          <a:lstStyle/>
          <a:p>
            <a:pPr marL="0" marR="0" lvl="0" indent="0" algn="l" rtl="0">
              <a:lnSpc>
                <a:spcPct val="150000"/>
              </a:lnSpc>
              <a:spcBef>
                <a:spcPts val="0"/>
              </a:spcBef>
              <a:spcAft>
                <a:spcPts val="0"/>
              </a:spcAft>
              <a:buClr>
                <a:srgbClr val="000000"/>
              </a:buClr>
              <a:buSzPts val="1800"/>
              <a:buFont typeface="Arial"/>
              <a:buNone/>
            </a:pPr>
            <a:r>
              <a:rPr lang="en-US" altLang="zh-TW" sz="2000" b="1" i="0" u="none" strike="noStrike" cap="none" dirty="0">
                <a:solidFill>
                  <a:srgbClr val="000000"/>
                </a:solidFill>
                <a:latin typeface="Calibri" panose="020F0502020204030204" pitchFamily="34" charset="0"/>
                <a:ea typeface="Calibri"/>
                <a:cs typeface="Calibri" panose="020F0502020204030204" pitchFamily="34" charset="0"/>
                <a:sym typeface="Calibri"/>
              </a:rPr>
              <a:t>Model Interpretation</a:t>
            </a:r>
          </a:p>
          <a:p>
            <a:pPr marL="0" marR="0" lvl="0" indent="0" algn="l" rtl="0">
              <a:lnSpc>
                <a:spcPct val="150000"/>
              </a:lnSpc>
              <a:spcBef>
                <a:spcPts val="0"/>
              </a:spcBef>
              <a:spcAft>
                <a:spcPts val="0"/>
              </a:spcAft>
              <a:buClr>
                <a:srgbClr val="000000"/>
              </a:buClr>
              <a:buSzPts val="1800"/>
              <a:buFont typeface="Arial"/>
              <a:buNone/>
            </a:pPr>
            <a:endParaRPr lang="en-US" sz="2000" b="1"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a:lnSpc>
                <a:spcPct val="150000"/>
              </a:lnSpc>
              <a:buNone/>
            </a:pPr>
            <a:r>
              <a:rPr lang="en-US" sz="1800" b="1" dirty="0">
                <a:latin typeface="Calibri" panose="020F0502020204030204" pitchFamily="34" charset="0"/>
                <a:cs typeface="Calibri" panose="020F0502020204030204" pitchFamily="34" charset="0"/>
              </a:rPr>
              <a:t>EBM (Explainable Boosting Machine)</a:t>
            </a: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Naturally interpretable via </a:t>
            </a:r>
            <a:r>
              <a:rPr lang="en-US" sz="1800" b="1" dirty="0">
                <a:latin typeface="Calibri" panose="020F0502020204030204" pitchFamily="34" charset="0"/>
                <a:cs typeface="Calibri" panose="020F0502020204030204" pitchFamily="34" charset="0"/>
              </a:rPr>
              <a:t>shape functions</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Feature importance: </a:t>
            </a:r>
            <a:r>
              <a:rPr lang="en-US" sz="1800" b="1" dirty="0">
                <a:latin typeface="Calibri" panose="020F0502020204030204" pitchFamily="34" charset="0"/>
                <a:cs typeface="Calibri" panose="020F0502020204030204" pitchFamily="34" charset="0"/>
              </a:rPr>
              <a:t>mean absolute shape scores</a:t>
            </a: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SHAP values used additionally for </a:t>
            </a:r>
            <a:r>
              <a:rPr lang="en-US" sz="1800" b="1" dirty="0">
                <a:latin typeface="Calibri" panose="020F0502020204030204" pitchFamily="34" charset="0"/>
                <a:cs typeface="Calibri" panose="020F0502020204030204" pitchFamily="34" charset="0"/>
              </a:rPr>
              <a:t>cutoff (DVC) identification</a:t>
            </a:r>
            <a:endParaRPr lang="en-US" sz="1800" dirty="0">
              <a:latin typeface="Calibri" panose="020F0502020204030204" pitchFamily="34" charset="0"/>
              <a:cs typeface="Calibri" panose="020F0502020204030204" pitchFamily="34" charset="0"/>
            </a:endParaRPr>
          </a:p>
          <a:p>
            <a:pPr>
              <a:lnSpc>
                <a:spcPct val="150000"/>
              </a:lnSpc>
            </a:pPr>
            <a:endParaRPr lang="en-US" sz="1800" dirty="0">
              <a:latin typeface="Calibri" panose="020F0502020204030204" pitchFamily="34" charset="0"/>
              <a:cs typeface="Calibri" panose="020F0502020204030204" pitchFamily="34" charset="0"/>
            </a:endParaRPr>
          </a:p>
          <a:p>
            <a:pPr>
              <a:lnSpc>
                <a:spcPct val="150000"/>
              </a:lnSpc>
              <a:buNone/>
            </a:pPr>
            <a:r>
              <a:rPr lang="en-US" sz="1800" b="1" dirty="0">
                <a:latin typeface="Calibri" panose="020F0502020204030204" pitchFamily="34" charset="0"/>
                <a:cs typeface="Calibri" panose="020F0502020204030204" pitchFamily="34" charset="0"/>
              </a:rPr>
              <a:t>Other Models (CPH, RSF, XGBSE, </a:t>
            </a:r>
            <a:r>
              <a:rPr lang="en-US" sz="1800" b="1" dirty="0" err="1">
                <a:latin typeface="Calibri" panose="020F0502020204030204" pitchFamily="34" charset="0"/>
                <a:cs typeface="Calibri" panose="020F0502020204030204" pitchFamily="34" charset="0"/>
              </a:rPr>
              <a:t>DeepSurv</a:t>
            </a:r>
            <a:r>
              <a:rPr lang="en-US" sz="1800" b="1" dirty="0">
                <a:latin typeface="Calibri" panose="020F0502020204030204" pitchFamily="34" charset="0"/>
                <a:cs typeface="Calibri" panose="020F0502020204030204" pitchFamily="34" charset="0"/>
              </a:rPr>
              <a:t>)</a:t>
            </a: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Interpreted using </a:t>
            </a:r>
            <a:r>
              <a:rPr lang="en-US" sz="1800" b="1" dirty="0">
                <a:latin typeface="Calibri" panose="020F0502020204030204" pitchFamily="34" charset="0"/>
                <a:cs typeface="Calibri" panose="020F0502020204030204" pitchFamily="34" charset="0"/>
              </a:rPr>
              <a:t>SHAP-based Partial Dependence Plots (PDPs)</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Feature importance: </a:t>
            </a:r>
            <a:r>
              <a:rPr lang="en-US" sz="1800" b="1" dirty="0">
                <a:latin typeface="Calibri" panose="020F0502020204030204" pitchFamily="34" charset="0"/>
                <a:cs typeface="Calibri" panose="020F0502020204030204" pitchFamily="34" charset="0"/>
              </a:rPr>
              <a:t>mean absolute SHAP values</a:t>
            </a:r>
            <a:endParaRPr lang="en-US" sz="1800" dirty="0">
              <a:latin typeface="Calibri" panose="020F0502020204030204" pitchFamily="34" charset="0"/>
              <a:cs typeface="Calibri" panose="020F0502020204030204" pitchFamily="34" charset="0"/>
            </a:endParaRPr>
          </a:p>
        </p:txBody>
      </p:sp>
      <p:sp>
        <p:nvSpPr>
          <p:cNvPr id="8" name="文字方塊 7">
            <a:extLst>
              <a:ext uri="{FF2B5EF4-FFF2-40B4-BE49-F238E27FC236}">
                <a16:creationId xmlns:a16="http://schemas.microsoft.com/office/drawing/2014/main" id="{DF0D1B90-3338-3549-C4F9-92E1F03355E6}"/>
              </a:ext>
            </a:extLst>
          </p:cNvPr>
          <p:cNvSpPr txBox="1"/>
          <p:nvPr/>
        </p:nvSpPr>
        <p:spPr>
          <a:xfrm>
            <a:off x="688975" y="982207"/>
            <a:ext cx="6432550" cy="506292"/>
          </a:xfrm>
          <a:prstGeom prst="rect">
            <a:avLst/>
          </a:prstGeom>
          <a:noFill/>
        </p:spPr>
        <p:txBody>
          <a:bodyPr wrap="square">
            <a:spAutoFit/>
          </a:bodyPr>
          <a:lstStyle/>
          <a:p>
            <a:pPr marL="0" marR="0" lvl="0" indent="0" algn="l" rtl="0">
              <a:lnSpc>
                <a:spcPct val="150000"/>
              </a:lnSpc>
              <a:spcBef>
                <a:spcPts val="0"/>
              </a:spcBef>
              <a:spcAft>
                <a:spcPts val="0"/>
              </a:spcAft>
              <a:buClr>
                <a:srgbClr val="000000"/>
              </a:buClr>
              <a:buSzPts val="1800"/>
              <a:buFont typeface="Arial"/>
              <a:buNone/>
            </a:pPr>
            <a:r>
              <a:rPr lang="en-US" altLang="zh-TW" sz="2000" b="1" i="0" u="none" strike="noStrike" cap="none" dirty="0">
                <a:solidFill>
                  <a:srgbClr val="000000"/>
                </a:solidFill>
                <a:latin typeface="Calibri" panose="020F0502020204030204" pitchFamily="34" charset="0"/>
                <a:ea typeface="Calibri"/>
                <a:cs typeface="Calibri" panose="020F0502020204030204" pitchFamily="34" charset="0"/>
                <a:sym typeface="Calibri"/>
              </a:rPr>
              <a:t>Model </a:t>
            </a:r>
            <a:r>
              <a:rPr lang="en-US" altLang="zh-TW" sz="2000" b="1" dirty="0">
                <a:latin typeface="Calibri" panose="020F0502020204030204" pitchFamily="34" charset="0"/>
                <a:ea typeface="Calibri"/>
                <a:cs typeface="Calibri" panose="020F0502020204030204" pitchFamily="34" charset="0"/>
                <a:sym typeface="Calibri"/>
              </a:rPr>
              <a:t>Performance</a:t>
            </a:r>
            <a:endParaRPr lang="en-US" sz="2000" b="1"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p:txBody>
      </p:sp>
      <p:sp>
        <p:nvSpPr>
          <p:cNvPr id="5" name="文字方塊 4">
            <a:extLst>
              <a:ext uri="{FF2B5EF4-FFF2-40B4-BE49-F238E27FC236}">
                <a16:creationId xmlns:a16="http://schemas.microsoft.com/office/drawing/2014/main" id="{21D5E433-5DB1-DEC4-41C8-38BFC50D3818}"/>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6821552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 name="Google Shape;132;p8">
            <a:extLst>
              <a:ext uri="{FF2B5EF4-FFF2-40B4-BE49-F238E27FC236}">
                <a16:creationId xmlns:a16="http://schemas.microsoft.com/office/drawing/2014/main" id="{98B5C62C-F39A-C272-246B-FE2C20430969}"/>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17</a:t>
            </a:fld>
            <a:endParaRPr lang="en-US"/>
          </a:p>
        </p:txBody>
      </p:sp>
      <p:sp>
        <p:nvSpPr>
          <p:cNvPr id="3" name="矩形 2">
            <a:extLst>
              <a:ext uri="{FF2B5EF4-FFF2-40B4-BE49-F238E27FC236}">
                <a16:creationId xmlns:a16="http://schemas.microsoft.com/office/drawing/2014/main" id="{A38FAA84-4A3C-FDE1-104D-9BFEBA6C882C}"/>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Google Shape;227;g35aa69b00f9_0_123"/>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17</a:t>
            </a:fld>
            <a:endParaRPr/>
          </a:p>
        </p:txBody>
      </p:sp>
      <p:sp>
        <p:nvSpPr>
          <p:cNvPr id="228" name="Google Shape;228;g35aa69b00f9_0_123"/>
          <p:cNvSpPr txBox="1"/>
          <p:nvPr/>
        </p:nvSpPr>
        <p:spPr>
          <a:xfrm>
            <a:off x="369099" y="251670"/>
            <a:ext cx="7589239" cy="5982633"/>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2000" b="1" i="0" u="none" strike="noStrike" cap="none" dirty="0">
                <a:solidFill>
                  <a:srgbClr val="000000"/>
                </a:solidFill>
                <a:latin typeface="Calibri"/>
                <a:ea typeface="Calibri"/>
                <a:cs typeface="Calibri"/>
                <a:sym typeface="Calibri"/>
              </a:rPr>
              <a:t>Cut-off (DVC) Derivation</a:t>
            </a:r>
            <a:endParaRPr sz="2000" b="1" i="0" u="none" strike="noStrike" cap="none" dirty="0">
              <a:solidFill>
                <a:srgbClr val="000000"/>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Binary change point detection</a:t>
            </a:r>
            <a:r>
              <a:rPr lang="zh-TW" sz="1800" b="0" i="0" u="none" strike="noStrike" cap="none" dirty="0">
                <a:solidFill>
                  <a:schemeClr val="dk1"/>
                </a:solidFill>
                <a:latin typeface="Calibri"/>
                <a:ea typeface="Calibri"/>
                <a:cs typeface="Calibri"/>
                <a:sym typeface="Calibri"/>
              </a:rPr>
              <a:t> was applied to each PDP to identify up to 3 turning points.</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The final </a:t>
            </a:r>
            <a:r>
              <a:rPr lang="zh-TW" sz="1800" b="1" i="0" u="none" strike="noStrike" cap="none" dirty="0">
                <a:solidFill>
                  <a:schemeClr val="dk1"/>
                </a:solidFill>
                <a:latin typeface="Calibri"/>
                <a:ea typeface="Calibri"/>
                <a:cs typeface="Calibri"/>
                <a:sym typeface="Calibri"/>
              </a:rPr>
              <a:t>decision value cut-off (DVC)</a:t>
            </a:r>
            <a:r>
              <a:rPr lang="zh-TW" sz="1800" b="0" i="0" u="none" strike="noStrike" cap="none" dirty="0">
                <a:solidFill>
                  <a:schemeClr val="dk1"/>
                </a:solidFill>
                <a:latin typeface="Calibri"/>
                <a:ea typeface="Calibri"/>
                <a:cs typeface="Calibri"/>
                <a:sym typeface="Calibri"/>
              </a:rPr>
              <a:t> was selected as the point </a:t>
            </a:r>
            <a:r>
              <a:rPr lang="zh-TW" sz="1800" b="1" i="0" u="none" strike="noStrike" cap="none" dirty="0">
                <a:solidFill>
                  <a:schemeClr val="dk1"/>
                </a:solidFill>
                <a:latin typeface="Calibri"/>
                <a:ea typeface="Calibri"/>
                <a:cs typeface="Calibri"/>
                <a:sym typeface="Calibri"/>
              </a:rPr>
              <a:t>closest to the model’s expected SHAP value</a:t>
            </a:r>
            <a:r>
              <a:rPr lang="zh-TW" sz="1800" b="0" i="0" u="none" strike="noStrike" cap="none" dirty="0">
                <a:solidFill>
                  <a:schemeClr val="dk1"/>
                </a:solidFill>
                <a:latin typeface="Calibri"/>
                <a:ea typeface="Calibri"/>
                <a:cs typeface="Calibri"/>
                <a:sym typeface="Calibri"/>
              </a:rPr>
              <a:t>, representing the global risk transition.</a:t>
            </a:r>
            <a:endParaRPr sz="1800" b="0" i="0" u="none" strike="noStrike" cap="none" dirty="0">
              <a:solidFill>
                <a:schemeClr val="dk1"/>
              </a:solidFill>
              <a:latin typeface="Calibri"/>
              <a:ea typeface="Calibri"/>
              <a:cs typeface="Calibri"/>
              <a:sym typeface="Calibri"/>
            </a:endParaRPr>
          </a:p>
          <a:p>
            <a:pPr marL="0" marR="0" lvl="0" indent="0" algn="l" rtl="0">
              <a:lnSpc>
                <a:spcPct val="115000"/>
              </a:lnSpc>
              <a:spcBef>
                <a:spcPts val="1400"/>
              </a:spcBef>
              <a:spcAft>
                <a:spcPts val="0"/>
              </a:spcAft>
              <a:buClr>
                <a:srgbClr val="000000"/>
              </a:buClr>
              <a:buSzPts val="1800"/>
              <a:buFont typeface="Arial"/>
              <a:buNone/>
            </a:pPr>
            <a:r>
              <a:rPr lang="zh-TW" sz="2000" b="1" i="0" u="none" strike="noStrike" cap="none" dirty="0">
                <a:solidFill>
                  <a:srgbClr val="000000"/>
                </a:solidFill>
                <a:latin typeface="Calibri"/>
                <a:ea typeface="Calibri"/>
                <a:cs typeface="Calibri"/>
                <a:sym typeface="Calibri"/>
              </a:rPr>
              <a:t>Cut-off </a:t>
            </a:r>
            <a:r>
              <a:rPr lang="zh-TW" sz="2000" b="1" i="0" u="none" strike="noStrike" cap="none" dirty="0">
                <a:solidFill>
                  <a:schemeClr val="dk1"/>
                </a:solidFill>
                <a:latin typeface="Calibri"/>
                <a:ea typeface="Calibri"/>
                <a:cs typeface="Calibri"/>
                <a:sym typeface="Calibri"/>
              </a:rPr>
              <a:t> Evaluation</a:t>
            </a:r>
            <a:endParaRPr sz="2000" b="1"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120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Patients were grouped based on each DVC (high vs. low exposure).</a:t>
            </a: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Kaplan–Meier analysis</a:t>
            </a:r>
            <a:r>
              <a:rPr lang="zh-TW" sz="1800" b="0" i="0" u="none" strike="noStrike" cap="none" dirty="0">
                <a:solidFill>
                  <a:schemeClr val="dk1"/>
                </a:solidFill>
                <a:latin typeface="Calibri"/>
                <a:ea typeface="Calibri"/>
                <a:cs typeface="Calibri"/>
                <a:sym typeface="Calibri"/>
              </a:rPr>
              <a:t> and </a:t>
            </a:r>
            <a:r>
              <a:rPr lang="zh-TW" sz="1800" b="1" i="0" u="none" strike="noStrike" cap="none" dirty="0">
                <a:solidFill>
                  <a:schemeClr val="dk1"/>
                </a:solidFill>
                <a:latin typeface="Calibri"/>
                <a:ea typeface="Calibri"/>
                <a:cs typeface="Calibri"/>
                <a:sym typeface="Calibri"/>
              </a:rPr>
              <a:t>log-rank tests</a:t>
            </a:r>
            <a:r>
              <a:rPr lang="zh-TW" sz="1800" b="0" i="0" u="none" strike="noStrike" cap="none" dirty="0">
                <a:solidFill>
                  <a:schemeClr val="dk1"/>
                </a:solidFill>
                <a:latin typeface="Calibri"/>
                <a:ea typeface="Calibri"/>
                <a:cs typeface="Calibri"/>
                <a:sym typeface="Calibri"/>
              </a:rPr>
              <a:t> assessed the prognostic separation.</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1200"/>
              </a:spcBef>
              <a:spcAft>
                <a:spcPts val="0"/>
              </a:spcAft>
              <a:buClr>
                <a:srgbClr val="000000"/>
              </a:buClr>
              <a:buSzPts val="1800"/>
              <a:buFont typeface="Arial"/>
              <a:buNone/>
            </a:pPr>
            <a:r>
              <a:rPr lang="zh-TW" sz="1800" b="0" i="0" u="none" strike="noStrike" cap="none" dirty="0">
                <a:solidFill>
                  <a:schemeClr val="dk1"/>
                </a:solidFill>
                <a:latin typeface="Calibri"/>
                <a:ea typeface="Calibri"/>
                <a:cs typeface="Calibri"/>
                <a:sym typeface="Calibri"/>
              </a:rPr>
              <a:t>→</a:t>
            </a:r>
            <a:r>
              <a:rPr lang="en-US" altLang="zh-TW" sz="1800" b="0" i="0" u="none" strike="noStrike" cap="none" dirty="0">
                <a:solidFill>
                  <a:schemeClr val="dk1"/>
                </a:solidFill>
                <a:latin typeface="Calibri"/>
                <a:ea typeface="Calibri"/>
                <a:cs typeface="Calibri"/>
                <a:sym typeface="Calibri"/>
              </a:rPr>
              <a:t> </a:t>
            </a:r>
            <a:r>
              <a:rPr lang="zh-TW" sz="1800" b="0" i="0" u="none" strike="noStrike" cap="none" dirty="0">
                <a:solidFill>
                  <a:schemeClr val="dk1"/>
                </a:solidFill>
                <a:latin typeface="Calibri"/>
                <a:ea typeface="Calibri"/>
                <a:cs typeface="Calibri"/>
                <a:sym typeface="Calibri"/>
              </a:rPr>
              <a:t>Although risk thresholds identified from individual features by most models resulted in significant survival differences in the training and validation sets, </a:t>
            </a:r>
            <a:r>
              <a:rPr lang="zh-TW" sz="1800" b="1" i="0" u="none" strike="noStrike" cap="none" dirty="0">
                <a:solidFill>
                  <a:schemeClr val="dk1"/>
                </a:solidFill>
                <a:latin typeface="Calibri"/>
                <a:ea typeface="Calibri"/>
                <a:cs typeface="Calibri"/>
                <a:sym typeface="Calibri"/>
              </a:rPr>
              <a:t>these differences did not persist in the test set</a:t>
            </a:r>
            <a:endParaRPr sz="18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b="0" i="0" u="none" strike="noStrike" cap="none" dirty="0">
              <a:solidFill>
                <a:srgbClr val="000000"/>
              </a:solidFill>
              <a:latin typeface="Arial"/>
              <a:ea typeface="Arial"/>
              <a:cs typeface="Arial"/>
              <a:sym typeface="Arial"/>
            </a:endParaRPr>
          </a:p>
        </p:txBody>
      </p:sp>
      <p:pic>
        <p:nvPicPr>
          <p:cNvPr id="5" name="Google Shape;411;g35d440b47b6_0_32" title="螢幕快照 2025-05-26 14-20-35.png">
            <a:extLst>
              <a:ext uri="{FF2B5EF4-FFF2-40B4-BE49-F238E27FC236}">
                <a16:creationId xmlns:a16="http://schemas.microsoft.com/office/drawing/2014/main" id="{425AD14F-D866-4C7E-7B4F-C15514EC8EC4}"/>
              </a:ext>
            </a:extLst>
          </p:cNvPr>
          <p:cNvPicPr preferRelativeResize="0"/>
          <p:nvPr/>
        </p:nvPicPr>
        <p:blipFill rotWithShape="1">
          <a:blip r:embed="rId3">
            <a:alphaModFix/>
          </a:blip>
          <a:srcRect/>
          <a:stretch/>
        </p:blipFill>
        <p:spPr>
          <a:xfrm>
            <a:off x="8197226" y="1757704"/>
            <a:ext cx="3625675" cy="2970563"/>
          </a:xfrm>
          <a:prstGeom prst="rect">
            <a:avLst/>
          </a:prstGeom>
          <a:noFill/>
          <a:ln>
            <a:noFill/>
          </a:ln>
        </p:spPr>
      </p:pic>
      <p:sp>
        <p:nvSpPr>
          <p:cNvPr id="6" name="文字方塊 5">
            <a:extLst>
              <a:ext uri="{FF2B5EF4-FFF2-40B4-BE49-F238E27FC236}">
                <a16:creationId xmlns:a16="http://schemas.microsoft.com/office/drawing/2014/main" id="{263F4F25-4046-42B1-CEA5-9FA540DE7FCC}"/>
              </a:ext>
            </a:extLst>
          </p:cNvPr>
          <p:cNvSpPr txBox="1"/>
          <p:nvPr/>
        </p:nvSpPr>
        <p:spPr>
          <a:xfrm>
            <a:off x="-397184" y="6451325"/>
            <a:ext cx="8716109" cy="1028423"/>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1.3 Clinical Need for Reliable Cut-offs and the Role of Explainable AI</a:t>
            </a:r>
          </a:p>
          <a:p>
            <a:pPr marL="457200" marR="0" lvl="0" indent="0" algn="l" rtl="0">
              <a:lnSpc>
                <a:spcPct val="150000"/>
              </a:lnSpc>
              <a:spcBef>
                <a:spcPts val="0"/>
              </a:spcBef>
              <a:spcAft>
                <a:spcPts val="0"/>
              </a:spcAft>
              <a:buClr>
                <a:schemeClr val="dk1"/>
              </a:buClr>
              <a:buSzPts val="1100"/>
              <a:buFont typeface="Arial"/>
              <a:buNone/>
            </a:pPr>
            <a:endParaRPr lang="en-US" sz="1400" dirty="0">
              <a:solidFill>
                <a:schemeClr val="bg1"/>
              </a:solidFill>
              <a:latin typeface="Calibri"/>
              <a:ea typeface="Calibri"/>
              <a:cs typeface="Calibri"/>
              <a:sym typeface="Calibri"/>
            </a:endParaRP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 name="Google Shape;132;p8">
            <a:extLst>
              <a:ext uri="{FF2B5EF4-FFF2-40B4-BE49-F238E27FC236}">
                <a16:creationId xmlns:a16="http://schemas.microsoft.com/office/drawing/2014/main" id="{7B143C91-6538-B03A-A339-DFC270E0B899}"/>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18</a:t>
            </a:fld>
            <a:endParaRPr lang="en-US"/>
          </a:p>
        </p:txBody>
      </p:sp>
      <p:sp>
        <p:nvSpPr>
          <p:cNvPr id="3" name="矩形 2">
            <a:extLst>
              <a:ext uri="{FF2B5EF4-FFF2-40B4-BE49-F238E27FC236}">
                <a16:creationId xmlns:a16="http://schemas.microsoft.com/office/drawing/2014/main" id="{64923D32-C281-3481-010D-D059EB0E7846}"/>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Google Shape;243;g35aa69b00f9_0_13"/>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18</a:t>
            </a:fld>
            <a:endParaRPr/>
          </a:p>
        </p:txBody>
      </p:sp>
      <p:sp>
        <p:nvSpPr>
          <p:cNvPr id="244" name="Google Shape;244;g35aa69b00f9_0_13"/>
          <p:cNvSpPr txBox="1"/>
          <p:nvPr/>
        </p:nvSpPr>
        <p:spPr>
          <a:xfrm>
            <a:off x="670350" y="1012820"/>
            <a:ext cx="11561700" cy="32325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SMI and SMD</a:t>
            </a:r>
            <a:r>
              <a:rPr lang="zh-TW" sz="1800" b="0" i="0" u="none" strike="noStrike" cap="none" dirty="0">
                <a:solidFill>
                  <a:schemeClr val="dk1"/>
                </a:solidFill>
                <a:latin typeface="Calibri"/>
                <a:ea typeface="Calibri"/>
                <a:cs typeface="Calibri"/>
                <a:sym typeface="Calibri"/>
              </a:rPr>
              <a:t> are established prognostic </a:t>
            </a:r>
            <a:r>
              <a:rPr lang="en-US" altLang="zh-TW" sz="1800" b="0" i="0" u="none" strike="noStrike" cap="none" dirty="0">
                <a:solidFill>
                  <a:schemeClr val="dk1"/>
                </a:solidFill>
                <a:latin typeface="Calibri"/>
                <a:ea typeface="Calibri"/>
                <a:cs typeface="Calibri"/>
                <a:sym typeface="Calibri"/>
              </a:rPr>
              <a:t>clinical indicators</a:t>
            </a:r>
            <a:r>
              <a:rPr lang="zh-TW" sz="1800" b="0" i="0" u="none" strike="noStrike" cap="none" dirty="0">
                <a:solidFill>
                  <a:schemeClr val="dk1"/>
                </a:solidFill>
                <a:latin typeface="Calibri"/>
                <a:ea typeface="Calibri"/>
                <a:cs typeface="Calibri"/>
                <a:sym typeface="Calibri"/>
              </a:rPr>
              <a:t> in cancer.</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0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However, </a:t>
            </a:r>
            <a:r>
              <a:rPr lang="zh-TW" sz="1800" b="1" i="0" u="none" strike="noStrike" cap="none" dirty="0">
                <a:solidFill>
                  <a:schemeClr val="dk1"/>
                </a:solidFill>
                <a:latin typeface="Calibri"/>
                <a:ea typeface="Calibri"/>
                <a:cs typeface="Calibri"/>
                <a:sym typeface="Calibri"/>
              </a:rPr>
              <a:t>current cut-off values vary</a:t>
            </a:r>
            <a:r>
              <a:rPr lang="zh-TW" sz="1800" b="0" i="0" u="none" strike="noStrike" cap="none" dirty="0">
                <a:solidFill>
                  <a:schemeClr val="dk1"/>
                </a:solidFill>
                <a:latin typeface="Calibri"/>
                <a:ea typeface="Calibri"/>
                <a:cs typeface="Calibri"/>
                <a:sym typeface="Calibri"/>
              </a:rPr>
              <a:t> and lack reproducibility.</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0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Traditional methods use </a:t>
            </a:r>
            <a:r>
              <a:rPr lang="zh-TW" sz="1800" b="1" i="0" u="none" strike="noStrike" cap="none" dirty="0">
                <a:solidFill>
                  <a:schemeClr val="dk1"/>
                </a:solidFill>
                <a:latin typeface="Calibri"/>
                <a:ea typeface="Calibri"/>
                <a:cs typeface="Calibri"/>
                <a:sym typeface="Calibri"/>
              </a:rPr>
              <a:t>linear thresholds</a:t>
            </a:r>
            <a:r>
              <a:rPr lang="zh-TW" sz="1800" b="0" i="0" u="none" strike="noStrike" cap="none" dirty="0">
                <a:solidFill>
                  <a:schemeClr val="dk1"/>
                </a:solidFill>
                <a:latin typeface="Calibri"/>
                <a:ea typeface="Calibri"/>
                <a:cs typeface="Calibri"/>
                <a:sym typeface="Calibri"/>
              </a:rPr>
              <a:t>, limiting clinical utility.</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00000"/>
              </a:lnSpc>
              <a:spcBef>
                <a:spcPts val="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While XAI enables interpretation of model outputs, its use in deriving data-driven thresholds for SMI/SMD remains unexplored.</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zh-TW" sz="1800" b="0" i="0" u="none" strike="noStrike" cap="none" dirty="0">
                <a:solidFill>
                  <a:schemeClr val="dk1"/>
                </a:solidFill>
                <a:latin typeface="Calibri"/>
                <a:ea typeface="Calibri"/>
                <a:cs typeface="Calibri"/>
                <a:sym typeface="Calibri"/>
              </a:rPr>
              <a:t>➤ There is a need for a </a:t>
            </a:r>
            <a:r>
              <a:rPr lang="zh-TW" sz="1800" b="1" i="0" u="none" strike="noStrike" cap="none" dirty="0">
                <a:solidFill>
                  <a:schemeClr val="dk1"/>
                </a:solidFill>
                <a:latin typeface="Calibri"/>
                <a:ea typeface="Calibri"/>
                <a:cs typeface="Calibri"/>
                <a:sym typeface="Calibri"/>
              </a:rPr>
              <a:t>data-driven, explainable framework</a:t>
            </a:r>
            <a:r>
              <a:rPr lang="zh-TW" sz="1800" b="0" i="0" u="none" strike="noStrike" cap="none" dirty="0">
                <a:solidFill>
                  <a:schemeClr val="dk1"/>
                </a:solidFill>
                <a:latin typeface="Calibri"/>
                <a:ea typeface="Calibri"/>
                <a:cs typeface="Calibri"/>
                <a:sym typeface="Calibri"/>
              </a:rPr>
              <a:t> to identify and validate clinically meaningful thresholds.</a:t>
            </a: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245" name="Google Shape;245;g35aa69b00f9_0_13"/>
          <p:cNvSpPr txBox="1"/>
          <p:nvPr/>
        </p:nvSpPr>
        <p:spPr>
          <a:xfrm>
            <a:off x="670350" y="4575397"/>
            <a:ext cx="10851300" cy="1847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Construct survival prediction models</a:t>
            </a:r>
            <a:r>
              <a:rPr lang="zh-TW" sz="1800" b="0" i="0" u="none" strike="noStrike" cap="none" dirty="0">
                <a:solidFill>
                  <a:schemeClr val="dk1"/>
                </a:solidFill>
                <a:latin typeface="Calibri"/>
                <a:ea typeface="Calibri"/>
                <a:cs typeface="Calibri"/>
                <a:sym typeface="Calibri"/>
              </a:rPr>
              <a:t> using pre-treatment SMI and SMD with clinical covariates.</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00000"/>
              </a:lnSpc>
              <a:spcBef>
                <a:spcPts val="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Apply explainable AI (e.g., SHAP)</a:t>
            </a:r>
            <a:r>
              <a:rPr lang="zh-TW" sz="1800" b="0" i="0" u="none" strike="noStrike" cap="none" dirty="0">
                <a:solidFill>
                  <a:schemeClr val="dk1"/>
                </a:solidFill>
                <a:latin typeface="Calibri"/>
                <a:ea typeface="Calibri"/>
                <a:cs typeface="Calibri"/>
                <a:sym typeface="Calibri"/>
              </a:rPr>
              <a:t> to derive thresholds from learned feature-risk relationships.</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00000"/>
              </a:lnSpc>
              <a:spcBef>
                <a:spcPts val="0"/>
              </a:spcBef>
              <a:spcAft>
                <a:spcPts val="0"/>
              </a:spcAft>
              <a:buClr>
                <a:schemeClr val="dk1"/>
              </a:buClr>
              <a:buSzPts val="1800"/>
              <a:buFont typeface="Arial"/>
              <a:buChar char="●"/>
            </a:pPr>
            <a:r>
              <a:rPr lang="en-US" altLang="zh-TW" sz="1800" b="1" i="0" u="none" strike="noStrike" cap="none" dirty="0">
                <a:solidFill>
                  <a:schemeClr val="dk1"/>
                </a:solidFill>
                <a:latin typeface="Calibri"/>
                <a:ea typeface="Calibri"/>
                <a:cs typeface="Calibri"/>
                <a:sym typeface="Calibri"/>
              </a:rPr>
              <a:t>Assess patient stratification performance using AI-derived thresholds </a:t>
            </a:r>
            <a:r>
              <a:rPr lang="en-US" altLang="zh-TW" sz="1800" i="0" u="none" strike="noStrike" cap="none" dirty="0">
                <a:solidFill>
                  <a:schemeClr val="dk1"/>
                </a:solidFill>
                <a:latin typeface="Calibri"/>
                <a:ea typeface="Calibri"/>
                <a:cs typeface="Calibri"/>
                <a:sym typeface="Calibri"/>
              </a:rPr>
              <a:t>through survival curves and hazard ratio analysis.</a:t>
            </a:r>
            <a:endParaRPr lang="en-US" sz="2500" i="0" u="none" strike="noStrike" cap="none" dirty="0">
              <a:solidFill>
                <a:schemeClr val="dk1"/>
              </a:solidFill>
              <a:latin typeface="Calibri"/>
              <a:ea typeface="Calibri"/>
              <a:cs typeface="Calibri"/>
              <a:sym typeface="Calibri"/>
            </a:endParaRPr>
          </a:p>
        </p:txBody>
      </p:sp>
      <p:sp>
        <p:nvSpPr>
          <p:cNvPr id="246" name="Google Shape;246;g35aa69b00f9_0_13"/>
          <p:cNvSpPr txBox="1"/>
          <p:nvPr/>
        </p:nvSpPr>
        <p:spPr>
          <a:xfrm>
            <a:off x="2253781" y="3935664"/>
            <a:ext cx="70539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zh-TW" sz="2800" b="1" i="0" u="none" strike="noStrike" cap="none" dirty="0">
                <a:solidFill>
                  <a:srgbClr val="000000"/>
                </a:solidFill>
                <a:latin typeface="Arial"/>
                <a:ea typeface="Arial"/>
                <a:cs typeface="Arial"/>
                <a:sym typeface="Arial"/>
              </a:rPr>
              <a:t>Aim</a:t>
            </a:r>
            <a:endParaRPr sz="2800" b="1" i="0" u="none" strike="noStrike" cap="none" dirty="0">
              <a:solidFill>
                <a:srgbClr val="000000"/>
              </a:solidFill>
              <a:latin typeface="Arial"/>
              <a:ea typeface="Arial"/>
              <a:cs typeface="Arial"/>
              <a:sym typeface="Arial"/>
            </a:endParaRPr>
          </a:p>
        </p:txBody>
      </p:sp>
      <p:sp>
        <p:nvSpPr>
          <p:cNvPr id="247" name="Google Shape;247;g35aa69b00f9_0_13"/>
          <p:cNvSpPr txBox="1"/>
          <p:nvPr/>
        </p:nvSpPr>
        <p:spPr>
          <a:xfrm>
            <a:off x="2253781" y="316614"/>
            <a:ext cx="70539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zh-TW" sz="2800" b="1" i="0" u="none" strike="noStrike" cap="none" dirty="0">
                <a:solidFill>
                  <a:srgbClr val="000000"/>
                </a:solidFill>
                <a:latin typeface="Arial"/>
                <a:ea typeface="Arial"/>
                <a:cs typeface="Arial"/>
                <a:sym typeface="Arial"/>
              </a:rPr>
              <a:t>Motivation</a:t>
            </a:r>
            <a:endParaRPr sz="2800" b="1" i="0" u="none" strike="noStrike" cap="none" dirty="0">
              <a:solidFill>
                <a:srgbClr val="000000"/>
              </a:solidFill>
              <a:latin typeface="Arial"/>
              <a:ea typeface="Arial"/>
              <a:cs typeface="Arial"/>
              <a:sym typeface="Arial"/>
            </a:endParaRPr>
          </a:p>
        </p:txBody>
      </p:sp>
      <p:sp>
        <p:nvSpPr>
          <p:cNvPr id="4" name="文字方塊 3">
            <a:extLst>
              <a:ext uri="{FF2B5EF4-FFF2-40B4-BE49-F238E27FC236}">
                <a16:creationId xmlns:a16="http://schemas.microsoft.com/office/drawing/2014/main" id="{B9D0357C-9432-9310-6CC4-E49E70D8B38E}"/>
              </a:ext>
            </a:extLst>
          </p:cNvPr>
          <p:cNvSpPr txBox="1"/>
          <p:nvPr/>
        </p:nvSpPr>
        <p:spPr>
          <a:xfrm>
            <a:off x="-397183" y="6451325"/>
            <a:ext cx="6177914" cy="705258"/>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1.4 Research Aim</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4BF0CFAD-E8EE-CAB6-75ED-3344C9A6E570}"/>
            </a:ext>
          </a:extLst>
        </p:cNvPr>
        <p:cNvGrpSpPr/>
        <p:nvPr/>
      </p:nvGrpSpPr>
      <p:grpSpPr>
        <a:xfrm>
          <a:off x="0" y="0"/>
          <a:ext cx="0" cy="0"/>
          <a:chOff x="0" y="0"/>
          <a:chExt cx="0" cy="0"/>
        </a:xfrm>
      </p:grpSpPr>
      <p:grpSp>
        <p:nvGrpSpPr>
          <p:cNvPr id="2" name="群組 1">
            <a:extLst>
              <a:ext uri="{FF2B5EF4-FFF2-40B4-BE49-F238E27FC236}">
                <a16:creationId xmlns:a16="http://schemas.microsoft.com/office/drawing/2014/main" id="{97EC6757-55A0-C382-74D6-080469D59D79}"/>
              </a:ext>
            </a:extLst>
          </p:cNvPr>
          <p:cNvGrpSpPr/>
          <p:nvPr/>
        </p:nvGrpSpPr>
        <p:grpSpPr>
          <a:xfrm>
            <a:off x="955403" y="2265315"/>
            <a:ext cx="10281194" cy="1815926"/>
            <a:chOff x="1131755" y="2413827"/>
            <a:chExt cx="10281194" cy="1815926"/>
          </a:xfrm>
        </p:grpSpPr>
        <p:sp>
          <p:nvSpPr>
            <p:cNvPr id="76" name="Google Shape;76;p2">
              <a:extLst>
                <a:ext uri="{FF2B5EF4-FFF2-40B4-BE49-F238E27FC236}">
                  <a16:creationId xmlns:a16="http://schemas.microsoft.com/office/drawing/2014/main" id="{F90B54D2-BC99-A2B5-BCA9-8C8A64CF5023}"/>
                </a:ext>
              </a:extLst>
            </p:cNvPr>
            <p:cNvSpPr/>
            <p:nvPr/>
          </p:nvSpPr>
          <p:spPr>
            <a:xfrm>
              <a:off x="1986102" y="4173053"/>
              <a:ext cx="8572500" cy="56700"/>
            </a:xfrm>
            <a:prstGeom prst="rect">
              <a:avLst/>
            </a:prstGeom>
            <a:solidFill>
              <a:srgbClr val="2F5496"/>
            </a:solidFill>
            <a:ln w="12700" cap="flat" cmpd="sng">
              <a:solidFill>
                <a:srgbClr val="2F549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imes New Roman"/>
                <a:ea typeface="Times New Roman"/>
                <a:cs typeface="Times New Roman"/>
                <a:sym typeface="Times New Roman"/>
              </a:endParaRPr>
            </a:p>
          </p:txBody>
        </p:sp>
        <p:sp>
          <p:nvSpPr>
            <p:cNvPr id="77" name="Google Shape;77;p2">
              <a:extLst>
                <a:ext uri="{FF2B5EF4-FFF2-40B4-BE49-F238E27FC236}">
                  <a16:creationId xmlns:a16="http://schemas.microsoft.com/office/drawing/2014/main" id="{99AC7E72-B97E-97E3-DCBE-C456800C2533}"/>
                </a:ext>
              </a:extLst>
            </p:cNvPr>
            <p:cNvSpPr txBox="1"/>
            <p:nvPr/>
          </p:nvSpPr>
          <p:spPr>
            <a:xfrm>
              <a:off x="1131755" y="2413827"/>
              <a:ext cx="10281194" cy="14157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300"/>
                <a:buFont typeface="Arial"/>
                <a:buNone/>
              </a:pPr>
              <a:r>
                <a:rPr lang="en-US" altLang="zh-TW" sz="4300" b="1" dirty="0">
                  <a:solidFill>
                    <a:schemeClr val="dk1"/>
                  </a:solidFill>
                  <a:latin typeface="Calibri"/>
                  <a:ea typeface="Calibri"/>
                  <a:cs typeface="Calibri"/>
                  <a:sym typeface="Calibri"/>
                </a:rPr>
                <a:t>2</a:t>
              </a:r>
              <a:r>
                <a:rPr lang="en-US" altLang="zh-TW" sz="4300" b="1" i="0" u="none" strike="noStrike" cap="none" dirty="0">
                  <a:solidFill>
                    <a:schemeClr val="dk1"/>
                  </a:solidFill>
                  <a:latin typeface="Calibri"/>
                  <a:ea typeface="Calibri"/>
                  <a:cs typeface="Calibri"/>
                  <a:sym typeface="Calibri"/>
                </a:rPr>
                <a:t>.</a:t>
              </a:r>
            </a:p>
            <a:p>
              <a:pPr marL="0" marR="0" lvl="0" indent="0" algn="ctr" rtl="0">
                <a:lnSpc>
                  <a:spcPct val="100000"/>
                </a:lnSpc>
                <a:spcBef>
                  <a:spcPts val="0"/>
                </a:spcBef>
                <a:spcAft>
                  <a:spcPts val="0"/>
                </a:spcAft>
                <a:buClr>
                  <a:srgbClr val="000000"/>
                </a:buClr>
                <a:buSzPts val="4300"/>
                <a:buFont typeface="Arial"/>
                <a:buNone/>
              </a:pPr>
              <a:r>
                <a:rPr lang="en-US" altLang="zh-TW" sz="4300" b="1" i="0" u="none" strike="noStrike" cap="none" dirty="0">
                  <a:solidFill>
                    <a:schemeClr val="dk1"/>
                  </a:solidFill>
                  <a:latin typeface="Calibri"/>
                  <a:ea typeface="Calibri"/>
                  <a:cs typeface="Calibri"/>
                  <a:sym typeface="Calibri"/>
                </a:rPr>
                <a:t>Study Design and Methodology </a:t>
              </a:r>
            </a:p>
          </p:txBody>
        </p:sp>
      </p:grpSp>
    </p:spTree>
    <p:extLst>
      <p:ext uri="{BB962C8B-B14F-4D97-AF65-F5344CB8AC3E}">
        <p14:creationId xmlns:p14="http://schemas.microsoft.com/office/powerpoint/2010/main" val="1342688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 name="Google Shape;132;p8">
            <a:extLst>
              <a:ext uri="{FF2B5EF4-FFF2-40B4-BE49-F238E27FC236}">
                <a16:creationId xmlns:a16="http://schemas.microsoft.com/office/drawing/2014/main" id="{18FDA88D-217D-A3F6-195C-497B03F7271E}"/>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20</a:t>
            </a:fld>
            <a:endParaRPr lang="en-US"/>
          </a:p>
        </p:txBody>
      </p:sp>
      <p:sp>
        <p:nvSpPr>
          <p:cNvPr id="3" name="矩形 2">
            <a:extLst>
              <a:ext uri="{FF2B5EF4-FFF2-40B4-BE49-F238E27FC236}">
                <a16:creationId xmlns:a16="http://schemas.microsoft.com/office/drawing/2014/main" id="{0246C8B2-9F30-FE82-B817-7506FD8D279C}"/>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Google Shape;296;g35afffe928d_0_58"/>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20</a:t>
            </a:fld>
            <a:endParaRPr/>
          </a:p>
        </p:txBody>
      </p:sp>
      <p:sp>
        <p:nvSpPr>
          <p:cNvPr id="297" name="Google Shape;297;g35afffe928d_0_58"/>
          <p:cNvSpPr/>
          <p:nvPr/>
        </p:nvSpPr>
        <p:spPr>
          <a:xfrm>
            <a:off x="2316787" y="808300"/>
            <a:ext cx="22146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rgbClr val="000000"/>
                </a:solidFill>
                <a:latin typeface="Calibri"/>
                <a:ea typeface="Calibri"/>
                <a:cs typeface="Calibri"/>
                <a:sym typeface="Calibri"/>
              </a:rPr>
              <a:t>Clinical Data</a:t>
            </a:r>
            <a:endParaRPr sz="1800" b="0" i="0" u="none" strike="noStrike" cap="none">
              <a:solidFill>
                <a:srgbClr val="000000"/>
              </a:solidFill>
              <a:latin typeface="Calibri"/>
              <a:ea typeface="Calibri"/>
              <a:cs typeface="Calibri"/>
              <a:sym typeface="Calibri"/>
            </a:endParaRPr>
          </a:p>
        </p:txBody>
      </p:sp>
      <p:sp>
        <p:nvSpPr>
          <p:cNvPr id="298" name="Google Shape;298;g35afffe928d_0_58"/>
          <p:cNvSpPr/>
          <p:nvPr/>
        </p:nvSpPr>
        <p:spPr>
          <a:xfrm>
            <a:off x="4397640" y="3008450"/>
            <a:ext cx="12774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rgbClr val="000000"/>
                </a:solidFill>
                <a:latin typeface="Calibri"/>
                <a:ea typeface="Calibri"/>
                <a:cs typeface="Calibri"/>
                <a:sym typeface="Calibri"/>
              </a:rPr>
              <a:t>Test</a:t>
            </a:r>
            <a:r>
              <a:rPr lang="zh-TW" sz="1800" b="0" i="0" u="none" strike="noStrike" cap="none">
                <a:solidFill>
                  <a:schemeClr val="dk1"/>
                </a:solidFill>
                <a:latin typeface="Calibri"/>
                <a:ea typeface="Calibri"/>
                <a:cs typeface="Calibri"/>
                <a:sym typeface="Calibri"/>
              </a:rPr>
              <a:t>ing</a:t>
            </a:r>
            <a:r>
              <a:rPr lang="zh-TW" sz="1800" b="0" i="0" u="none" strike="noStrike" cap="none">
                <a:solidFill>
                  <a:srgbClr val="000000"/>
                </a:solidFill>
                <a:latin typeface="Calibri"/>
                <a:ea typeface="Calibri"/>
                <a:cs typeface="Calibri"/>
                <a:sym typeface="Calibri"/>
              </a:rPr>
              <a:t> Set</a:t>
            </a:r>
            <a:endParaRPr sz="1800" b="0" i="0" u="none" strike="noStrike" cap="none">
              <a:solidFill>
                <a:srgbClr val="000000"/>
              </a:solidFill>
              <a:latin typeface="Calibri"/>
              <a:ea typeface="Calibri"/>
              <a:cs typeface="Calibri"/>
              <a:sym typeface="Calibri"/>
            </a:endParaRPr>
          </a:p>
        </p:txBody>
      </p:sp>
      <p:sp>
        <p:nvSpPr>
          <p:cNvPr id="299" name="Google Shape;299;g35afffe928d_0_58"/>
          <p:cNvSpPr/>
          <p:nvPr/>
        </p:nvSpPr>
        <p:spPr>
          <a:xfrm>
            <a:off x="1216175" y="3023325"/>
            <a:ext cx="12774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rgbClr val="000000"/>
                </a:solidFill>
                <a:latin typeface="Calibri"/>
                <a:ea typeface="Calibri"/>
                <a:cs typeface="Calibri"/>
                <a:sym typeface="Calibri"/>
              </a:rPr>
              <a:t>Training Set</a:t>
            </a:r>
            <a:endParaRPr sz="1800" b="0" i="0" u="none" strike="noStrike" cap="none">
              <a:solidFill>
                <a:srgbClr val="000000"/>
              </a:solidFill>
              <a:latin typeface="Calibri"/>
              <a:ea typeface="Calibri"/>
              <a:cs typeface="Calibri"/>
              <a:sym typeface="Calibri"/>
            </a:endParaRPr>
          </a:p>
        </p:txBody>
      </p:sp>
      <p:sp>
        <p:nvSpPr>
          <p:cNvPr id="300" name="Google Shape;300;g35afffe928d_0_58"/>
          <p:cNvSpPr/>
          <p:nvPr/>
        </p:nvSpPr>
        <p:spPr>
          <a:xfrm>
            <a:off x="406413" y="5311775"/>
            <a:ext cx="23865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rgbClr val="434343"/>
                </a:solidFill>
                <a:latin typeface="Calibri"/>
                <a:ea typeface="Calibri"/>
                <a:cs typeface="Calibri"/>
                <a:sym typeface="Calibri"/>
              </a:rPr>
              <a:t>Feature Selection</a:t>
            </a:r>
            <a:endParaRPr sz="1800" b="0" i="0" u="none" strike="noStrike" cap="none">
              <a:solidFill>
                <a:srgbClr val="434343"/>
              </a:solidFill>
              <a:latin typeface="Calibri"/>
              <a:ea typeface="Calibri"/>
              <a:cs typeface="Calibri"/>
              <a:sym typeface="Calibri"/>
            </a:endParaRPr>
          </a:p>
        </p:txBody>
      </p:sp>
      <p:sp>
        <p:nvSpPr>
          <p:cNvPr id="301" name="Google Shape;301;g35afffe928d_0_58"/>
          <p:cNvSpPr/>
          <p:nvPr/>
        </p:nvSpPr>
        <p:spPr>
          <a:xfrm>
            <a:off x="3512606" y="5311775"/>
            <a:ext cx="29676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1200"/>
              </a:spcBef>
              <a:spcAft>
                <a:spcPts val="1200"/>
              </a:spcAft>
              <a:buClr>
                <a:srgbClr val="000000"/>
              </a:buClr>
              <a:buSzPts val="1800"/>
              <a:buFont typeface="Arial"/>
              <a:buNone/>
            </a:pPr>
            <a:r>
              <a:rPr lang="zh-TW" sz="1800" b="0" i="0" u="none" strike="noStrike" cap="none">
                <a:solidFill>
                  <a:schemeClr val="dk1"/>
                </a:solidFill>
                <a:latin typeface="Calibri"/>
                <a:ea typeface="Calibri"/>
                <a:cs typeface="Calibri"/>
                <a:sym typeface="Calibri"/>
              </a:rPr>
              <a:t>Survival Model Building</a:t>
            </a:r>
            <a:endParaRPr sz="1800" b="0" i="0" u="none" strike="noStrike" cap="none">
              <a:solidFill>
                <a:srgbClr val="000000"/>
              </a:solidFill>
              <a:latin typeface="Calibri"/>
              <a:ea typeface="Calibri"/>
              <a:cs typeface="Calibri"/>
              <a:sym typeface="Calibri"/>
            </a:endParaRPr>
          </a:p>
        </p:txBody>
      </p:sp>
      <p:sp>
        <p:nvSpPr>
          <p:cNvPr id="302" name="Google Shape;302;g35afffe928d_0_58"/>
          <p:cNvSpPr/>
          <p:nvPr/>
        </p:nvSpPr>
        <p:spPr>
          <a:xfrm>
            <a:off x="6969211" y="5746550"/>
            <a:ext cx="19074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1200"/>
              </a:spcBef>
              <a:spcAft>
                <a:spcPts val="1200"/>
              </a:spcAft>
              <a:buClr>
                <a:srgbClr val="000000"/>
              </a:buClr>
              <a:buSzPts val="1800"/>
              <a:buFont typeface="Arial"/>
              <a:buNone/>
            </a:pPr>
            <a:r>
              <a:rPr lang="zh-TW" sz="1800" b="0" i="0" u="none" strike="noStrike" cap="none">
                <a:solidFill>
                  <a:schemeClr val="dk1"/>
                </a:solidFill>
                <a:latin typeface="Calibri"/>
                <a:ea typeface="Calibri"/>
                <a:cs typeface="Calibri"/>
                <a:sym typeface="Calibri"/>
              </a:rPr>
              <a:t>SurveSHAP </a:t>
            </a:r>
            <a:endParaRPr sz="1800" b="0" i="0" u="none" strike="noStrike" cap="none">
              <a:solidFill>
                <a:srgbClr val="000000"/>
              </a:solidFill>
              <a:latin typeface="Calibri"/>
              <a:ea typeface="Calibri"/>
              <a:cs typeface="Calibri"/>
              <a:sym typeface="Calibri"/>
            </a:endParaRPr>
          </a:p>
        </p:txBody>
      </p:sp>
      <p:sp>
        <p:nvSpPr>
          <p:cNvPr id="303" name="Google Shape;303;g35afffe928d_0_58"/>
          <p:cNvSpPr/>
          <p:nvPr/>
        </p:nvSpPr>
        <p:spPr>
          <a:xfrm>
            <a:off x="6931811" y="4704463"/>
            <a:ext cx="19074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1200"/>
              </a:spcBef>
              <a:spcAft>
                <a:spcPts val="1200"/>
              </a:spcAft>
              <a:buClr>
                <a:srgbClr val="000000"/>
              </a:buClr>
              <a:buSzPts val="1800"/>
              <a:buFont typeface="Arial"/>
              <a:buNone/>
            </a:pPr>
            <a:r>
              <a:rPr lang="zh-TW" sz="1800" b="0" i="0" u="none" strike="noStrike" cap="none">
                <a:solidFill>
                  <a:schemeClr val="dk1"/>
                </a:solidFill>
                <a:latin typeface="Calibri"/>
                <a:ea typeface="Calibri"/>
                <a:cs typeface="Calibri"/>
                <a:sym typeface="Calibri"/>
              </a:rPr>
              <a:t>SHAP Value</a:t>
            </a:r>
            <a:endParaRPr sz="1800" b="0" i="0" u="none" strike="noStrike" cap="none">
              <a:solidFill>
                <a:srgbClr val="000000"/>
              </a:solidFill>
              <a:latin typeface="Calibri"/>
              <a:ea typeface="Calibri"/>
              <a:cs typeface="Calibri"/>
              <a:sym typeface="Calibri"/>
            </a:endParaRPr>
          </a:p>
        </p:txBody>
      </p:sp>
      <p:sp>
        <p:nvSpPr>
          <p:cNvPr id="304" name="Google Shape;304;g35afffe928d_0_58"/>
          <p:cNvSpPr/>
          <p:nvPr/>
        </p:nvSpPr>
        <p:spPr>
          <a:xfrm>
            <a:off x="9302125" y="4680500"/>
            <a:ext cx="1907400" cy="63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1200"/>
              </a:spcBef>
              <a:spcAft>
                <a:spcPts val="1200"/>
              </a:spcAft>
              <a:buClr>
                <a:srgbClr val="000000"/>
              </a:buClr>
              <a:buSzPts val="1800"/>
              <a:buFont typeface="Arial"/>
              <a:buNone/>
            </a:pPr>
            <a:r>
              <a:rPr lang="zh-TW" sz="1800" b="0" i="0" u="none" strike="noStrike" cap="none">
                <a:solidFill>
                  <a:schemeClr val="dk1"/>
                </a:solidFill>
                <a:latin typeface="Calibri"/>
                <a:ea typeface="Calibri"/>
                <a:cs typeface="Calibri"/>
                <a:sym typeface="Calibri"/>
              </a:rPr>
              <a:t>Threshold Identification</a:t>
            </a:r>
            <a:endParaRPr sz="1800" b="0" i="0" u="none" strike="noStrike" cap="none">
              <a:solidFill>
                <a:srgbClr val="000000"/>
              </a:solidFill>
              <a:latin typeface="Calibri"/>
              <a:ea typeface="Calibri"/>
              <a:cs typeface="Calibri"/>
              <a:sym typeface="Calibri"/>
            </a:endParaRPr>
          </a:p>
        </p:txBody>
      </p:sp>
      <p:cxnSp>
        <p:nvCxnSpPr>
          <p:cNvPr id="305" name="Google Shape;305;g35afffe928d_0_58"/>
          <p:cNvCxnSpPr>
            <a:endCxn id="297" idx="2"/>
          </p:cNvCxnSpPr>
          <p:nvPr/>
        </p:nvCxnSpPr>
        <p:spPr>
          <a:xfrm>
            <a:off x="3418087" y="1364200"/>
            <a:ext cx="6000" cy="0"/>
          </a:xfrm>
          <a:prstGeom prst="straightConnector1">
            <a:avLst/>
          </a:prstGeom>
          <a:noFill/>
          <a:ln w="9525" cap="flat" cmpd="sng">
            <a:solidFill>
              <a:schemeClr val="dk2"/>
            </a:solidFill>
            <a:prstDash val="solid"/>
            <a:round/>
            <a:headEnd type="none" w="sm" len="sm"/>
            <a:tailEnd type="none" w="sm" len="sm"/>
          </a:ln>
        </p:spPr>
      </p:cxnSp>
      <p:cxnSp>
        <p:nvCxnSpPr>
          <p:cNvPr id="306" name="Google Shape;306;g35afffe928d_0_58"/>
          <p:cNvCxnSpPr>
            <a:stCxn id="307" idx="2"/>
            <a:endCxn id="299" idx="0"/>
          </p:cNvCxnSpPr>
          <p:nvPr/>
        </p:nvCxnSpPr>
        <p:spPr>
          <a:xfrm flipH="1">
            <a:off x="1854797" y="2425600"/>
            <a:ext cx="1569300" cy="597600"/>
          </a:xfrm>
          <a:prstGeom prst="straightConnector1">
            <a:avLst/>
          </a:prstGeom>
          <a:noFill/>
          <a:ln w="9525" cap="flat" cmpd="sng">
            <a:solidFill>
              <a:schemeClr val="dk2"/>
            </a:solidFill>
            <a:prstDash val="solid"/>
            <a:round/>
            <a:headEnd type="none" w="sm" len="sm"/>
            <a:tailEnd type="triangle" w="med" len="med"/>
          </a:ln>
        </p:spPr>
      </p:cxnSp>
      <p:cxnSp>
        <p:nvCxnSpPr>
          <p:cNvPr id="308" name="Google Shape;308;g35afffe928d_0_58"/>
          <p:cNvCxnSpPr>
            <a:stCxn id="307" idx="2"/>
            <a:endCxn id="298" idx="0"/>
          </p:cNvCxnSpPr>
          <p:nvPr/>
        </p:nvCxnSpPr>
        <p:spPr>
          <a:xfrm>
            <a:off x="3424097" y="2425600"/>
            <a:ext cx="1612200" cy="582900"/>
          </a:xfrm>
          <a:prstGeom prst="straightConnector1">
            <a:avLst/>
          </a:prstGeom>
          <a:noFill/>
          <a:ln w="9525" cap="flat" cmpd="sng">
            <a:solidFill>
              <a:schemeClr val="dk2"/>
            </a:solidFill>
            <a:prstDash val="solid"/>
            <a:round/>
            <a:headEnd type="none" w="sm" len="sm"/>
            <a:tailEnd type="triangle" w="med" len="med"/>
          </a:ln>
        </p:spPr>
      </p:cxnSp>
      <p:cxnSp>
        <p:nvCxnSpPr>
          <p:cNvPr id="309" name="Google Shape;309;g35afffe928d_0_58"/>
          <p:cNvCxnSpPr>
            <a:stCxn id="299" idx="2"/>
          </p:cNvCxnSpPr>
          <p:nvPr/>
        </p:nvCxnSpPr>
        <p:spPr>
          <a:xfrm flipH="1">
            <a:off x="1851275" y="3579225"/>
            <a:ext cx="3600" cy="1741800"/>
          </a:xfrm>
          <a:prstGeom prst="straightConnector1">
            <a:avLst/>
          </a:prstGeom>
          <a:noFill/>
          <a:ln w="9525" cap="flat" cmpd="sng">
            <a:solidFill>
              <a:schemeClr val="dk2"/>
            </a:solidFill>
            <a:prstDash val="solid"/>
            <a:round/>
            <a:headEnd type="none" w="sm" len="sm"/>
            <a:tailEnd type="triangle" w="med" len="med"/>
          </a:ln>
        </p:spPr>
      </p:cxnSp>
      <p:cxnSp>
        <p:nvCxnSpPr>
          <p:cNvPr id="310" name="Google Shape;310;g35afffe928d_0_58"/>
          <p:cNvCxnSpPr>
            <a:stCxn id="300" idx="3"/>
          </p:cNvCxnSpPr>
          <p:nvPr/>
        </p:nvCxnSpPr>
        <p:spPr>
          <a:xfrm rot="10800000" flipH="1">
            <a:off x="2792913" y="5577725"/>
            <a:ext cx="663300" cy="12000"/>
          </a:xfrm>
          <a:prstGeom prst="straightConnector1">
            <a:avLst/>
          </a:prstGeom>
          <a:noFill/>
          <a:ln w="9525" cap="flat" cmpd="sng">
            <a:solidFill>
              <a:schemeClr val="dk2"/>
            </a:solidFill>
            <a:prstDash val="solid"/>
            <a:round/>
            <a:headEnd type="none" w="sm" len="sm"/>
            <a:tailEnd type="triangle" w="med" len="med"/>
          </a:ln>
        </p:spPr>
      </p:cxnSp>
      <p:cxnSp>
        <p:nvCxnSpPr>
          <p:cNvPr id="311" name="Google Shape;311;g35afffe928d_0_58"/>
          <p:cNvCxnSpPr>
            <a:stCxn id="301" idx="3"/>
            <a:endCxn id="303" idx="1"/>
          </p:cNvCxnSpPr>
          <p:nvPr/>
        </p:nvCxnSpPr>
        <p:spPr>
          <a:xfrm rot="10800000" flipH="1">
            <a:off x="6480206" y="4982525"/>
            <a:ext cx="451500" cy="607200"/>
          </a:xfrm>
          <a:prstGeom prst="straightConnector1">
            <a:avLst/>
          </a:prstGeom>
          <a:noFill/>
          <a:ln w="9525" cap="flat" cmpd="sng">
            <a:solidFill>
              <a:schemeClr val="dk2"/>
            </a:solidFill>
            <a:prstDash val="solid"/>
            <a:round/>
            <a:headEnd type="none" w="sm" len="sm"/>
            <a:tailEnd type="triangle" w="med" len="med"/>
          </a:ln>
        </p:spPr>
      </p:cxnSp>
      <p:cxnSp>
        <p:nvCxnSpPr>
          <p:cNvPr id="312" name="Google Shape;312;g35afffe928d_0_58"/>
          <p:cNvCxnSpPr>
            <a:stCxn id="301" idx="3"/>
            <a:endCxn id="302" idx="1"/>
          </p:cNvCxnSpPr>
          <p:nvPr/>
        </p:nvCxnSpPr>
        <p:spPr>
          <a:xfrm>
            <a:off x="6480206" y="5589725"/>
            <a:ext cx="489000" cy="434700"/>
          </a:xfrm>
          <a:prstGeom prst="straightConnector1">
            <a:avLst/>
          </a:prstGeom>
          <a:noFill/>
          <a:ln w="9525" cap="flat" cmpd="sng">
            <a:solidFill>
              <a:schemeClr val="dk2"/>
            </a:solidFill>
            <a:prstDash val="solid"/>
            <a:round/>
            <a:headEnd type="none" w="sm" len="sm"/>
            <a:tailEnd type="triangle" w="med" len="med"/>
          </a:ln>
        </p:spPr>
      </p:cxnSp>
      <p:cxnSp>
        <p:nvCxnSpPr>
          <p:cNvPr id="313" name="Google Shape;313;g35afffe928d_0_58"/>
          <p:cNvCxnSpPr>
            <a:stCxn id="303" idx="3"/>
            <a:endCxn id="304" idx="1"/>
          </p:cNvCxnSpPr>
          <p:nvPr/>
        </p:nvCxnSpPr>
        <p:spPr>
          <a:xfrm>
            <a:off x="8839211" y="4982413"/>
            <a:ext cx="462900" cy="13800"/>
          </a:xfrm>
          <a:prstGeom prst="straightConnector1">
            <a:avLst/>
          </a:prstGeom>
          <a:noFill/>
          <a:ln w="9525" cap="flat" cmpd="sng">
            <a:solidFill>
              <a:schemeClr val="dk2"/>
            </a:solidFill>
            <a:prstDash val="solid"/>
            <a:round/>
            <a:headEnd type="none" w="sm" len="sm"/>
            <a:tailEnd type="triangle" w="med" len="med"/>
          </a:ln>
        </p:spPr>
      </p:cxnSp>
      <p:cxnSp>
        <p:nvCxnSpPr>
          <p:cNvPr id="314" name="Google Shape;314;g35afffe928d_0_58"/>
          <p:cNvCxnSpPr>
            <a:stCxn id="304" idx="0"/>
          </p:cNvCxnSpPr>
          <p:nvPr/>
        </p:nvCxnSpPr>
        <p:spPr>
          <a:xfrm rot="5400000" flipH="1">
            <a:off x="7370575" y="1795250"/>
            <a:ext cx="552300" cy="5218200"/>
          </a:xfrm>
          <a:prstGeom prst="bentConnector2">
            <a:avLst/>
          </a:prstGeom>
          <a:noFill/>
          <a:ln w="9525" cap="flat" cmpd="sng">
            <a:solidFill>
              <a:schemeClr val="dk2"/>
            </a:solidFill>
            <a:prstDash val="solid"/>
            <a:round/>
            <a:headEnd type="none" w="sm" len="sm"/>
            <a:tailEnd type="none" w="sm" len="sm"/>
          </a:ln>
        </p:spPr>
      </p:cxnSp>
      <p:cxnSp>
        <p:nvCxnSpPr>
          <p:cNvPr id="315" name="Google Shape;315;g35afffe928d_0_58"/>
          <p:cNvCxnSpPr/>
          <p:nvPr/>
        </p:nvCxnSpPr>
        <p:spPr>
          <a:xfrm rot="10800000">
            <a:off x="5036288" y="3564400"/>
            <a:ext cx="5100" cy="578400"/>
          </a:xfrm>
          <a:prstGeom prst="straightConnector1">
            <a:avLst/>
          </a:prstGeom>
          <a:noFill/>
          <a:ln w="9525" cap="flat" cmpd="sng">
            <a:solidFill>
              <a:schemeClr val="dk2"/>
            </a:solidFill>
            <a:prstDash val="solid"/>
            <a:round/>
            <a:headEnd type="none" w="sm" len="sm"/>
            <a:tailEnd type="triangle" w="med" len="med"/>
          </a:ln>
        </p:spPr>
      </p:cxnSp>
      <p:sp>
        <p:nvSpPr>
          <p:cNvPr id="316" name="Google Shape;316;g35afffe928d_0_58"/>
          <p:cNvSpPr/>
          <p:nvPr/>
        </p:nvSpPr>
        <p:spPr>
          <a:xfrm>
            <a:off x="6332338" y="2864925"/>
            <a:ext cx="1907400" cy="714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chemeClr val="dk1"/>
                </a:solidFill>
                <a:latin typeface="Calibri"/>
                <a:ea typeface="Calibri"/>
                <a:cs typeface="Calibri"/>
                <a:sym typeface="Calibri"/>
              </a:rPr>
              <a:t>Kaplan–Meier survival analysis</a:t>
            </a:r>
            <a:endParaRPr sz="1800" b="0" i="0" u="none" strike="noStrike" cap="none">
              <a:solidFill>
                <a:schemeClr val="dk1"/>
              </a:solidFill>
              <a:latin typeface="Calibri"/>
              <a:ea typeface="Calibri"/>
              <a:cs typeface="Calibri"/>
              <a:sym typeface="Calibri"/>
            </a:endParaRPr>
          </a:p>
        </p:txBody>
      </p:sp>
      <p:cxnSp>
        <p:nvCxnSpPr>
          <p:cNvPr id="317" name="Google Shape;317;g35afffe928d_0_58"/>
          <p:cNvCxnSpPr/>
          <p:nvPr/>
        </p:nvCxnSpPr>
        <p:spPr>
          <a:xfrm>
            <a:off x="5707428" y="3286400"/>
            <a:ext cx="592500" cy="0"/>
          </a:xfrm>
          <a:prstGeom prst="straightConnector1">
            <a:avLst/>
          </a:prstGeom>
          <a:noFill/>
          <a:ln w="9525" cap="flat" cmpd="sng">
            <a:solidFill>
              <a:schemeClr val="dk2"/>
            </a:solidFill>
            <a:prstDash val="solid"/>
            <a:round/>
            <a:headEnd type="none" w="sm" len="sm"/>
            <a:tailEnd type="triangle" w="med" len="med"/>
          </a:ln>
        </p:spPr>
      </p:cxnSp>
      <p:sp>
        <p:nvSpPr>
          <p:cNvPr id="318" name="Google Shape;318;g35afffe928d_0_58"/>
          <p:cNvSpPr txBox="1"/>
          <p:nvPr/>
        </p:nvSpPr>
        <p:spPr>
          <a:xfrm>
            <a:off x="5091300" y="3666038"/>
            <a:ext cx="30000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zh-TW" sz="1600" b="0" i="0" u="none" strike="noStrike" cap="none">
                <a:solidFill>
                  <a:srgbClr val="000000"/>
                </a:solidFill>
                <a:latin typeface="Calibri"/>
                <a:ea typeface="Calibri"/>
                <a:cs typeface="Calibri"/>
                <a:sym typeface="Calibri"/>
              </a:rPr>
              <a:t>Apply Threshold</a:t>
            </a:r>
            <a:endParaRPr sz="1600" b="0" i="0" u="none" strike="noStrike" cap="none">
              <a:solidFill>
                <a:srgbClr val="000000"/>
              </a:solidFill>
              <a:latin typeface="Calibri"/>
              <a:ea typeface="Calibri"/>
              <a:cs typeface="Calibri"/>
              <a:sym typeface="Calibri"/>
            </a:endParaRPr>
          </a:p>
        </p:txBody>
      </p:sp>
      <p:sp>
        <p:nvSpPr>
          <p:cNvPr id="319" name="Google Shape;319;g35afffe928d_0_58"/>
          <p:cNvSpPr txBox="1"/>
          <p:nvPr/>
        </p:nvSpPr>
        <p:spPr>
          <a:xfrm>
            <a:off x="3127825" y="2449650"/>
            <a:ext cx="5925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zh-TW" sz="1600" b="0" i="0" u="none" strike="noStrike" cap="none">
                <a:solidFill>
                  <a:srgbClr val="000000"/>
                </a:solidFill>
                <a:latin typeface="Calibri"/>
                <a:ea typeface="Calibri"/>
                <a:cs typeface="Calibri"/>
                <a:sym typeface="Calibri"/>
              </a:rPr>
              <a:t>Split</a:t>
            </a:r>
            <a:endParaRPr sz="1600" b="0" i="0" u="none" strike="noStrike" cap="none">
              <a:solidFill>
                <a:srgbClr val="000000"/>
              </a:solidFill>
              <a:latin typeface="Calibri"/>
              <a:ea typeface="Calibri"/>
              <a:cs typeface="Calibri"/>
              <a:sym typeface="Calibri"/>
            </a:endParaRPr>
          </a:p>
        </p:txBody>
      </p:sp>
      <p:sp>
        <p:nvSpPr>
          <p:cNvPr id="307" name="Google Shape;307;g35afffe928d_0_58"/>
          <p:cNvSpPr/>
          <p:nvPr/>
        </p:nvSpPr>
        <p:spPr>
          <a:xfrm>
            <a:off x="2470397" y="1869700"/>
            <a:ext cx="1907400" cy="555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800"/>
              <a:buFont typeface="Arial"/>
              <a:buNone/>
            </a:pPr>
            <a:r>
              <a:rPr lang="zh-TW" sz="1800" b="0" i="0" u="none" strike="noStrike" cap="none">
                <a:solidFill>
                  <a:srgbClr val="000000"/>
                </a:solidFill>
                <a:latin typeface="Calibri"/>
                <a:ea typeface="Calibri"/>
                <a:cs typeface="Calibri"/>
                <a:sym typeface="Calibri"/>
              </a:rPr>
              <a:t>Data Preprocessing</a:t>
            </a:r>
            <a:endParaRPr sz="1800" b="0" i="0" u="none" strike="noStrike" cap="none">
              <a:solidFill>
                <a:srgbClr val="000000"/>
              </a:solidFill>
              <a:latin typeface="Calibri"/>
              <a:ea typeface="Calibri"/>
              <a:cs typeface="Calibri"/>
              <a:sym typeface="Calibri"/>
            </a:endParaRPr>
          </a:p>
        </p:txBody>
      </p:sp>
      <p:cxnSp>
        <p:nvCxnSpPr>
          <p:cNvPr id="320" name="Google Shape;320;g35afffe928d_0_58"/>
          <p:cNvCxnSpPr>
            <a:stCxn id="297" idx="2"/>
          </p:cNvCxnSpPr>
          <p:nvPr/>
        </p:nvCxnSpPr>
        <p:spPr>
          <a:xfrm flipH="1">
            <a:off x="3418387" y="1364200"/>
            <a:ext cx="5700" cy="505500"/>
          </a:xfrm>
          <a:prstGeom prst="straightConnector1">
            <a:avLst/>
          </a:prstGeom>
          <a:noFill/>
          <a:ln w="9525" cap="flat" cmpd="sng">
            <a:solidFill>
              <a:schemeClr val="dk2"/>
            </a:solidFill>
            <a:prstDash val="solid"/>
            <a:round/>
            <a:headEnd type="none" w="sm" len="sm"/>
            <a:tailEnd type="triangle" w="med" len="med"/>
          </a:ln>
        </p:spPr>
      </p:cxnSp>
      <p:sp>
        <p:nvSpPr>
          <p:cNvPr id="321" name="Google Shape;321;g35afffe928d_0_58"/>
          <p:cNvSpPr txBox="1"/>
          <p:nvPr/>
        </p:nvSpPr>
        <p:spPr>
          <a:xfrm>
            <a:off x="3512613" y="3966188"/>
            <a:ext cx="12117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600"/>
              <a:buFont typeface="Arial"/>
              <a:buNone/>
            </a:pPr>
            <a:r>
              <a:rPr lang="zh-TW" sz="1600" b="0" i="0" u="none" strike="noStrike" cap="none">
                <a:solidFill>
                  <a:schemeClr val="dk1"/>
                </a:solidFill>
                <a:latin typeface="Calibri"/>
                <a:ea typeface="Calibri"/>
                <a:cs typeface="Calibri"/>
                <a:sym typeface="Calibri"/>
              </a:rPr>
              <a:t>Model Evaluation</a:t>
            </a:r>
            <a:endParaRPr sz="1200" b="0" i="0" u="none" strike="noStrike" cap="none">
              <a:solidFill>
                <a:srgbClr val="000000"/>
              </a:solidFill>
              <a:latin typeface="Arial"/>
              <a:ea typeface="Arial"/>
              <a:cs typeface="Arial"/>
              <a:sym typeface="Arial"/>
            </a:endParaRPr>
          </a:p>
        </p:txBody>
      </p:sp>
      <p:cxnSp>
        <p:nvCxnSpPr>
          <p:cNvPr id="322" name="Google Shape;322;g35afffe928d_0_58"/>
          <p:cNvCxnSpPr/>
          <p:nvPr/>
        </p:nvCxnSpPr>
        <p:spPr>
          <a:xfrm rot="10800000" flipH="1">
            <a:off x="4724313" y="3610063"/>
            <a:ext cx="11100" cy="1656000"/>
          </a:xfrm>
          <a:prstGeom prst="straightConnector1">
            <a:avLst/>
          </a:prstGeom>
          <a:noFill/>
          <a:ln w="9525" cap="flat" cmpd="sng">
            <a:solidFill>
              <a:schemeClr val="dk2"/>
            </a:solidFill>
            <a:prstDash val="solid"/>
            <a:round/>
            <a:headEnd type="none" w="sm" len="sm"/>
            <a:tailEnd type="triangle" w="med" len="med"/>
          </a:ln>
        </p:spPr>
      </p:cxnSp>
      <p:sp>
        <p:nvSpPr>
          <p:cNvPr id="323" name="Google Shape;323;g35afffe928d_0_58"/>
          <p:cNvSpPr txBox="1"/>
          <p:nvPr/>
        </p:nvSpPr>
        <p:spPr>
          <a:xfrm>
            <a:off x="9192000" y="5335293"/>
            <a:ext cx="3000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dirty="0"/>
              <a:t>SHAP-based cut-points will be determined on the </a:t>
            </a:r>
            <a:r>
              <a:rPr lang="en-US" b="1" dirty="0"/>
              <a:t>training set</a:t>
            </a:r>
            <a:r>
              <a:rPr lang="zh-TW" sz="1400" b="0" i="0" u="none" strike="noStrike" cap="none" dirty="0">
                <a:solidFill>
                  <a:schemeClr val="dk1"/>
                </a:solidFill>
                <a:latin typeface="Arial"/>
                <a:ea typeface="Arial"/>
                <a:cs typeface="Arial"/>
                <a:sym typeface="Arial"/>
              </a:rPr>
              <a:t>.</a:t>
            </a:r>
            <a:endParaRPr sz="1400" b="1" i="0" u="none" strike="noStrike" cap="none" dirty="0">
              <a:solidFill>
                <a:srgbClr val="000000"/>
              </a:solidFill>
              <a:latin typeface="Arial"/>
              <a:ea typeface="Arial"/>
              <a:cs typeface="Arial"/>
              <a:sym typeface="Arial"/>
            </a:endParaRPr>
          </a:p>
        </p:txBody>
      </p:sp>
      <p:sp>
        <p:nvSpPr>
          <p:cNvPr id="324" name="Google Shape;324;g35afffe928d_0_58"/>
          <p:cNvSpPr txBox="1"/>
          <p:nvPr/>
        </p:nvSpPr>
        <p:spPr>
          <a:xfrm>
            <a:off x="4596000" y="122325"/>
            <a:ext cx="30000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Workflow</a:t>
            </a:r>
            <a:endParaRPr sz="2800" b="1" i="0" u="none" strike="noStrike" cap="none" dirty="0">
              <a:solidFill>
                <a:srgbClr val="000000"/>
              </a:solidFill>
              <a:latin typeface="Calibri"/>
              <a:ea typeface="Calibri"/>
              <a:cs typeface="Calibri"/>
              <a:sym typeface="Calibri"/>
            </a:endParaRPr>
          </a:p>
        </p:txBody>
      </p:sp>
      <p:sp>
        <p:nvSpPr>
          <p:cNvPr id="325" name="Google Shape;325;g35afffe928d_0_58"/>
          <p:cNvSpPr txBox="1"/>
          <p:nvPr/>
        </p:nvSpPr>
        <p:spPr>
          <a:xfrm>
            <a:off x="8348875" y="2698725"/>
            <a:ext cx="2860650"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altLang="zh-TW" sz="1400" b="0" i="0" u="none" strike="noStrike" cap="none" dirty="0">
                <a:solidFill>
                  <a:srgbClr val="000000"/>
                </a:solidFill>
                <a:latin typeface="Arial"/>
                <a:ea typeface="Arial"/>
                <a:cs typeface="Arial"/>
                <a:sym typeface="Arial"/>
              </a:rPr>
              <a:t>The </a:t>
            </a:r>
            <a:r>
              <a:rPr lang="en-US" altLang="zh-TW" sz="1400" b="1" i="0" u="none" strike="noStrike" cap="none" dirty="0">
                <a:solidFill>
                  <a:srgbClr val="000000"/>
                </a:solidFill>
                <a:latin typeface="Arial"/>
                <a:ea typeface="Arial"/>
                <a:cs typeface="Arial"/>
                <a:sym typeface="Arial"/>
              </a:rPr>
              <a:t>log-rank test </a:t>
            </a:r>
            <a:r>
              <a:rPr lang="en-US" altLang="zh-TW" sz="1400" b="0" i="0" u="none" strike="noStrike" cap="none" dirty="0">
                <a:solidFill>
                  <a:srgbClr val="000000"/>
                </a:solidFill>
                <a:latin typeface="Arial"/>
                <a:ea typeface="Arial"/>
                <a:cs typeface="Arial"/>
                <a:sym typeface="Arial"/>
              </a:rPr>
              <a:t>will be applied to compare survival outcomes across SHAP-based groups.</a:t>
            </a:r>
            <a:endParaRPr lang="en-US" sz="1400" b="0" i="0" u="none" strike="noStrike" cap="none" dirty="0">
              <a:solidFill>
                <a:srgbClr val="000000"/>
              </a:solidFill>
              <a:latin typeface="Arial"/>
              <a:ea typeface="Arial"/>
              <a:cs typeface="Arial"/>
              <a:sym typeface="Arial"/>
            </a:endParaRPr>
          </a:p>
        </p:txBody>
      </p:sp>
      <p:sp>
        <p:nvSpPr>
          <p:cNvPr id="6" name="文字方塊 5">
            <a:extLst>
              <a:ext uri="{FF2B5EF4-FFF2-40B4-BE49-F238E27FC236}">
                <a16:creationId xmlns:a16="http://schemas.microsoft.com/office/drawing/2014/main" id="{5F843655-3B10-9CF5-8BA8-AA3AEB3447B4}"/>
              </a:ext>
            </a:extLst>
          </p:cNvPr>
          <p:cNvSpPr txBox="1"/>
          <p:nvPr/>
        </p:nvSpPr>
        <p:spPr>
          <a:xfrm>
            <a:off x="-397183" y="6451325"/>
            <a:ext cx="6177914" cy="705258"/>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2.1 Study Workflow and Data</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2" name="Google Shape;132;p8">
            <a:extLst>
              <a:ext uri="{FF2B5EF4-FFF2-40B4-BE49-F238E27FC236}">
                <a16:creationId xmlns:a16="http://schemas.microsoft.com/office/drawing/2014/main" id="{C73DB347-8D7F-CD61-FA72-54E0B3103639}"/>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21</a:t>
            </a:fld>
            <a:endParaRPr lang="en-US"/>
          </a:p>
        </p:txBody>
      </p:sp>
      <p:sp>
        <p:nvSpPr>
          <p:cNvPr id="3" name="矩形 2">
            <a:extLst>
              <a:ext uri="{FF2B5EF4-FFF2-40B4-BE49-F238E27FC236}">
                <a16:creationId xmlns:a16="http://schemas.microsoft.com/office/drawing/2014/main" id="{208B252C-E80E-B2E5-0341-A6EB90C0F0E1}"/>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Google Shape;443;p27"/>
          <p:cNvSpPr txBox="1">
            <a:spLocks noGrp="1"/>
          </p:cNvSpPr>
          <p:nvPr>
            <p:ph type="sldNum" idx="12"/>
          </p:nvPr>
        </p:nvSpPr>
        <p:spPr>
          <a:xfrm>
            <a:off x="11561463" y="6492875"/>
            <a:ext cx="787400" cy="3651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fld id="{00000000-1234-1234-1234-123412341234}" type="slidenum">
              <a:rPr lang="en-US" altLang="zh-TW"/>
              <a:t>21</a:t>
            </a:fld>
            <a:endParaRPr/>
          </a:p>
        </p:txBody>
      </p:sp>
      <p:sp>
        <p:nvSpPr>
          <p:cNvPr id="4" name="文字方塊 3">
            <a:extLst>
              <a:ext uri="{FF2B5EF4-FFF2-40B4-BE49-F238E27FC236}">
                <a16:creationId xmlns:a16="http://schemas.microsoft.com/office/drawing/2014/main" id="{C2849E87-6D66-85A8-62B4-EC50B11495AE}"/>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2.1 Study Workflow and Data</a:t>
            </a:r>
          </a:p>
        </p:txBody>
      </p:sp>
      <p:sp>
        <p:nvSpPr>
          <p:cNvPr id="6" name="文字方塊 5">
            <a:extLst>
              <a:ext uri="{FF2B5EF4-FFF2-40B4-BE49-F238E27FC236}">
                <a16:creationId xmlns:a16="http://schemas.microsoft.com/office/drawing/2014/main" id="{7CDFA896-1E34-688C-C5DA-EEF295DAC7BB}"/>
              </a:ext>
            </a:extLst>
          </p:cNvPr>
          <p:cNvSpPr txBox="1"/>
          <p:nvPr/>
        </p:nvSpPr>
        <p:spPr>
          <a:xfrm>
            <a:off x="2910840" y="215629"/>
            <a:ext cx="6370320" cy="523220"/>
          </a:xfrm>
          <a:prstGeom prst="rect">
            <a:avLst/>
          </a:prstGeom>
          <a:noFill/>
        </p:spPr>
        <p:txBody>
          <a:bodyPr wrap="square">
            <a:spAutoFit/>
          </a:bodyPr>
          <a:lstStyle/>
          <a:p>
            <a:pPr algn="ctr"/>
            <a:r>
              <a:rPr lang="en-US" sz="2800" b="1" dirty="0">
                <a:latin typeface="Calibri" panose="020F0502020204030204" pitchFamily="34" charset="0"/>
                <a:cs typeface="Calibri" panose="020F0502020204030204" pitchFamily="34" charset="0"/>
              </a:rPr>
              <a:t>Dataset Overview</a:t>
            </a:r>
          </a:p>
        </p:txBody>
      </p:sp>
      <p:sp>
        <p:nvSpPr>
          <p:cNvPr id="8" name="文字方塊 7">
            <a:extLst>
              <a:ext uri="{FF2B5EF4-FFF2-40B4-BE49-F238E27FC236}">
                <a16:creationId xmlns:a16="http://schemas.microsoft.com/office/drawing/2014/main" id="{3504E35F-598B-1C64-3994-933AC5EB00B8}"/>
              </a:ext>
            </a:extLst>
          </p:cNvPr>
          <p:cNvSpPr txBox="1"/>
          <p:nvPr/>
        </p:nvSpPr>
        <p:spPr>
          <a:xfrm>
            <a:off x="876300" y="779227"/>
            <a:ext cx="10439400" cy="5863144"/>
          </a:xfrm>
          <a:prstGeom prst="rect">
            <a:avLst/>
          </a:prstGeom>
          <a:noFill/>
        </p:spPr>
        <p:txBody>
          <a:bodyPr wrap="square">
            <a:spAutoFit/>
          </a:bodyPr>
          <a:lstStyle/>
          <a:p>
            <a:pPr>
              <a:lnSpc>
                <a:spcPct val="150000"/>
              </a:lnSpc>
              <a:buNone/>
            </a:pPr>
            <a:r>
              <a:rPr lang="en-US" sz="2000" b="1" dirty="0">
                <a:latin typeface="Calibri" panose="020F0502020204030204" pitchFamily="34" charset="0"/>
                <a:cs typeface="Calibri" panose="020F0502020204030204" pitchFamily="34" charset="0"/>
              </a:rPr>
              <a:t>Source</a:t>
            </a:r>
          </a:p>
          <a:p>
            <a:pPr lvl="2">
              <a:lnSpc>
                <a:spcPct val="150000"/>
              </a:lnSpc>
            </a:pPr>
            <a:r>
              <a:rPr lang="en-US" sz="1800" dirty="0">
                <a:latin typeface="Calibri" panose="020F0502020204030204" pitchFamily="34" charset="0"/>
                <a:cs typeface="Calibri" panose="020F0502020204030204" pitchFamily="34" charset="0"/>
              </a:rPr>
              <a:t>The dataset was collected from the Department of Radiation Oncology at MacKay Memorial Hospital, Tamsui Branch.</a:t>
            </a:r>
          </a:p>
          <a:p>
            <a:pPr>
              <a:lnSpc>
                <a:spcPct val="150000"/>
              </a:lnSpc>
            </a:pPr>
            <a:r>
              <a:rPr lang="en-US" sz="2000" b="1" dirty="0">
                <a:latin typeface="Calibri" panose="020F0502020204030204" pitchFamily="34" charset="0"/>
                <a:cs typeface="Calibri" panose="020F0502020204030204" pitchFamily="34" charset="0"/>
              </a:rPr>
              <a:t>Study Population</a:t>
            </a: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627 patients</a:t>
            </a:r>
            <a:r>
              <a:rPr lang="en-US" sz="1800" dirty="0">
                <a:latin typeface="Calibri" panose="020F0502020204030204" pitchFamily="34" charset="0"/>
                <a:cs typeface="Calibri" panose="020F0502020204030204" pitchFamily="34" charset="0"/>
              </a:rPr>
              <a:t> diagnosed with </a:t>
            </a:r>
            <a:r>
              <a:rPr lang="en-US" sz="1800" b="1" dirty="0">
                <a:latin typeface="Calibri" panose="020F0502020204030204" pitchFamily="34" charset="0"/>
                <a:cs typeface="Calibri" panose="020F0502020204030204" pitchFamily="34" charset="0"/>
              </a:rPr>
              <a:t>ovarian cancer</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All patients underwent </a:t>
            </a:r>
            <a:r>
              <a:rPr lang="en-US" sz="1800" b="1" dirty="0">
                <a:latin typeface="Calibri" panose="020F0502020204030204" pitchFamily="34" charset="0"/>
                <a:cs typeface="Calibri" panose="020F0502020204030204" pitchFamily="34" charset="0"/>
              </a:rPr>
              <a:t>pre-treatment assessment prior to surgery and chemotherapy</a:t>
            </a:r>
            <a:endParaRPr lang="en-US" sz="2000" dirty="0">
              <a:latin typeface="Calibri" panose="020F0502020204030204" pitchFamily="34" charset="0"/>
              <a:cs typeface="Calibri" panose="020F0502020204030204" pitchFamily="34" charset="0"/>
            </a:endParaRPr>
          </a:p>
          <a:p>
            <a:pPr>
              <a:lnSpc>
                <a:spcPct val="150000"/>
              </a:lnSpc>
              <a:buNone/>
            </a:pPr>
            <a:r>
              <a:rPr lang="en-US" sz="2000" b="1" dirty="0">
                <a:latin typeface="Calibri" panose="020F0502020204030204" pitchFamily="34" charset="0"/>
                <a:cs typeface="Calibri" panose="020F0502020204030204" pitchFamily="34" charset="0"/>
              </a:rPr>
              <a:t>Prediction Targets</a:t>
            </a:r>
          </a:p>
          <a:p>
            <a:pPr>
              <a:lnSpc>
                <a:spcPct val="150000"/>
              </a:lnSpc>
              <a:buNone/>
            </a:pPr>
            <a:r>
              <a:rPr lang="en-US" sz="1800" b="1" dirty="0">
                <a:latin typeface="Calibri" panose="020F0502020204030204" pitchFamily="34" charset="0"/>
                <a:cs typeface="Calibri" panose="020F0502020204030204" pitchFamily="34" charset="0"/>
              </a:rPr>
              <a:t>1. Overall Survival (OS)</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Event</a:t>
            </a:r>
            <a:r>
              <a:rPr lang="en-US" sz="1800" dirty="0">
                <a:latin typeface="Calibri" panose="020F0502020204030204" pitchFamily="34" charset="0"/>
                <a:cs typeface="Calibri" panose="020F0502020204030204" pitchFamily="34" charset="0"/>
              </a:rPr>
              <a:t>: 1 = death</a:t>
            </a:r>
            <a:r>
              <a:rPr lang="zh-TW" altLang="en-US" sz="1800" dirty="0">
                <a:latin typeface="Calibri" panose="020F0502020204030204" pitchFamily="34" charset="0"/>
                <a:cs typeface="Calibri" panose="020F0502020204030204" pitchFamily="34" charset="0"/>
              </a:rPr>
              <a:t> </a:t>
            </a:r>
            <a:r>
              <a:rPr lang="en-US" altLang="zh-TW" sz="1800" dirty="0">
                <a:latin typeface="Calibri" panose="020F0502020204030204" pitchFamily="34" charset="0"/>
                <a:cs typeface="Calibri" panose="020F0502020204030204" pitchFamily="34" charset="0"/>
              </a:rPr>
              <a:t>(n=223)</a:t>
            </a:r>
            <a:r>
              <a:rPr lang="en-US" sz="1800" dirty="0">
                <a:latin typeface="Calibri" panose="020F0502020204030204" pitchFamily="34" charset="0"/>
                <a:cs typeface="Calibri" panose="020F0502020204030204" pitchFamily="34" charset="0"/>
              </a:rPr>
              <a:t>, 0 = censored</a:t>
            </a:r>
            <a:r>
              <a:rPr lang="en-US" altLang="zh-TW" sz="1800" dirty="0">
                <a:latin typeface="Calibri" panose="020F0502020204030204" pitchFamily="34" charset="0"/>
                <a:cs typeface="Calibri" panose="020F0502020204030204" pitchFamily="34" charset="0"/>
              </a:rPr>
              <a:t> (n=404)</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Time</a:t>
            </a:r>
            <a:r>
              <a:rPr lang="en-US" sz="1800" dirty="0">
                <a:latin typeface="Calibri" panose="020F0502020204030204" pitchFamily="34" charset="0"/>
                <a:cs typeface="Calibri" panose="020F0502020204030204" pitchFamily="34" charset="0"/>
              </a:rPr>
              <a:t>: Duration from diagnosis to death or last follow-up (in years)</a:t>
            </a:r>
          </a:p>
          <a:p>
            <a:pPr>
              <a:lnSpc>
                <a:spcPct val="150000"/>
              </a:lnSpc>
              <a:buNone/>
            </a:pPr>
            <a:r>
              <a:rPr lang="en-US" sz="1800" b="1" dirty="0">
                <a:latin typeface="Calibri" panose="020F0502020204030204" pitchFamily="34" charset="0"/>
                <a:cs typeface="Calibri" panose="020F0502020204030204" pitchFamily="34" charset="0"/>
              </a:rPr>
              <a:t>2. Progression-Free Survival (PFS)</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Event</a:t>
            </a:r>
            <a:r>
              <a:rPr lang="en-US" sz="1800" dirty="0">
                <a:latin typeface="Calibri" panose="020F0502020204030204" pitchFamily="34" charset="0"/>
                <a:cs typeface="Calibri" panose="020F0502020204030204" pitchFamily="34" charset="0"/>
              </a:rPr>
              <a:t>: 1 = progression or death</a:t>
            </a:r>
            <a:r>
              <a:rPr lang="en-US" altLang="zh-TW" sz="1800" dirty="0">
                <a:latin typeface="Calibri" panose="020F0502020204030204" pitchFamily="34" charset="0"/>
                <a:cs typeface="Calibri" panose="020F0502020204030204" pitchFamily="34" charset="0"/>
              </a:rPr>
              <a:t> (n=299)</a:t>
            </a:r>
            <a:r>
              <a:rPr lang="en-US" sz="1800" dirty="0">
                <a:latin typeface="Calibri" panose="020F0502020204030204" pitchFamily="34" charset="0"/>
                <a:cs typeface="Calibri" panose="020F0502020204030204" pitchFamily="34" charset="0"/>
              </a:rPr>
              <a:t>, 0 = censored</a:t>
            </a:r>
            <a:r>
              <a:rPr lang="en-US" altLang="zh-TW" sz="1800" dirty="0">
                <a:latin typeface="Calibri" panose="020F0502020204030204" pitchFamily="34" charset="0"/>
                <a:cs typeface="Calibri" panose="020F0502020204030204" pitchFamily="34" charset="0"/>
              </a:rPr>
              <a:t> (n=328)</a:t>
            </a:r>
            <a:endParaRPr lang="en-US" sz="1800" dirty="0">
              <a:latin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Time</a:t>
            </a:r>
            <a:r>
              <a:rPr lang="en-US" sz="1800" dirty="0">
                <a:latin typeface="Calibri" panose="020F0502020204030204" pitchFamily="34" charset="0"/>
                <a:cs typeface="Calibri" panose="020F0502020204030204" pitchFamily="34" charset="0"/>
              </a:rPr>
              <a:t>: Duration from treatment to recurrence/progression/death (in years)</a:t>
            </a:r>
          </a:p>
          <a:p>
            <a:endParaRPr lang="en-US" sz="18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2">
          <a:extLst>
            <a:ext uri="{FF2B5EF4-FFF2-40B4-BE49-F238E27FC236}">
              <a16:creationId xmlns:a16="http://schemas.microsoft.com/office/drawing/2014/main" id="{DD47DC21-0391-E094-E9C4-211F528231CE}"/>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CB83692E-F864-FB3E-52F3-0B55D99382A9}"/>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22</a:t>
            </a:fld>
            <a:endParaRPr lang="en-US"/>
          </a:p>
        </p:txBody>
      </p:sp>
      <p:sp>
        <p:nvSpPr>
          <p:cNvPr id="3" name="矩形 2">
            <a:extLst>
              <a:ext uri="{FF2B5EF4-FFF2-40B4-BE49-F238E27FC236}">
                <a16:creationId xmlns:a16="http://schemas.microsoft.com/office/drawing/2014/main" id="{765283EB-303A-4AC0-E2F4-FCD7A82BD66D}"/>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Google Shape;443;p27">
            <a:extLst>
              <a:ext uri="{FF2B5EF4-FFF2-40B4-BE49-F238E27FC236}">
                <a16:creationId xmlns:a16="http://schemas.microsoft.com/office/drawing/2014/main" id="{EBA26EF5-09FF-5D73-1516-30C8818A7A8C}"/>
              </a:ext>
            </a:extLst>
          </p:cNvPr>
          <p:cNvSpPr txBox="1">
            <a:spLocks noGrp="1"/>
          </p:cNvSpPr>
          <p:nvPr>
            <p:ph type="sldNum" idx="12"/>
          </p:nvPr>
        </p:nvSpPr>
        <p:spPr>
          <a:xfrm>
            <a:off x="11561463" y="6492875"/>
            <a:ext cx="787400" cy="3651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fld id="{00000000-1234-1234-1234-123412341234}" type="slidenum">
              <a:rPr lang="en-US" altLang="zh-TW"/>
              <a:t>22</a:t>
            </a:fld>
            <a:endParaRPr/>
          </a:p>
        </p:txBody>
      </p:sp>
      <p:graphicFrame>
        <p:nvGraphicFramePr>
          <p:cNvPr id="444" name="Google Shape;444;p27">
            <a:extLst>
              <a:ext uri="{FF2B5EF4-FFF2-40B4-BE49-F238E27FC236}">
                <a16:creationId xmlns:a16="http://schemas.microsoft.com/office/drawing/2014/main" id="{E230DB8A-CE66-76C4-481B-7A617E9179D0}"/>
              </a:ext>
            </a:extLst>
          </p:cNvPr>
          <p:cNvGraphicFramePr/>
          <p:nvPr>
            <p:extLst>
              <p:ext uri="{D42A27DB-BD31-4B8C-83A1-F6EECF244321}">
                <p14:modId xmlns:p14="http://schemas.microsoft.com/office/powerpoint/2010/main" val="3873131633"/>
              </p:ext>
            </p:extLst>
          </p:nvPr>
        </p:nvGraphicFramePr>
        <p:xfrm>
          <a:off x="1205944" y="751195"/>
          <a:ext cx="9780112" cy="4944130"/>
        </p:xfrm>
        <a:graphic>
          <a:graphicData uri="http://schemas.openxmlformats.org/drawingml/2006/table">
            <a:tbl>
              <a:tblPr>
                <a:noFill/>
                <a:tableStyleId>{6121C066-12C2-47B8-9F6F-AFCF570762B6}</a:tableStyleId>
              </a:tblPr>
              <a:tblGrid>
                <a:gridCol w="9780112">
                  <a:extLst>
                    <a:ext uri="{9D8B030D-6E8A-4147-A177-3AD203B41FA5}">
                      <a16:colId xmlns:a16="http://schemas.microsoft.com/office/drawing/2014/main" val="20000"/>
                    </a:ext>
                  </a:extLst>
                </a:gridCol>
              </a:tblGrid>
              <a:tr h="254000">
                <a:tc>
                  <a:txBody>
                    <a:bodyPr/>
                    <a:lstStyle/>
                    <a:p>
                      <a:pPr marL="0" marR="0" lvl="0" indent="0" algn="l" rtl="0">
                        <a:lnSpc>
                          <a:spcPct val="150000"/>
                        </a:lnSpc>
                        <a:spcBef>
                          <a:spcPts val="0"/>
                        </a:spcBef>
                        <a:spcAft>
                          <a:spcPts val="0"/>
                        </a:spcAft>
                        <a:buNone/>
                      </a:pPr>
                      <a:r>
                        <a:rPr lang="zh-TW" sz="2400" b="1" u="none" strike="noStrike" cap="none" dirty="0">
                          <a:latin typeface="Calibri" panose="020F0502020204030204" pitchFamily="34" charset="0"/>
                          <a:ea typeface="Calibri"/>
                          <a:cs typeface="Calibri" panose="020F0502020204030204" pitchFamily="34" charset="0"/>
                          <a:sym typeface="Calibri"/>
                        </a:rPr>
                        <a:t>Pre-treatment Features</a:t>
                      </a:r>
                      <a:endParaRPr lang="en-US" altLang="zh-TW" sz="2400" b="1" u="none" strike="noStrike" cap="none" dirty="0">
                        <a:latin typeface="Calibri" panose="020F0502020204030204" pitchFamily="34" charset="0"/>
                        <a:ea typeface="Calibri"/>
                        <a:cs typeface="Calibri" panose="020F0502020204030204" pitchFamily="34" charset="0"/>
                        <a:sym typeface="Calibri"/>
                      </a:endParaRPr>
                    </a:p>
                    <a:p>
                      <a:pPr marL="0" marR="0" lvl="0" indent="0" algn="l" rtl="0">
                        <a:lnSpc>
                          <a:spcPct val="150000"/>
                        </a:lnSpc>
                        <a:spcBef>
                          <a:spcPts val="0"/>
                        </a:spcBef>
                        <a:spcAft>
                          <a:spcPts val="0"/>
                        </a:spcAft>
                        <a:buNone/>
                      </a:pPr>
                      <a:endParaRPr sz="2000"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rgbClr val="000000"/>
                        </a:buClr>
                        <a:buSzPts val="1800"/>
                        <a:buFont typeface="Arial"/>
                        <a:buChar char="•"/>
                      </a:pPr>
                      <a:r>
                        <a:rPr lang="zh-TW" sz="2000" b="1" u="none" strike="noStrike" cap="none" dirty="0">
                          <a:latin typeface="Calibri" panose="020F0502020204030204" pitchFamily="34" charset="0"/>
                          <a:ea typeface="Calibri"/>
                          <a:cs typeface="Calibri" panose="020F0502020204030204" pitchFamily="34" charset="0"/>
                          <a:sym typeface="Calibri"/>
                        </a:rPr>
                        <a:t>Demographics &amp; Body Composition:</a:t>
                      </a:r>
                      <a:endParaRPr sz="2000" u="none" strike="noStrike" cap="none" dirty="0">
                        <a:latin typeface="Calibri" panose="020F0502020204030204" pitchFamily="34" charset="0"/>
                        <a:ea typeface="Calibri"/>
                        <a:cs typeface="Calibri" panose="020F0502020204030204" pitchFamily="34" charset="0"/>
                        <a:sym typeface="Calibri"/>
                      </a:endParaRPr>
                    </a:p>
                    <a:p>
                      <a:pPr marL="0" marR="0" lvl="2" indent="0" algn="l" rtl="0">
                        <a:lnSpc>
                          <a:spcPct val="150000"/>
                        </a:lnSpc>
                        <a:spcBef>
                          <a:spcPts val="0"/>
                        </a:spcBef>
                        <a:spcAft>
                          <a:spcPts val="0"/>
                        </a:spcAft>
                        <a:buNone/>
                      </a:pPr>
                      <a:r>
                        <a:rPr lang="zh-TW" sz="1800" u="none" strike="noStrike" cap="none" dirty="0">
                          <a:latin typeface="Calibri" panose="020F0502020204030204" pitchFamily="34" charset="0"/>
                          <a:ea typeface="Calibri"/>
                          <a:cs typeface="Calibri" panose="020F0502020204030204" pitchFamily="34" charset="0"/>
                          <a:sym typeface="Calibri"/>
                        </a:rPr>
                        <a:t>Age, Body Mass Index (BMI), Skeletal Muscle Index (SMI), Skeletal Muscle Density (SMD)</a:t>
                      </a:r>
                      <a:endParaRPr sz="1800"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rgbClr val="000000"/>
                        </a:buClr>
                        <a:buSzPts val="1800"/>
                        <a:buFont typeface="Arial"/>
                        <a:buChar char="•"/>
                      </a:pPr>
                      <a:r>
                        <a:rPr lang="zh-TW" sz="2000" b="1" u="none" strike="noStrike" cap="none" dirty="0">
                          <a:latin typeface="Calibri" panose="020F0502020204030204" pitchFamily="34" charset="0"/>
                          <a:ea typeface="Calibri"/>
                          <a:cs typeface="Calibri" panose="020F0502020204030204" pitchFamily="34" charset="0"/>
                          <a:sym typeface="Calibri"/>
                        </a:rPr>
                        <a:t>Inflammatory Markers:</a:t>
                      </a:r>
                      <a:endParaRPr sz="2000" u="none" strike="noStrike" cap="none" dirty="0">
                        <a:latin typeface="Calibri" panose="020F0502020204030204" pitchFamily="34" charset="0"/>
                        <a:ea typeface="Calibri"/>
                        <a:cs typeface="Calibri" panose="020F0502020204030204" pitchFamily="34" charset="0"/>
                        <a:sym typeface="Calibri"/>
                      </a:endParaRPr>
                    </a:p>
                    <a:p>
                      <a:pPr marL="0" marR="0" lvl="1" indent="0" algn="l" rtl="0">
                        <a:lnSpc>
                          <a:spcPct val="150000"/>
                        </a:lnSpc>
                        <a:spcBef>
                          <a:spcPts val="0"/>
                        </a:spcBef>
                        <a:spcAft>
                          <a:spcPts val="0"/>
                        </a:spcAft>
                        <a:buNone/>
                      </a:pPr>
                      <a:r>
                        <a:rPr lang="en-US" altLang="zh-TW" sz="1800" u="none" strike="noStrike" cap="none" dirty="0">
                          <a:latin typeface="Calibri" panose="020F0502020204030204" pitchFamily="34" charset="0"/>
                          <a:ea typeface="Calibri"/>
                          <a:cs typeface="Calibri" panose="020F0502020204030204" pitchFamily="34" charset="0"/>
                          <a:sym typeface="Calibri"/>
                        </a:rPr>
                        <a:t>Serum albumin (Alb), </a:t>
                      </a:r>
                      <a:r>
                        <a:rPr lang="zh-TW" sz="1800" u="none" strike="noStrike" cap="none" dirty="0">
                          <a:latin typeface="Calibri" panose="020F0502020204030204" pitchFamily="34" charset="0"/>
                          <a:ea typeface="Calibri"/>
                          <a:cs typeface="Calibri" panose="020F0502020204030204" pitchFamily="34" charset="0"/>
                          <a:sym typeface="Calibri"/>
                        </a:rPr>
                        <a:t>Neutrophil-to-Lymphocyte Ratio (NLR), Platelet-to-Lymphocyte Ratio (PLR)</a:t>
                      </a:r>
                      <a:endParaRPr sz="1800" dirty="0">
                        <a:latin typeface="Calibri" panose="020F0502020204030204" pitchFamily="34" charset="0"/>
                        <a:cs typeface="Calibri" panose="020F0502020204030204" pitchFamily="34" charset="0"/>
                      </a:endParaRPr>
                    </a:p>
                    <a:p>
                      <a:pPr marL="285750" marR="0" lvl="0" indent="-285750" algn="l" rtl="0">
                        <a:lnSpc>
                          <a:spcPct val="150000"/>
                        </a:lnSpc>
                        <a:spcBef>
                          <a:spcPts val="0"/>
                        </a:spcBef>
                        <a:spcAft>
                          <a:spcPts val="0"/>
                        </a:spcAft>
                        <a:buClr>
                          <a:srgbClr val="000000"/>
                        </a:buClr>
                        <a:buSzPts val="1800"/>
                        <a:buFont typeface="Arial"/>
                        <a:buChar char="•"/>
                      </a:pPr>
                      <a:r>
                        <a:rPr lang="zh-TW" sz="2000" b="1" u="none" strike="noStrike" cap="none" dirty="0">
                          <a:latin typeface="Calibri" panose="020F0502020204030204" pitchFamily="34" charset="0"/>
                          <a:ea typeface="Calibri"/>
                          <a:cs typeface="Calibri" panose="020F0502020204030204" pitchFamily="34" charset="0"/>
                          <a:sym typeface="Calibri"/>
                        </a:rPr>
                        <a:t>Clinical Risk Indicators:</a:t>
                      </a:r>
                      <a:endParaRPr sz="2000" u="none" strike="noStrike" cap="none" dirty="0">
                        <a:latin typeface="Calibri" panose="020F0502020204030204" pitchFamily="34" charset="0"/>
                        <a:ea typeface="Calibri"/>
                        <a:cs typeface="Calibri" panose="020F0502020204030204" pitchFamily="34" charset="0"/>
                        <a:sym typeface="Calibri"/>
                      </a:endParaRPr>
                    </a:p>
                    <a:p>
                      <a:pPr marL="0" marR="0" lvl="2" indent="0" algn="l" rtl="0">
                        <a:lnSpc>
                          <a:spcPct val="150000"/>
                        </a:lnSpc>
                        <a:spcBef>
                          <a:spcPts val="0"/>
                        </a:spcBef>
                        <a:spcAft>
                          <a:spcPts val="0"/>
                        </a:spcAft>
                        <a:buNone/>
                      </a:pPr>
                      <a:r>
                        <a:rPr lang="zh-TW" sz="1800" i="0" u="none" strike="noStrike" cap="none" dirty="0">
                          <a:latin typeface="Calibri" panose="020F0502020204030204" pitchFamily="34" charset="0"/>
                          <a:ea typeface="Calibri"/>
                          <a:cs typeface="Calibri" panose="020F0502020204030204" pitchFamily="34" charset="0"/>
                          <a:sym typeface="Calibri"/>
                        </a:rPr>
                        <a:t>Malignant ascites (1 = malignant, 0 = non-malignant or none)</a:t>
                      </a:r>
                      <a:endParaRPr sz="1800" dirty="0">
                        <a:latin typeface="Calibri" panose="020F0502020204030204" pitchFamily="34" charset="0"/>
                        <a:cs typeface="Calibri" panose="020F0502020204030204" pitchFamily="34" charset="0"/>
                      </a:endParaRPr>
                    </a:p>
                    <a:p>
                      <a:pPr marL="0" marR="0" lvl="2" indent="0" algn="l" rtl="0">
                        <a:lnSpc>
                          <a:spcPct val="150000"/>
                        </a:lnSpc>
                        <a:spcBef>
                          <a:spcPts val="0"/>
                        </a:spcBef>
                        <a:spcAft>
                          <a:spcPts val="0"/>
                        </a:spcAft>
                        <a:buNone/>
                      </a:pPr>
                      <a:r>
                        <a:rPr lang="zh-TW" sz="1800" i="0" u="none" strike="noStrike" cap="none" dirty="0">
                          <a:latin typeface="Calibri" panose="020F0502020204030204" pitchFamily="34" charset="0"/>
                          <a:ea typeface="Calibri"/>
                          <a:cs typeface="Calibri" panose="020F0502020204030204" pitchFamily="34" charset="0"/>
                          <a:sym typeface="Calibri"/>
                        </a:rPr>
                        <a:t>FIGO</a:t>
                      </a:r>
                      <a:r>
                        <a:rPr lang="en-US" altLang="zh-TW" sz="1800" i="0" u="none" strike="noStrike" cap="none" dirty="0">
                          <a:latin typeface="Calibri" panose="020F0502020204030204" pitchFamily="34" charset="0"/>
                          <a:ea typeface="Calibri"/>
                          <a:cs typeface="Calibri" panose="020F0502020204030204" pitchFamily="34" charset="0"/>
                          <a:sym typeface="Calibri"/>
                        </a:rPr>
                        <a:t> </a:t>
                      </a:r>
                      <a:r>
                        <a:rPr lang="en-US" sz="1800" dirty="0">
                          <a:latin typeface="Calibri" panose="020F0502020204030204" pitchFamily="34" charset="0"/>
                          <a:cs typeface="Calibri" panose="020F0502020204030204" pitchFamily="34" charset="0"/>
                        </a:rPr>
                        <a:t>（International Federation of Gynecology and Obstetrics)</a:t>
                      </a:r>
                      <a:r>
                        <a:rPr lang="zh-TW" sz="1800" i="0" u="none" strike="noStrike" cap="none" dirty="0">
                          <a:latin typeface="Calibri" panose="020F0502020204030204" pitchFamily="34" charset="0"/>
                          <a:ea typeface="Calibri"/>
                          <a:cs typeface="Calibri" panose="020F0502020204030204" pitchFamily="34" charset="0"/>
                          <a:sym typeface="Calibri"/>
                        </a:rPr>
                        <a:t> stage grouping (0 = Stage I/II, 1 = Stage III/IV)</a:t>
                      </a:r>
                      <a:endParaRPr sz="1800"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1" indent="0" algn="l" rtl="0">
                        <a:lnSpc>
                          <a:spcPct val="150000"/>
                        </a:lnSpc>
                        <a:spcBef>
                          <a:spcPts val="0"/>
                        </a:spcBef>
                        <a:spcAft>
                          <a:spcPts val="0"/>
                        </a:spcAft>
                        <a:buNone/>
                      </a:pPr>
                      <a:endParaRPr sz="1800" u="none" strike="noStrike" cap="none"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 name="文字方塊 3">
            <a:extLst>
              <a:ext uri="{FF2B5EF4-FFF2-40B4-BE49-F238E27FC236}">
                <a16:creationId xmlns:a16="http://schemas.microsoft.com/office/drawing/2014/main" id="{28CCAABA-5F50-BE6C-DBA8-3E64A2D7A18E}"/>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2.1 Study Workflow and Data</a:t>
            </a:r>
          </a:p>
        </p:txBody>
      </p:sp>
    </p:spTree>
    <p:extLst>
      <p:ext uri="{BB962C8B-B14F-4D97-AF65-F5344CB8AC3E}">
        <p14:creationId xmlns:p14="http://schemas.microsoft.com/office/powerpoint/2010/main" val="295994650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2" name="Google Shape;132;p8">
            <a:extLst>
              <a:ext uri="{FF2B5EF4-FFF2-40B4-BE49-F238E27FC236}">
                <a16:creationId xmlns:a16="http://schemas.microsoft.com/office/drawing/2014/main" id="{D464F47A-E758-CDDD-B8F2-B495CDFD8E37}"/>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23</a:t>
            </a:fld>
            <a:endParaRPr lang="en-US"/>
          </a:p>
        </p:txBody>
      </p:sp>
      <p:sp>
        <p:nvSpPr>
          <p:cNvPr id="3" name="矩形 2">
            <a:extLst>
              <a:ext uri="{FF2B5EF4-FFF2-40B4-BE49-F238E27FC236}">
                <a16:creationId xmlns:a16="http://schemas.microsoft.com/office/drawing/2014/main" id="{7D7E82A8-CBF2-A6EA-E4A7-61077080EE2C}"/>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Google Shape;331;g35aa69b00f9_0_52"/>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23</a:t>
            </a:fld>
            <a:endParaRPr/>
          </a:p>
        </p:txBody>
      </p:sp>
      <p:graphicFrame>
        <p:nvGraphicFramePr>
          <p:cNvPr id="332" name="Google Shape;332;g35aa69b00f9_0_52"/>
          <p:cNvGraphicFramePr/>
          <p:nvPr>
            <p:extLst>
              <p:ext uri="{D42A27DB-BD31-4B8C-83A1-F6EECF244321}">
                <p14:modId xmlns:p14="http://schemas.microsoft.com/office/powerpoint/2010/main" val="635699054"/>
              </p:ext>
            </p:extLst>
          </p:nvPr>
        </p:nvGraphicFramePr>
        <p:xfrm>
          <a:off x="471764" y="889310"/>
          <a:ext cx="11248472" cy="5582790"/>
        </p:xfrm>
        <a:graphic>
          <a:graphicData uri="http://schemas.openxmlformats.org/drawingml/2006/table">
            <a:tbl>
              <a:tblPr>
                <a:noFill/>
                <a:tableStyleId>{9131E142-F8EF-4464-ABEE-8F79346A5F01}</a:tableStyleId>
              </a:tblPr>
              <a:tblGrid>
                <a:gridCol w="2017436">
                  <a:extLst>
                    <a:ext uri="{9D8B030D-6E8A-4147-A177-3AD203B41FA5}">
                      <a16:colId xmlns:a16="http://schemas.microsoft.com/office/drawing/2014/main" val="20000"/>
                    </a:ext>
                  </a:extLst>
                </a:gridCol>
                <a:gridCol w="4637035">
                  <a:extLst>
                    <a:ext uri="{9D8B030D-6E8A-4147-A177-3AD203B41FA5}">
                      <a16:colId xmlns:a16="http://schemas.microsoft.com/office/drawing/2014/main" val="20002"/>
                    </a:ext>
                  </a:extLst>
                </a:gridCol>
                <a:gridCol w="4594001">
                  <a:extLst>
                    <a:ext uri="{9D8B030D-6E8A-4147-A177-3AD203B41FA5}">
                      <a16:colId xmlns:a16="http://schemas.microsoft.com/office/drawing/2014/main" val="719294027"/>
                    </a:ext>
                  </a:extLst>
                </a:gridCol>
              </a:tblGrid>
              <a:tr h="628675">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a:latin typeface="Calibri" panose="020F0502020204030204" pitchFamily="34" charset="0"/>
                          <a:ea typeface="Calibri"/>
                          <a:cs typeface="Calibri" panose="020F0502020204030204" pitchFamily="34" charset="0"/>
                          <a:sym typeface="Calibri"/>
                        </a:rPr>
                        <a:t>Model</a:t>
                      </a:r>
                      <a:endParaRPr sz="1800" b="1" u="none" strike="noStrike" cap="none">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Mechanism</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50000"/>
                        </a:lnSpc>
                        <a:spcBef>
                          <a:spcPts val="0"/>
                        </a:spcBef>
                        <a:spcAft>
                          <a:spcPts val="0"/>
                        </a:spcAft>
                        <a:buClr>
                          <a:srgbClr val="000000"/>
                        </a:buClr>
                        <a:buSzPts val="1800"/>
                        <a:buFont typeface="Arial"/>
                        <a:buNone/>
                        <a:tabLst/>
                        <a:defRPr/>
                      </a:pPr>
                      <a:r>
                        <a:rPr lang="en-US" sz="1800" dirty="0">
                          <a:latin typeface="Calibri" panose="020F0502020204030204" pitchFamily="34" charset="0"/>
                          <a:cs typeface="Calibri" panose="020F0502020204030204" pitchFamily="34" charset="0"/>
                        </a:rPr>
                        <a:t>Notes</a:t>
                      </a:r>
                      <a:endParaRPr lang="en-US" sz="1800" b="1" u="none" strike="noStrike" cap="none" dirty="0">
                        <a:latin typeface="Calibri" panose="020F0502020204030204" pitchFamily="34" charset="0"/>
                        <a:ea typeface="Calibri"/>
                        <a:cs typeface="Calibri" panose="020F0502020204030204" pitchFamily="34" charset="0"/>
                        <a:sym typeface="Calibri"/>
                      </a:endParaRPr>
                    </a:p>
                    <a:p>
                      <a:pPr marL="0" marR="0" lvl="0" indent="0" algn="ctr" rtl="0">
                        <a:lnSpc>
                          <a:spcPct val="150000"/>
                        </a:lnSpc>
                        <a:spcBef>
                          <a:spcPts val="0"/>
                        </a:spcBef>
                        <a:spcAft>
                          <a:spcPts val="0"/>
                        </a:spcAft>
                        <a:buClr>
                          <a:srgbClr val="000000"/>
                        </a:buClr>
                        <a:buSzPts val="1800"/>
                        <a:buFont typeface="Arial"/>
                        <a:buNone/>
                      </a:pP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41665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panose="020F0502020204030204" pitchFamily="34" charset="0"/>
                          <a:ea typeface="Calibri"/>
                          <a:cs typeface="Calibri" panose="020F0502020204030204" pitchFamily="34" charset="0"/>
                          <a:sym typeface="Calibri"/>
                        </a:rPr>
                        <a:t>Cox Proportional Hazards</a:t>
                      </a:r>
                      <a:endParaRPr sz="1800" b="1" u="none" strike="noStrike" cap="none">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rgbClr val="888888"/>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Linear regression model that estimates the log-hazard function with proportional hazards assumption.</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28575" cap="flat" cmpd="sng" algn="ctr">
                      <a:solidFill>
                        <a:schemeClr val="dk1"/>
                      </a:solidFill>
                      <a:prstDash val="solid"/>
                      <a:round/>
                      <a:headEnd type="none" w="sm" len="sm"/>
                      <a:tailEnd type="none" w="sm" len="sm"/>
                    </a:lnT>
                    <a:lnB w="9525" cap="flat" cmpd="sng" algn="ctr">
                      <a:solidFill>
                        <a:srgbClr val="888888"/>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Interpretable.</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Assumes proportional hazards.</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lgn="ctr">
                      <a:solidFill>
                        <a:schemeClr val="dk1"/>
                      </a:solidFill>
                      <a:prstDash val="solid"/>
                      <a:round/>
                      <a:headEnd type="none" w="sm" len="sm"/>
                      <a:tailEnd type="none" w="sm" len="sm"/>
                    </a:lnT>
                    <a:lnB w="9525" cap="flat" cmpd="sng" algn="ctr">
                      <a:solidFill>
                        <a:srgbClr val="888888"/>
                      </a:solidFill>
                      <a:prstDash val="solid"/>
                      <a:round/>
                      <a:headEnd type="none" w="sm" len="sm"/>
                      <a:tailEnd type="none" w="sm" len="sm"/>
                    </a:lnB>
                  </a:tcPr>
                </a:tc>
                <a:extLst>
                  <a:ext uri="{0D108BD9-81ED-4DB2-BD59-A6C34878D82A}">
                    <a16:rowId xmlns:a16="http://schemas.microsoft.com/office/drawing/2014/main" val="10001"/>
                  </a:ext>
                </a:extLst>
              </a:tr>
              <a:tr h="141665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panose="020F0502020204030204" pitchFamily="34" charset="0"/>
                          <a:ea typeface="Calibri"/>
                          <a:cs typeface="Calibri" panose="020F0502020204030204" pitchFamily="34" charset="0"/>
                          <a:sym typeface="Calibri"/>
                        </a:rPr>
                        <a:t>Random Survival Forest (RSF)</a:t>
                      </a:r>
                      <a:endParaRPr sz="1800" b="1" u="none" strike="noStrike" cap="none">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Ensemble of decision trees built on bootstrapped samples; splits nodes by </a:t>
                      </a:r>
                      <a:r>
                        <a:rPr lang="en-US" sz="1800" b="1" dirty="0">
                          <a:latin typeface="Calibri" panose="020F0502020204030204" pitchFamily="34" charset="0"/>
                          <a:cs typeface="Calibri" panose="020F0502020204030204" pitchFamily="34" charset="0"/>
                        </a:rPr>
                        <a:t>maximizing survival difference using log-rank </a:t>
                      </a:r>
                      <a:r>
                        <a:rPr lang="en-US" sz="1800" dirty="0">
                          <a:latin typeface="Calibri" panose="020F0502020204030204" pitchFamily="34" charset="0"/>
                          <a:cs typeface="Calibri" panose="020F0502020204030204" pitchFamily="34" charset="0"/>
                        </a:rPr>
                        <a:t>test.</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888888"/>
                      </a:solidFill>
                      <a:prstDash val="solid"/>
                      <a:round/>
                      <a:headEnd type="none" w="sm" len="sm"/>
                      <a:tailEnd type="none" w="sm" len="sm"/>
                    </a:lnT>
                    <a:lnB w="9525" cap="flat" cmpd="sng" algn="ctr">
                      <a:solidFill>
                        <a:srgbClr val="888888"/>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Handles nonlinearity and censoring.</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Outputs survival curves</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888888"/>
                      </a:solidFill>
                      <a:prstDash val="solid"/>
                      <a:round/>
                      <a:headEnd type="none" w="sm" len="sm"/>
                      <a:tailEnd type="none" w="sm" len="sm"/>
                    </a:lnT>
                    <a:lnB w="9525" cap="flat" cmpd="sng" algn="ctr">
                      <a:solidFill>
                        <a:srgbClr val="888888"/>
                      </a:solidFill>
                      <a:prstDash val="solid"/>
                      <a:round/>
                      <a:headEnd type="none" w="sm" len="sm"/>
                      <a:tailEnd type="none" w="sm" len="sm"/>
                    </a:lnB>
                  </a:tcPr>
                </a:tc>
                <a:extLst>
                  <a:ext uri="{0D108BD9-81ED-4DB2-BD59-A6C34878D82A}">
                    <a16:rowId xmlns:a16="http://schemas.microsoft.com/office/drawing/2014/main" val="10002"/>
                  </a:ext>
                </a:extLst>
              </a:tr>
              <a:tr h="141665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dirty="0">
                          <a:latin typeface="Calibri" panose="020F0502020204030204" pitchFamily="34" charset="0"/>
                          <a:ea typeface="Calibri"/>
                          <a:cs typeface="Calibri" panose="020F0502020204030204" pitchFamily="34" charset="0"/>
                          <a:sym typeface="Calibri"/>
                        </a:rPr>
                        <a:t>XGBoost Survival Embedding</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Modified </a:t>
                      </a:r>
                      <a:r>
                        <a:rPr lang="en-US" sz="1800" dirty="0" err="1">
                          <a:latin typeface="Calibri" panose="020F0502020204030204" pitchFamily="34" charset="0"/>
                          <a:cs typeface="Calibri" panose="020F0502020204030204" pitchFamily="34" charset="0"/>
                        </a:rPr>
                        <a:t>XGBoost</a:t>
                      </a:r>
                      <a:r>
                        <a:rPr lang="en-US" sz="1800" dirty="0">
                          <a:latin typeface="Calibri" panose="020F0502020204030204" pitchFamily="34" charset="0"/>
                          <a:cs typeface="Calibri" panose="020F0502020204030204" pitchFamily="34" charset="0"/>
                        </a:rPr>
                        <a:t> with </a:t>
                      </a:r>
                      <a:r>
                        <a:rPr lang="en-US" sz="1800" b="1" dirty="0">
                          <a:latin typeface="Calibri" panose="020F0502020204030204" pitchFamily="34" charset="0"/>
                          <a:cs typeface="Calibri" panose="020F0502020204030204" pitchFamily="34" charset="0"/>
                        </a:rPr>
                        <a:t>Cox loss function</a:t>
                      </a:r>
                      <a:r>
                        <a:rPr lang="en-US" sz="1800" dirty="0">
                          <a:latin typeface="Calibri" panose="020F0502020204030204" pitchFamily="34" charset="0"/>
                          <a:cs typeface="Calibri" panose="020F0502020204030204" pitchFamily="34" charset="0"/>
                        </a:rPr>
                        <a:t>; maps features to sparse high-dimensional embeddings for modeling nonlinearity.</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88888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Reduces noise and dimensionality.</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Models nonlinear effects</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888888"/>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33" name="Google Shape;333;g35aa69b00f9_0_52"/>
          <p:cNvSpPr txBox="1"/>
          <p:nvPr/>
        </p:nvSpPr>
        <p:spPr>
          <a:xfrm>
            <a:off x="4280731" y="210309"/>
            <a:ext cx="3000000" cy="680156"/>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2500"/>
              <a:buFont typeface="Arial"/>
              <a:buNone/>
            </a:pPr>
            <a:r>
              <a:rPr lang="zh-TW" sz="2800" b="1" i="0" u="none" strike="noStrike" cap="none" dirty="0">
                <a:solidFill>
                  <a:schemeClr val="dk1"/>
                </a:solidFill>
                <a:latin typeface="Calibri"/>
                <a:ea typeface="Calibri"/>
                <a:cs typeface="Calibri"/>
                <a:sym typeface="Calibri"/>
              </a:rPr>
              <a:t>Model </a:t>
            </a:r>
            <a:endParaRPr sz="2800" b="0" i="0" u="none" strike="noStrike" cap="none" dirty="0">
              <a:solidFill>
                <a:srgbClr val="000000"/>
              </a:solidFill>
              <a:latin typeface="Arial"/>
              <a:ea typeface="Arial"/>
              <a:cs typeface="Arial"/>
              <a:sym typeface="Arial"/>
            </a:endParaRPr>
          </a:p>
        </p:txBody>
      </p:sp>
      <p:sp>
        <p:nvSpPr>
          <p:cNvPr id="4" name="文字方塊 3">
            <a:extLst>
              <a:ext uri="{FF2B5EF4-FFF2-40B4-BE49-F238E27FC236}">
                <a16:creationId xmlns:a16="http://schemas.microsoft.com/office/drawing/2014/main" id="{7BAA949C-C129-86D8-9881-8E9A98E1AF2B}"/>
              </a:ext>
            </a:extLst>
          </p:cNvPr>
          <p:cNvSpPr txBox="1"/>
          <p:nvPr/>
        </p:nvSpPr>
        <p:spPr>
          <a:xfrm>
            <a:off x="-397183" y="6451325"/>
            <a:ext cx="6177914" cy="705258"/>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2.2 Survival Modeling and Evaluation</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2" name="Google Shape;132;p8">
            <a:extLst>
              <a:ext uri="{FF2B5EF4-FFF2-40B4-BE49-F238E27FC236}">
                <a16:creationId xmlns:a16="http://schemas.microsoft.com/office/drawing/2014/main" id="{0CD59710-2CAD-573F-6EAD-54E2C4B949EA}"/>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24</a:t>
            </a:fld>
            <a:endParaRPr lang="en-US"/>
          </a:p>
        </p:txBody>
      </p:sp>
      <p:sp>
        <p:nvSpPr>
          <p:cNvPr id="3" name="矩形 2">
            <a:extLst>
              <a:ext uri="{FF2B5EF4-FFF2-40B4-BE49-F238E27FC236}">
                <a16:creationId xmlns:a16="http://schemas.microsoft.com/office/drawing/2014/main" id="{954B14DD-7433-F2EC-0E7A-C07BC16D3E66}"/>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Google Shape;339;g35afffe928d_0_106"/>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24</a:t>
            </a:fld>
            <a:endParaRPr/>
          </a:p>
        </p:txBody>
      </p:sp>
      <p:graphicFrame>
        <p:nvGraphicFramePr>
          <p:cNvPr id="340" name="Google Shape;340;g35afffe928d_0_106"/>
          <p:cNvGraphicFramePr/>
          <p:nvPr>
            <p:extLst>
              <p:ext uri="{D42A27DB-BD31-4B8C-83A1-F6EECF244321}">
                <p14:modId xmlns:p14="http://schemas.microsoft.com/office/powerpoint/2010/main" val="3247186565"/>
              </p:ext>
            </p:extLst>
          </p:nvPr>
        </p:nvGraphicFramePr>
        <p:xfrm>
          <a:off x="615330" y="591087"/>
          <a:ext cx="11339882" cy="5561655"/>
        </p:xfrm>
        <a:graphic>
          <a:graphicData uri="http://schemas.openxmlformats.org/drawingml/2006/table">
            <a:tbl>
              <a:tblPr>
                <a:noFill/>
                <a:tableStyleId>{9131E142-F8EF-4464-ABEE-8F79346A5F01}</a:tableStyleId>
              </a:tblPr>
              <a:tblGrid>
                <a:gridCol w="2378492">
                  <a:extLst>
                    <a:ext uri="{9D8B030D-6E8A-4147-A177-3AD203B41FA5}">
                      <a16:colId xmlns:a16="http://schemas.microsoft.com/office/drawing/2014/main" val="20000"/>
                    </a:ext>
                  </a:extLst>
                </a:gridCol>
                <a:gridCol w="4480695">
                  <a:extLst>
                    <a:ext uri="{9D8B030D-6E8A-4147-A177-3AD203B41FA5}">
                      <a16:colId xmlns:a16="http://schemas.microsoft.com/office/drawing/2014/main" val="20002"/>
                    </a:ext>
                  </a:extLst>
                </a:gridCol>
                <a:gridCol w="4480695">
                  <a:extLst>
                    <a:ext uri="{9D8B030D-6E8A-4147-A177-3AD203B41FA5}">
                      <a16:colId xmlns:a16="http://schemas.microsoft.com/office/drawing/2014/main" val="3167114242"/>
                    </a:ext>
                  </a:extLst>
                </a:gridCol>
              </a:tblGrid>
              <a:tr h="567175">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a:latin typeface="Calibri" panose="020F0502020204030204" pitchFamily="34" charset="0"/>
                          <a:ea typeface="Calibri"/>
                          <a:cs typeface="Calibri" panose="020F0502020204030204" pitchFamily="34" charset="0"/>
                          <a:sym typeface="Calibri"/>
                        </a:rPr>
                        <a:t>Model</a:t>
                      </a:r>
                      <a:endParaRPr sz="1800" b="1" u="none" strike="noStrike" cap="none">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Mechanism</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lgn="ctr">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Notes</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400175">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dirty="0">
                          <a:latin typeface="Calibri" panose="020F0502020204030204" pitchFamily="34" charset="0"/>
                          <a:ea typeface="Calibri"/>
                          <a:cs typeface="Calibri" panose="020F0502020204030204" pitchFamily="34" charset="0"/>
                          <a:sym typeface="Calibri"/>
                        </a:rPr>
                        <a:t>Survival Support Vector Machine (Survival SVM)</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Extends SVM to censored data by </a:t>
                      </a:r>
                      <a:r>
                        <a:rPr lang="en-US" sz="1800" b="1" dirty="0">
                          <a:latin typeface="Calibri" panose="020F0502020204030204" pitchFamily="34" charset="0"/>
                          <a:cs typeface="Calibri" panose="020F0502020204030204" pitchFamily="34" charset="0"/>
                        </a:rPr>
                        <a:t>optimizing a ranking loss </a:t>
                      </a:r>
                      <a:r>
                        <a:rPr lang="en-US" sz="1800" dirty="0">
                          <a:latin typeface="Calibri" panose="020F0502020204030204" pitchFamily="34" charset="0"/>
                          <a:cs typeface="Calibri" panose="020F0502020204030204" pitchFamily="34" charset="0"/>
                        </a:rPr>
                        <a:t>that respects survival ordering</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28575"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Focuses on risk ranking.</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Good for small datasets</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3966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panose="020F0502020204030204" pitchFamily="34" charset="0"/>
                          <a:ea typeface="Calibri"/>
                          <a:cs typeface="Calibri" panose="020F0502020204030204" pitchFamily="34" charset="0"/>
                          <a:sym typeface="Calibri"/>
                        </a:rPr>
                        <a:t>DeepSurv</a:t>
                      </a:r>
                      <a:endParaRPr sz="1800" b="1" u="none" strike="noStrike" cap="none">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Deep feedforward neural network that outputs a nonlinear </a:t>
                      </a:r>
                      <a:r>
                        <a:rPr lang="en-US" sz="1800" b="1" dirty="0">
                          <a:latin typeface="Calibri" panose="020F0502020204030204" pitchFamily="34" charset="0"/>
                          <a:cs typeface="Calibri" panose="020F0502020204030204" pitchFamily="34" charset="0"/>
                        </a:rPr>
                        <a:t>log-risk function </a:t>
                      </a:r>
                      <a:r>
                        <a:rPr lang="en-US" sz="1800" dirty="0">
                          <a:latin typeface="Calibri" panose="020F0502020204030204" pitchFamily="34" charset="0"/>
                          <a:cs typeface="Calibri" panose="020F0502020204030204" pitchFamily="34" charset="0"/>
                        </a:rPr>
                        <a:t>via a single linear node.</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Learns nonlinear risk.</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Outputs relative risk scores</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6299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dirty="0">
                          <a:latin typeface="Calibri" panose="020F0502020204030204" pitchFamily="34" charset="0"/>
                          <a:ea typeface="Calibri"/>
                          <a:cs typeface="Calibri" panose="020F0502020204030204" pitchFamily="34" charset="0"/>
                          <a:sym typeface="Calibri"/>
                        </a:rPr>
                        <a:t>Explainable Boosting Machine (EBM)</a:t>
                      </a:r>
                      <a:endParaRPr sz="1800" b="1"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Based on </a:t>
                      </a:r>
                      <a:r>
                        <a:rPr lang="en-US" sz="1800" b="1" dirty="0">
                          <a:latin typeface="Calibri" panose="020F0502020204030204" pitchFamily="34" charset="0"/>
                          <a:cs typeface="Calibri" panose="020F0502020204030204" pitchFamily="34" charset="0"/>
                        </a:rPr>
                        <a:t>Generalized Additive Models (GAMs)</a:t>
                      </a:r>
                      <a:r>
                        <a:rPr lang="en-US" sz="1800" dirty="0">
                          <a:latin typeface="Calibri" panose="020F0502020204030204" pitchFamily="34" charset="0"/>
                          <a:cs typeface="Calibri" panose="020F0502020204030204" pitchFamily="34" charset="0"/>
                        </a:rPr>
                        <a:t> and </a:t>
                      </a:r>
                      <a:r>
                        <a:rPr lang="en-US" sz="1800" b="1" dirty="0">
                          <a:latin typeface="Calibri" panose="020F0502020204030204" pitchFamily="34" charset="0"/>
                          <a:cs typeface="Calibri" panose="020F0502020204030204" pitchFamily="34" charset="0"/>
                        </a:rPr>
                        <a:t>tree-based cyclic gradient boosting</a:t>
                      </a:r>
                      <a:r>
                        <a:rPr lang="en-US" sz="1800" dirty="0">
                          <a:latin typeface="Calibri" panose="020F0502020204030204" pitchFamily="34" charset="0"/>
                          <a:cs typeface="Calibri" panose="020F0502020204030204" pitchFamily="34" charset="0"/>
                        </a:rPr>
                        <a:t>.</a:t>
                      </a:r>
                    </a:p>
                    <a:p>
                      <a:pPr marL="0" marR="0" lvl="0" indent="0" algn="l" rtl="0">
                        <a:lnSpc>
                          <a:spcPct val="150000"/>
                        </a:lnSpc>
                        <a:spcBef>
                          <a:spcPts val="0"/>
                        </a:spcBef>
                        <a:spcAft>
                          <a:spcPts val="0"/>
                        </a:spcAft>
                        <a:buClr>
                          <a:srgbClr val="000000"/>
                        </a:buClr>
                        <a:buSzPts val="1800"/>
                        <a:buFont typeface="Arial"/>
                        <a:buNone/>
                      </a:pPr>
                      <a:r>
                        <a:rPr lang="en-US" sz="1800" dirty="0">
                          <a:latin typeface="Calibri" panose="020F0502020204030204" pitchFamily="34" charset="0"/>
                          <a:cs typeface="Calibri" panose="020F0502020204030204" pitchFamily="34" charset="0"/>
                        </a:rPr>
                        <a:t>Interpretable additive model using cyclic gradient boosting with one feature per round.</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12700" cap="flat" cmpd="sng" algn="ctr">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Transparent and interpretable.</a:t>
                      </a:r>
                    </a:p>
                    <a:p>
                      <a:pPr marL="285750" marR="0" lvl="0" indent="-285750" algn="l" rtl="0">
                        <a:lnSpc>
                          <a:spcPct val="150000"/>
                        </a:lnSpc>
                        <a:spcBef>
                          <a:spcPts val="0"/>
                        </a:spcBef>
                        <a:spcAft>
                          <a:spcPts val="0"/>
                        </a:spcAft>
                        <a:buClr>
                          <a:srgbClr val="000000"/>
                        </a:buClr>
                        <a:buSzPts val="1800"/>
                        <a:buFont typeface="Arial" panose="020B0604020202020204" pitchFamily="34" charset="0"/>
                        <a:buChar char="•"/>
                      </a:pPr>
                      <a:r>
                        <a:rPr lang="en-US" sz="1800" dirty="0">
                          <a:latin typeface="Calibri" panose="020F0502020204030204" pitchFamily="34" charset="0"/>
                          <a:cs typeface="Calibri" panose="020F0502020204030204" pitchFamily="34" charset="0"/>
                        </a:rPr>
                        <a:t>Shows feature-level impact.</a:t>
                      </a:r>
                      <a:endParaRPr sz="1800" u="none" strike="noStrike" cap="none" dirty="0">
                        <a:latin typeface="Calibri" panose="020F0502020204030204" pitchFamily="34" charset="0"/>
                        <a:ea typeface="Calibri"/>
                        <a:cs typeface="Calibri" panose="020F0502020204030204" pitchFamily="34" charset="0"/>
                        <a:sym typeface="Calibri"/>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 name="文字方塊 4">
            <a:extLst>
              <a:ext uri="{FF2B5EF4-FFF2-40B4-BE49-F238E27FC236}">
                <a16:creationId xmlns:a16="http://schemas.microsoft.com/office/drawing/2014/main" id="{7517B800-F02B-1D90-AC76-16DBA0F3DCA7}"/>
              </a:ext>
            </a:extLst>
          </p:cNvPr>
          <p:cNvSpPr txBox="1"/>
          <p:nvPr/>
        </p:nvSpPr>
        <p:spPr>
          <a:xfrm>
            <a:off x="-397183" y="6451325"/>
            <a:ext cx="6177914" cy="705258"/>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2.2 Survival Modeling and Evaluation</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2" name="Google Shape;132;p8">
            <a:extLst>
              <a:ext uri="{FF2B5EF4-FFF2-40B4-BE49-F238E27FC236}">
                <a16:creationId xmlns:a16="http://schemas.microsoft.com/office/drawing/2014/main" id="{5DB2E97D-2A11-CD4F-42C4-96267B3374F2}"/>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25</a:t>
            </a:fld>
            <a:endParaRPr lang="en-US"/>
          </a:p>
        </p:txBody>
      </p:sp>
      <p:sp>
        <p:nvSpPr>
          <p:cNvPr id="3" name="矩形 2">
            <a:extLst>
              <a:ext uri="{FF2B5EF4-FFF2-40B4-BE49-F238E27FC236}">
                <a16:creationId xmlns:a16="http://schemas.microsoft.com/office/drawing/2014/main" id="{60F28007-6AA9-E83A-53E0-91CE4E73A942}"/>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Google Shape;346;g35afffe928d_0_116"/>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25</a:t>
            </a:fld>
            <a:endParaRPr/>
          </a:p>
        </p:txBody>
      </p:sp>
      <p:sp>
        <p:nvSpPr>
          <p:cNvPr id="347" name="Google Shape;347;g35afffe928d_0_116"/>
          <p:cNvSpPr txBox="1"/>
          <p:nvPr/>
        </p:nvSpPr>
        <p:spPr>
          <a:xfrm>
            <a:off x="2246677" y="47822"/>
            <a:ext cx="7698645" cy="987932"/>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800"/>
              </a:spcBef>
              <a:spcAft>
                <a:spcPts val="600"/>
              </a:spcAft>
              <a:buClr>
                <a:srgbClr val="000000"/>
              </a:buClr>
              <a:buSzPts val="2500"/>
              <a:buFont typeface="Arial"/>
              <a:buNone/>
            </a:pPr>
            <a:r>
              <a:rPr lang="zh-TW" sz="2800" b="1" i="0" u="none" strike="noStrike" cap="none" dirty="0">
                <a:solidFill>
                  <a:srgbClr val="1F1F1F"/>
                </a:solidFill>
                <a:latin typeface="Calibri"/>
                <a:ea typeface="Calibri"/>
                <a:cs typeface="Calibri"/>
                <a:sym typeface="Calibri"/>
              </a:rPr>
              <a:t>Evaluation metrics</a:t>
            </a:r>
            <a:endParaRPr sz="2800" b="1" i="0" u="none" strike="noStrike" cap="none" dirty="0">
              <a:solidFill>
                <a:srgbClr val="1F1F1F"/>
              </a:solidFill>
              <a:latin typeface="Calibri"/>
              <a:ea typeface="Calibri"/>
              <a:cs typeface="Calibri"/>
              <a:sym typeface="Calibri"/>
            </a:endParaRPr>
          </a:p>
        </p:txBody>
      </p:sp>
      <p:graphicFrame>
        <p:nvGraphicFramePr>
          <p:cNvPr id="348" name="Google Shape;348;g35afffe928d_0_116"/>
          <p:cNvGraphicFramePr/>
          <p:nvPr>
            <p:extLst>
              <p:ext uri="{D42A27DB-BD31-4B8C-83A1-F6EECF244321}">
                <p14:modId xmlns:p14="http://schemas.microsoft.com/office/powerpoint/2010/main" val="4235952527"/>
              </p:ext>
            </p:extLst>
          </p:nvPr>
        </p:nvGraphicFramePr>
        <p:xfrm>
          <a:off x="290624" y="1525802"/>
          <a:ext cx="11664588" cy="4790410"/>
        </p:xfrm>
        <a:graphic>
          <a:graphicData uri="http://schemas.openxmlformats.org/drawingml/2006/table">
            <a:tbl>
              <a:tblPr>
                <a:noFill/>
                <a:tableStyleId>{9131E142-F8EF-4464-ABEE-8F79346A5F01}</a:tableStyleId>
              </a:tblPr>
              <a:tblGrid>
                <a:gridCol w="1773828">
                  <a:extLst>
                    <a:ext uri="{9D8B030D-6E8A-4147-A177-3AD203B41FA5}">
                      <a16:colId xmlns:a16="http://schemas.microsoft.com/office/drawing/2014/main" val="20000"/>
                    </a:ext>
                  </a:extLst>
                </a:gridCol>
                <a:gridCol w="1640579">
                  <a:extLst>
                    <a:ext uri="{9D8B030D-6E8A-4147-A177-3AD203B41FA5}">
                      <a16:colId xmlns:a16="http://schemas.microsoft.com/office/drawing/2014/main" val="20001"/>
                    </a:ext>
                  </a:extLst>
                </a:gridCol>
                <a:gridCol w="1796609">
                  <a:extLst>
                    <a:ext uri="{9D8B030D-6E8A-4147-A177-3AD203B41FA5}">
                      <a16:colId xmlns:a16="http://schemas.microsoft.com/office/drawing/2014/main" val="20002"/>
                    </a:ext>
                  </a:extLst>
                </a:gridCol>
                <a:gridCol w="6453572">
                  <a:extLst>
                    <a:ext uri="{9D8B030D-6E8A-4147-A177-3AD203B41FA5}">
                      <a16:colId xmlns:a16="http://schemas.microsoft.com/office/drawing/2014/main" val="20003"/>
                    </a:ext>
                  </a:extLst>
                </a:gridCol>
              </a:tblGrid>
              <a:tr h="643475">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dirty="0">
                          <a:latin typeface="Calibri"/>
                          <a:ea typeface="Calibri"/>
                          <a:cs typeface="Calibri"/>
                          <a:sym typeface="Calibri"/>
                        </a:rPr>
                        <a:t>Metric</a:t>
                      </a:r>
                      <a:endParaRPr sz="1800" b="1"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a:solidFill>
                            <a:srgbClr val="1B1B1B"/>
                          </a:solidFill>
                          <a:latin typeface="Calibri"/>
                          <a:ea typeface="Calibri"/>
                          <a:cs typeface="Calibri"/>
                          <a:sym typeface="Calibri"/>
                        </a:rPr>
                        <a:t>Aspect of Performance</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altLang="zh-TW" sz="1800" b="1" u="none" strike="noStrike" cap="none" dirty="0">
                          <a:solidFill>
                            <a:srgbClr val="1B1B1B"/>
                          </a:solidFill>
                          <a:latin typeface="Calibri"/>
                          <a:ea typeface="Calibri"/>
                          <a:cs typeface="Calibri"/>
                          <a:sym typeface="Calibri"/>
                        </a:rPr>
                        <a:t>Model Output Type</a:t>
                      </a:r>
                      <a:endParaRPr sz="1800" b="1"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Description</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323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solidFill>
                            <a:schemeClr val="dk1"/>
                          </a:solidFill>
                          <a:latin typeface="Calibri"/>
                          <a:ea typeface="Calibri"/>
                          <a:cs typeface="Calibri"/>
                          <a:sym typeface="Calibri"/>
                        </a:rPr>
                        <a:t>C-index</a:t>
                      </a:r>
                      <a:endParaRPr sz="1800" b="1" u="none" strike="noStrike" cap="none">
                        <a:solidFill>
                          <a:schemeClr val="dk1"/>
                        </a:solidFill>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Discrimination </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Time-</a:t>
                      </a:r>
                      <a:endParaRPr sz="1800" u="none" strike="noStrike" cap="none">
                        <a:solidFill>
                          <a:srgbClr val="1B1B1B"/>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independent</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altLang="zh-TW" sz="1800" u="none" strike="noStrike" cap="none" dirty="0">
                          <a:latin typeface="Calibri"/>
                          <a:ea typeface="Calibri"/>
                          <a:cs typeface="Calibri"/>
                          <a:sym typeface="Calibri"/>
                        </a:rPr>
                        <a:t>Agreement between the predicted vs. the observed order of the events</a:t>
                      </a:r>
                      <a:r>
                        <a:rPr lang="zh-TW" sz="1800" u="none" strike="noStrike" cap="none" dirty="0">
                          <a:latin typeface="Calibri"/>
                          <a:ea typeface="Calibri"/>
                          <a:cs typeface="Calibri"/>
                          <a:sym typeface="Calibri"/>
                        </a:rPr>
                        <a:t>. </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323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Time-</a:t>
                      </a:r>
                      <a:endParaRPr sz="1800" b="1" u="none" strike="noStrike" cap="none">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dependent AUC</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Discrimination </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Time-</a:t>
                      </a:r>
                      <a:endParaRPr sz="1800" u="none" strike="noStrike" cap="none">
                        <a:solidFill>
                          <a:srgbClr val="1B1B1B"/>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dependen</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solidFill>
                            <a:schemeClr val="dk1"/>
                          </a:solidFill>
                          <a:latin typeface="Calibri"/>
                          <a:ea typeface="Calibri"/>
                          <a:cs typeface="Calibri"/>
                          <a:sym typeface="Calibri"/>
                        </a:rPr>
                        <a:t>Reflects the probability that a patient who experiences the event </a:t>
                      </a:r>
                      <a:r>
                        <a:rPr lang="zh-TW" sz="1800" b="1" u="none" strike="noStrike" cap="none" dirty="0">
                          <a:solidFill>
                            <a:schemeClr val="dk1"/>
                          </a:solidFill>
                          <a:latin typeface="Calibri"/>
                          <a:ea typeface="Calibri"/>
                          <a:cs typeface="Calibri"/>
                          <a:sym typeface="Calibri"/>
                        </a:rPr>
                        <a:t>before a given time</a:t>
                      </a:r>
                      <a:r>
                        <a:rPr lang="zh-TW" sz="1800" u="none" strike="noStrike" cap="none" dirty="0">
                          <a:solidFill>
                            <a:schemeClr val="dk1"/>
                          </a:solidFill>
                          <a:latin typeface="Calibri"/>
                          <a:ea typeface="Calibri"/>
                          <a:cs typeface="Calibri"/>
                          <a:sym typeface="Calibri"/>
                        </a:rPr>
                        <a:t> is assigned a </a:t>
                      </a:r>
                      <a:r>
                        <a:rPr lang="zh-TW" sz="1800" b="1" u="none" strike="noStrike" cap="none" dirty="0">
                          <a:solidFill>
                            <a:schemeClr val="dk1"/>
                          </a:solidFill>
                          <a:latin typeface="Calibri"/>
                          <a:ea typeface="Calibri"/>
                          <a:cs typeface="Calibri"/>
                          <a:sym typeface="Calibri"/>
                        </a:rPr>
                        <a:t>higher risk score</a:t>
                      </a:r>
                      <a:r>
                        <a:rPr lang="zh-TW" sz="1800" u="none" strike="noStrike" cap="none" dirty="0">
                          <a:solidFill>
                            <a:schemeClr val="dk1"/>
                          </a:solidFill>
                          <a:latin typeface="Calibri"/>
                          <a:ea typeface="Calibri"/>
                          <a:cs typeface="Calibri"/>
                          <a:sym typeface="Calibri"/>
                        </a:rPr>
                        <a:t> than one who survives longer or is censored.</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20100">
                <a:tc>
                  <a:txBody>
                    <a:bodyPr/>
                    <a:lstStyle/>
                    <a:p>
                      <a:pPr marL="0" marR="0" lvl="0" indent="0" algn="l" rtl="0">
                        <a:lnSpc>
                          <a:spcPct val="150000"/>
                        </a:lnSpc>
                        <a:spcBef>
                          <a:spcPts val="0"/>
                        </a:spcBef>
                        <a:spcAft>
                          <a:spcPts val="0"/>
                        </a:spcAft>
                        <a:buClr>
                          <a:srgbClr val="000000"/>
                        </a:buClr>
                        <a:buSzPts val="1800"/>
                        <a:buFont typeface="Arial"/>
                        <a:buNone/>
                      </a:pPr>
                      <a:r>
                        <a:rPr lang="en-US" altLang="zh-TW" sz="1800" b="1" u="none" strike="noStrike" cap="none" dirty="0">
                          <a:latin typeface="Calibri"/>
                          <a:ea typeface="Calibri"/>
                          <a:cs typeface="Calibri"/>
                          <a:sym typeface="Calibri"/>
                        </a:rPr>
                        <a:t>Calibration plot</a:t>
                      </a:r>
                      <a:endParaRPr sz="1800" b="1"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altLang="zh-TW" sz="1800" u="none" strike="noStrike" cap="none" dirty="0">
                          <a:latin typeface="Calibri"/>
                          <a:ea typeface="Calibri"/>
                          <a:cs typeface="Calibri"/>
                          <a:sym typeface="Calibri"/>
                        </a:rPr>
                        <a:t>Calibration</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Time-</a:t>
                      </a:r>
                      <a:endParaRPr sz="1800" u="none" strike="noStrike" cap="none">
                        <a:solidFill>
                          <a:srgbClr val="1B1B1B"/>
                        </a:solidFill>
                        <a:latin typeface="Calibri"/>
                        <a:ea typeface="Calibri"/>
                        <a:cs typeface="Calibri"/>
                        <a:sym typeface="Calibri"/>
                      </a:endParaRPr>
                    </a:p>
                    <a:p>
                      <a:pPr marL="0" marR="0" lvl="0" indent="0" algn="l" rtl="0">
                        <a:lnSpc>
                          <a:spcPct val="150000"/>
                        </a:lnSpc>
                        <a:spcBef>
                          <a:spcPts val="0"/>
                        </a:spcBef>
                        <a:spcAft>
                          <a:spcPts val="0"/>
                        </a:spcAft>
                        <a:buClr>
                          <a:srgbClr val="000000"/>
                        </a:buClr>
                        <a:buSzPts val="1800"/>
                        <a:buFont typeface="Arial"/>
                        <a:buNone/>
                      </a:pPr>
                      <a:r>
                        <a:rPr lang="zh-TW" sz="1800" u="none" strike="noStrike" cap="none">
                          <a:solidFill>
                            <a:srgbClr val="1B1B1B"/>
                          </a:solidFill>
                          <a:latin typeface="Calibri"/>
                          <a:ea typeface="Calibri"/>
                          <a:cs typeface="Calibri"/>
                          <a:sym typeface="Calibri"/>
                        </a:rPr>
                        <a:t>dependent</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en-US" altLang="zh-TW" sz="1800" u="none" strike="noStrike" cap="none" dirty="0">
                          <a:latin typeface="Calibri"/>
                          <a:ea typeface="Calibri"/>
                          <a:cs typeface="Calibri"/>
                          <a:sym typeface="Calibri"/>
                        </a:rPr>
                        <a:t>Plot of the event probability values predicted by a model against the observed event probabilities.</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 name="文字方塊 3">
            <a:extLst>
              <a:ext uri="{FF2B5EF4-FFF2-40B4-BE49-F238E27FC236}">
                <a16:creationId xmlns:a16="http://schemas.microsoft.com/office/drawing/2014/main" id="{09A04DE8-D9BF-ADA4-914C-3F4BC9826A68}"/>
              </a:ext>
            </a:extLst>
          </p:cNvPr>
          <p:cNvSpPr txBox="1"/>
          <p:nvPr/>
        </p:nvSpPr>
        <p:spPr>
          <a:xfrm>
            <a:off x="-397183" y="6451325"/>
            <a:ext cx="6177914" cy="705258"/>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2.2 Survival Modeling and Evaluation</a:t>
            </a:r>
          </a:p>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 </a:t>
            </a:r>
            <a:endParaRPr lang="en-US" sz="1400" b="0" i="0" u="none" strike="noStrike" cap="none" dirty="0">
              <a:solidFill>
                <a:schemeClr val="bg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2" name="Google Shape;132;p8">
            <a:extLst>
              <a:ext uri="{FF2B5EF4-FFF2-40B4-BE49-F238E27FC236}">
                <a16:creationId xmlns:a16="http://schemas.microsoft.com/office/drawing/2014/main" id="{B1115A70-A108-E04A-D8FA-EFF7B05C4192}"/>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26</a:t>
            </a:fld>
            <a:endParaRPr lang="en-US"/>
          </a:p>
        </p:txBody>
      </p:sp>
      <p:sp>
        <p:nvSpPr>
          <p:cNvPr id="3" name="矩形 2">
            <a:extLst>
              <a:ext uri="{FF2B5EF4-FFF2-40B4-BE49-F238E27FC236}">
                <a16:creationId xmlns:a16="http://schemas.microsoft.com/office/drawing/2014/main" id="{4E114DBA-2A17-1D2D-198D-1BF70915D0B0}"/>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Google Shape;354;g35aa69b00f9_0_19"/>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26</a:t>
            </a:fld>
            <a:endParaRPr/>
          </a:p>
        </p:txBody>
      </p:sp>
      <p:sp>
        <p:nvSpPr>
          <p:cNvPr id="355" name="Google Shape;355;g35aa69b00f9_0_19"/>
          <p:cNvSpPr txBox="1"/>
          <p:nvPr/>
        </p:nvSpPr>
        <p:spPr>
          <a:xfrm>
            <a:off x="3103425" y="184751"/>
            <a:ext cx="598515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chemeClr val="dk1"/>
                </a:solidFill>
                <a:latin typeface="Calibri"/>
                <a:ea typeface="Calibri"/>
                <a:cs typeface="Calibri"/>
                <a:sym typeface="Calibri"/>
              </a:rPr>
              <a:t>Model Interpretability</a:t>
            </a:r>
            <a:endParaRPr sz="2800" b="0" i="0" u="none" strike="noStrike" cap="none" dirty="0">
              <a:solidFill>
                <a:srgbClr val="000000"/>
              </a:solidFill>
              <a:latin typeface="Calibri"/>
              <a:ea typeface="Calibri"/>
              <a:cs typeface="Calibri"/>
              <a:sym typeface="Calibri"/>
            </a:endParaRPr>
          </a:p>
        </p:txBody>
      </p:sp>
      <p:graphicFrame>
        <p:nvGraphicFramePr>
          <p:cNvPr id="356" name="Google Shape;356;g35aa69b00f9_0_19"/>
          <p:cNvGraphicFramePr/>
          <p:nvPr>
            <p:extLst>
              <p:ext uri="{D42A27DB-BD31-4B8C-83A1-F6EECF244321}">
                <p14:modId xmlns:p14="http://schemas.microsoft.com/office/powerpoint/2010/main" val="93992158"/>
              </p:ext>
            </p:extLst>
          </p:nvPr>
        </p:nvGraphicFramePr>
        <p:xfrm>
          <a:off x="551875" y="1434700"/>
          <a:ext cx="11009575" cy="4404845"/>
        </p:xfrm>
        <a:graphic>
          <a:graphicData uri="http://schemas.openxmlformats.org/drawingml/2006/table">
            <a:tbl>
              <a:tblPr>
                <a:noFill/>
                <a:tableStyleId>{9131E142-F8EF-4464-ABEE-8F79346A5F01}</a:tableStyleId>
              </a:tblPr>
              <a:tblGrid>
                <a:gridCol w="1750225">
                  <a:extLst>
                    <a:ext uri="{9D8B030D-6E8A-4147-A177-3AD203B41FA5}">
                      <a16:colId xmlns:a16="http://schemas.microsoft.com/office/drawing/2014/main" val="20000"/>
                    </a:ext>
                  </a:extLst>
                </a:gridCol>
                <a:gridCol w="3810775">
                  <a:extLst>
                    <a:ext uri="{9D8B030D-6E8A-4147-A177-3AD203B41FA5}">
                      <a16:colId xmlns:a16="http://schemas.microsoft.com/office/drawing/2014/main" val="20001"/>
                    </a:ext>
                  </a:extLst>
                </a:gridCol>
                <a:gridCol w="5448575">
                  <a:extLst>
                    <a:ext uri="{9D8B030D-6E8A-4147-A177-3AD203B41FA5}">
                      <a16:colId xmlns:a16="http://schemas.microsoft.com/office/drawing/2014/main" val="20002"/>
                    </a:ext>
                  </a:extLst>
                </a:gridCol>
              </a:tblGrid>
              <a:tr h="228600">
                <a:tc>
                  <a:txBody>
                    <a:bodyPr/>
                    <a:lstStyle/>
                    <a:p>
                      <a:pPr marL="0" marR="0" lvl="0" indent="0" algn="ctr"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Comparison</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altLang="zh-TW" sz="1800" b="1" i="0" u="none" strike="noStrike" cap="none" dirty="0" err="1">
                          <a:solidFill>
                            <a:schemeClr val="dk1"/>
                          </a:solidFill>
                          <a:latin typeface="Calibri"/>
                          <a:ea typeface="Calibri"/>
                          <a:cs typeface="Calibri"/>
                          <a:sym typeface="Calibri"/>
                        </a:rPr>
                        <a:t>SH</a:t>
                      </a:r>
                      <a:r>
                        <a:rPr lang="en-US" altLang="zh-TW" sz="1800" b="0" i="0" u="none" strike="noStrike" cap="none" dirty="0" err="1">
                          <a:solidFill>
                            <a:schemeClr val="dk1"/>
                          </a:solidFill>
                          <a:latin typeface="Calibri"/>
                          <a:ea typeface="Calibri"/>
                          <a:cs typeface="Calibri"/>
                          <a:sym typeface="Calibri"/>
                        </a:rPr>
                        <a:t>apley</a:t>
                      </a:r>
                      <a:r>
                        <a:rPr lang="en-US" altLang="zh-TW" sz="1800" b="0" i="0" u="none" strike="noStrike" cap="none" dirty="0">
                          <a:solidFill>
                            <a:schemeClr val="dk1"/>
                          </a:solidFill>
                          <a:latin typeface="Calibri"/>
                          <a:ea typeface="Calibri"/>
                          <a:cs typeface="Calibri"/>
                          <a:sym typeface="Calibri"/>
                        </a:rPr>
                        <a:t> </a:t>
                      </a:r>
                      <a:r>
                        <a:rPr lang="en-US" altLang="zh-TW" sz="1800" b="1" i="0" u="none" strike="noStrike" cap="none" dirty="0">
                          <a:solidFill>
                            <a:schemeClr val="dk1"/>
                          </a:solidFill>
                          <a:latin typeface="Calibri"/>
                          <a:ea typeface="Calibri"/>
                          <a:cs typeface="Calibri"/>
                          <a:sym typeface="Calibri"/>
                        </a:rPr>
                        <a:t>A</a:t>
                      </a:r>
                      <a:r>
                        <a:rPr lang="en-US" altLang="zh-TW" sz="1800" b="0" i="0" u="none" strike="noStrike" cap="none" dirty="0">
                          <a:solidFill>
                            <a:schemeClr val="dk1"/>
                          </a:solidFill>
                          <a:latin typeface="Calibri"/>
                          <a:ea typeface="Calibri"/>
                          <a:cs typeface="Calibri"/>
                          <a:sym typeface="Calibri"/>
                        </a:rPr>
                        <a:t>dditive </a:t>
                      </a:r>
                      <a:r>
                        <a:rPr lang="en-US" altLang="zh-TW" sz="1800" b="0" i="0" u="none" strike="noStrike" cap="none" dirty="0" err="1">
                          <a:solidFill>
                            <a:schemeClr val="dk1"/>
                          </a:solidFill>
                          <a:latin typeface="Calibri"/>
                          <a:ea typeface="Calibri"/>
                          <a:cs typeface="Calibri"/>
                          <a:sym typeface="Calibri"/>
                        </a:rPr>
                        <a:t>ex</a:t>
                      </a:r>
                      <a:r>
                        <a:rPr lang="en-US" altLang="zh-TW" sz="1800" b="1" i="0" u="none" strike="noStrike" cap="none" dirty="0" err="1">
                          <a:solidFill>
                            <a:schemeClr val="dk1"/>
                          </a:solidFill>
                          <a:latin typeface="Calibri"/>
                          <a:ea typeface="Calibri"/>
                          <a:cs typeface="Calibri"/>
                          <a:sym typeface="Calibri"/>
                        </a:rPr>
                        <a:t>P</a:t>
                      </a:r>
                      <a:r>
                        <a:rPr lang="en-US" altLang="zh-TW" sz="1800" b="0" i="0" u="none" strike="noStrike" cap="none" dirty="0" err="1">
                          <a:solidFill>
                            <a:schemeClr val="dk1"/>
                          </a:solidFill>
                          <a:latin typeface="Calibri"/>
                          <a:ea typeface="Calibri"/>
                          <a:cs typeface="Calibri"/>
                          <a:sym typeface="Calibri"/>
                        </a:rPr>
                        <a:t>lanations</a:t>
                      </a:r>
                      <a:endParaRPr sz="1800" b="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50000"/>
                        </a:lnSpc>
                        <a:spcBef>
                          <a:spcPts val="0"/>
                        </a:spcBef>
                        <a:spcAft>
                          <a:spcPts val="0"/>
                        </a:spcAft>
                        <a:buClr>
                          <a:srgbClr val="000000"/>
                        </a:buClr>
                        <a:buSzPts val="1800"/>
                        <a:buFont typeface="Arial"/>
                        <a:buNone/>
                      </a:pPr>
                      <a:r>
                        <a:rPr lang="en-US" altLang="zh-TW" sz="1800" b="1" u="none" strike="noStrike" cap="none" dirty="0" err="1">
                          <a:latin typeface="Calibri"/>
                          <a:ea typeface="Calibri"/>
                          <a:cs typeface="Calibri"/>
                          <a:sym typeface="Calibri"/>
                        </a:rPr>
                        <a:t>SurvSHAP</a:t>
                      </a:r>
                      <a:r>
                        <a:rPr lang="en-US" altLang="zh-TW" sz="1800" b="1" u="none" strike="noStrike" cap="none" dirty="0">
                          <a:latin typeface="Calibri"/>
                          <a:ea typeface="Calibri"/>
                          <a:cs typeface="Calibri"/>
                          <a:sym typeface="Calibri"/>
                        </a:rPr>
                        <a:t>(t)</a:t>
                      </a:r>
                      <a:r>
                        <a:rPr lang="zh-TW" altLang="en-US" sz="1800" b="1" u="none" strike="noStrike" cap="none" dirty="0">
                          <a:latin typeface="Calibri"/>
                          <a:ea typeface="Calibri"/>
                          <a:cs typeface="Calibri"/>
                          <a:sym typeface="Calibri"/>
                        </a:rPr>
                        <a:t> </a:t>
                      </a:r>
                      <a:r>
                        <a:rPr lang="en-US" altLang="zh-TW" sz="1800" b="0" u="none" strike="noStrike" cap="none" dirty="0">
                          <a:latin typeface="Calibri"/>
                          <a:ea typeface="Calibri"/>
                          <a:cs typeface="Calibri"/>
                          <a:sym typeface="Calibri"/>
                        </a:rPr>
                        <a:t>(Time-dependent SHAP </a:t>
                      </a:r>
                      <a:r>
                        <a:rPr lang="zh-TW" sz="1800" b="0" u="none" strike="noStrike" cap="none" dirty="0">
                          <a:latin typeface="Calibri"/>
                          <a:ea typeface="Calibri"/>
                          <a:cs typeface="Calibri"/>
                          <a:sym typeface="Calibri"/>
                        </a:rPr>
                        <a:t>)</a:t>
                      </a:r>
                      <a:endParaRPr sz="1800" b="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Prediction Target</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Event risk (scalar risk score)</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Risk function or survival probability at different time points</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Interpretation</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Global or individual contribution to overall risk</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Feature importance dynamics across the time dimension</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19075">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Threshold Detection</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Yes ( identifies static cut-points based on risk score)</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Yes (supports identification of dynamic cut-points over time)</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lnSpc>
                          <a:spcPct val="150000"/>
                        </a:lnSpc>
                        <a:spcBef>
                          <a:spcPts val="0"/>
                        </a:spcBef>
                        <a:spcAft>
                          <a:spcPts val="0"/>
                        </a:spcAft>
                        <a:buClr>
                          <a:srgbClr val="000000"/>
                        </a:buClr>
                        <a:buSzPts val="1800"/>
                        <a:buFont typeface="Arial"/>
                        <a:buNone/>
                      </a:pPr>
                      <a:r>
                        <a:rPr lang="zh-TW" sz="1800" b="1" u="none" strike="noStrike" cap="none">
                          <a:latin typeface="Calibri"/>
                          <a:ea typeface="Calibri"/>
                          <a:cs typeface="Calibri"/>
                          <a:sym typeface="Calibri"/>
                        </a:rPr>
                        <a:t>Time-awareness</a:t>
                      </a:r>
                      <a:endParaRPr sz="1800" b="1"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a:latin typeface="Calibri"/>
                          <a:ea typeface="Calibri"/>
                          <a:cs typeface="Calibri"/>
                          <a:sym typeface="Calibri"/>
                        </a:rPr>
                        <a:t>Aggregation may lose temporal signals; cannot model time-varying effects</a:t>
                      </a:r>
                      <a:endParaRPr sz="1800" u="none" strike="noStrike" cap="none">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50000"/>
                        </a:lnSpc>
                        <a:spcBef>
                          <a:spcPts val="0"/>
                        </a:spcBef>
                        <a:spcAft>
                          <a:spcPts val="0"/>
                        </a:spcAft>
                        <a:buClr>
                          <a:srgbClr val="000000"/>
                        </a:buClr>
                        <a:buSzPts val="1800"/>
                        <a:buFont typeface="Arial"/>
                        <a:buNone/>
                      </a:pPr>
                      <a:r>
                        <a:rPr lang="zh-TW" sz="1800" u="none" strike="noStrike" cap="none" dirty="0">
                          <a:latin typeface="Calibri"/>
                          <a:ea typeface="Calibri"/>
                          <a:cs typeface="Calibri"/>
                          <a:sym typeface="Calibri"/>
                        </a:rPr>
                        <a:t>Preserves temporal structure and captures feature importance over time</a:t>
                      </a:r>
                      <a:endParaRPr sz="1800" u="none" strike="noStrike" cap="none" dirty="0">
                        <a:latin typeface="Calibri"/>
                        <a:ea typeface="Calibri"/>
                        <a:cs typeface="Calibri"/>
                        <a:sym typeface="Calibri"/>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 name="文字方塊 3">
            <a:extLst>
              <a:ext uri="{FF2B5EF4-FFF2-40B4-BE49-F238E27FC236}">
                <a16:creationId xmlns:a16="http://schemas.microsoft.com/office/drawing/2014/main" id="{F49C1ED3-8204-9ED8-B55F-EAECAF020CCD}"/>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2" name="Google Shape;132;p8">
            <a:extLst>
              <a:ext uri="{FF2B5EF4-FFF2-40B4-BE49-F238E27FC236}">
                <a16:creationId xmlns:a16="http://schemas.microsoft.com/office/drawing/2014/main" id="{41D147A9-DDAC-CB1B-AF2B-DEF765A64D70}"/>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27</a:t>
            </a:fld>
            <a:endParaRPr lang="en-US"/>
          </a:p>
        </p:txBody>
      </p:sp>
      <p:sp>
        <p:nvSpPr>
          <p:cNvPr id="3" name="矩形 2">
            <a:extLst>
              <a:ext uri="{FF2B5EF4-FFF2-40B4-BE49-F238E27FC236}">
                <a16:creationId xmlns:a16="http://schemas.microsoft.com/office/drawing/2014/main" id="{4203A583-53E6-4D8F-006F-75497B035D15}"/>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Google Shape;362;g35d24a1ea2c_0_13"/>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27</a:t>
            </a:fld>
            <a:endParaRPr/>
          </a:p>
        </p:txBody>
      </p:sp>
      <p:sp>
        <p:nvSpPr>
          <p:cNvPr id="363" name="Google Shape;363;g35d24a1ea2c_0_13"/>
          <p:cNvSpPr txBox="1"/>
          <p:nvPr/>
        </p:nvSpPr>
        <p:spPr>
          <a:xfrm>
            <a:off x="2649400" y="57939"/>
            <a:ext cx="7005000" cy="830966"/>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2600"/>
              <a:buFont typeface="Arial"/>
              <a:buNone/>
            </a:pPr>
            <a:r>
              <a:rPr lang="zh-TW" sz="2800" b="1" i="0" u="none" strike="noStrike" cap="none" dirty="0">
                <a:solidFill>
                  <a:schemeClr val="dk1"/>
                </a:solidFill>
                <a:latin typeface="Calibri"/>
                <a:ea typeface="Calibri"/>
                <a:cs typeface="Calibri"/>
                <a:sym typeface="Calibri"/>
              </a:rPr>
              <a:t>SHAP (SHapley Additive exPlanations)</a:t>
            </a:r>
            <a:endParaRPr sz="2800" b="0" i="0" u="none" strike="noStrike" cap="none" dirty="0">
              <a:solidFill>
                <a:srgbClr val="000000"/>
              </a:solidFill>
              <a:latin typeface="Arial"/>
              <a:ea typeface="Arial"/>
              <a:cs typeface="Arial"/>
              <a:sym typeface="Arial"/>
            </a:endParaRPr>
          </a:p>
        </p:txBody>
      </p:sp>
      <p:sp>
        <p:nvSpPr>
          <p:cNvPr id="364" name="Google Shape;364;g35d24a1ea2c_0_13"/>
          <p:cNvSpPr txBox="1"/>
          <p:nvPr/>
        </p:nvSpPr>
        <p:spPr>
          <a:xfrm>
            <a:off x="1227425" y="1186050"/>
            <a:ext cx="9508308" cy="1193373"/>
          </a:xfrm>
          <a:prstGeom prst="rect">
            <a:avLst/>
          </a:prstGeom>
          <a:noFill/>
          <a:ln>
            <a:noFill/>
          </a:ln>
        </p:spPr>
        <p:txBody>
          <a:bodyPr spcFirstLastPara="1" wrap="square" lIns="91425" tIns="91425" rIns="91425" bIns="91425" anchor="t" anchorCtr="0">
            <a:spAutoFit/>
          </a:bodyPr>
          <a:lstStyle/>
          <a:p>
            <a:pPr marL="457200" marR="0" lvl="0" indent="-349250" algn="l" rtl="0">
              <a:lnSpc>
                <a:spcPct val="115000"/>
              </a:lnSpc>
              <a:spcBef>
                <a:spcPts val="0"/>
              </a:spcBef>
              <a:spcAft>
                <a:spcPts val="0"/>
              </a:spcAft>
              <a:buClr>
                <a:srgbClr val="000000"/>
              </a:buClr>
              <a:buSzPts val="1900"/>
              <a:buFont typeface="Calibri"/>
              <a:buChar char="●"/>
            </a:pPr>
            <a:r>
              <a:rPr lang="zh-TW" sz="1900" b="0" i="0" u="none" strike="noStrike" cap="none" dirty="0">
                <a:solidFill>
                  <a:srgbClr val="000000"/>
                </a:solidFill>
                <a:latin typeface="Calibri"/>
                <a:ea typeface="Calibri"/>
                <a:cs typeface="Calibri"/>
                <a:sym typeface="Calibri"/>
              </a:rPr>
              <a:t>It quantifies each feature’s contribution to predictions, enhancing transparency in complex models.</a:t>
            </a:r>
            <a:endParaRPr sz="1900" b="0" i="0" u="none" strike="noStrike" cap="none" dirty="0">
              <a:solidFill>
                <a:srgbClr val="000000"/>
              </a:solidFill>
              <a:latin typeface="Calibri"/>
              <a:ea typeface="Calibri"/>
              <a:cs typeface="Calibri"/>
              <a:sym typeface="Calibri"/>
            </a:endParaRPr>
          </a:p>
          <a:p>
            <a:pPr marL="457200" marR="0" lvl="0" indent="-349250" algn="l" rtl="0">
              <a:lnSpc>
                <a:spcPct val="115000"/>
              </a:lnSpc>
              <a:spcBef>
                <a:spcPts val="0"/>
              </a:spcBef>
              <a:spcAft>
                <a:spcPts val="0"/>
              </a:spcAft>
              <a:buClr>
                <a:srgbClr val="000000"/>
              </a:buClr>
              <a:buSzPts val="1900"/>
              <a:buFont typeface="Calibri"/>
              <a:buChar char="●"/>
            </a:pPr>
            <a:r>
              <a:rPr lang="zh-TW" sz="1900" b="0" i="0" u="none" strike="noStrike" cap="none" dirty="0">
                <a:solidFill>
                  <a:srgbClr val="000000"/>
                </a:solidFill>
                <a:latin typeface="Calibri"/>
                <a:ea typeface="Calibri"/>
                <a:cs typeface="Calibri"/>
                <a:sym typeface="Calibri"/>
              </a:rPr>
              <a:t>It offers both local (per-sample) and global (overall) explanations.</a:t>
            </a:r>
            <a:endParaRPr sz="1900" b="0" i="0" u="none" strike="noStrike" cap="none" dirty="0">
              <a:solidFill>
                <a:srgbClr val="000000"/>
              </a:solidFill>
              <a:latin typeface="Calibri"/>
              <a:ea typeface="Calibri"/>
              <a:cs typeface="Calibri"/>
              <a:sym typeface="Calibri"/>
            </a:endParaRPr>
          </a:p>
        </p:txBody>
      </p:sp>
      <p:sp>
        <p:nvSpPr>
          <p:cNvPr id="365" name="Google Shape;365;g35d24a1ea2c_0_13"/>
          <p:cNvSpPr txBox="1"/>
          <p:nvPr/>
        </p:nvSpPr>
        <p:spPr>
          <a:xfrm>
            <a:off x="458788" y="2885075"/>
            <a:ext cx="3000000" cy="477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zh-TW" sz="1900" b="0" i="0" u="none" strike="noStrike" cap="none">
                <a:solidFill>
                  <a:srgbClr val="000000"/>
                </a:solidFill>
                <a:latin typeface="Calibri"/>
                <a:ea typeface="Calibri"/>
                <a:cs typeface="Calibri"/>
                <a:sym typeface="Calibri"/>
              </a:rPr>
              <a:t>Beeswarm Plot</a:t>
            </a:r>
            <a:endParaRPr sz="1900" b="0" i="0" u="none" strike="noStrike" cap="none">
              <a:solidFill>
                <a:srgbClr val="000000"/>
              </a:solidFill>
              <a:latin typeface="Calibri"/>
              <a:ea typeface="Calibri"/>
              <a:cs typeface="Calibri"/>
              <a:sym typeface="Calibri"/>
            </a:endParaRPr>
          </a:p>
        </p:txBody>
      </p:sp>
      <p:sp>
        <p:nvSpPr>
          <p:cNvPr id="366" name="Google Shape;366;g35d24a1ea2c_0_13"/>
          <p:cNvSpPr txBox="1"/>
          <p:nvPr/>
        </p:nvSpPr>
        <p:spPr>
          <a:xfrm>
            <a:off x="4596000" y="2885075"/>
            <a:ext cx="3000000" cy="477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zh-TW" sz="1900" b="0" i="0" u="none" strike="noStrike" cap="none">
                <a:solidFill>
                  <a:srgbClr val="000000"/>
                </a:solidFill>
                <a:latin typeface="Calibri"/>
                <a:ea typeface="Calibri"/>
                <a:cs typeface="Calibri"/>
                <a:sym typeface="Calibri"/>
              </a:rPr>
              <a:t>Dependence Plot</a:t>
            </a:r>
            <a:endParaRPr sz="1900" b="0" i="0" u="none" strike="noStrike" cap="none">
              <a:solidFill>
                <a:srgbClr val="000000"/>
              </a:solidFill>
              <a:latin typeface="Calibri"/>
              <a:ea typeface="Calibri"/>
              <a:cs typeface="Calibri"/>
              <a:sym typeface="Calibri"/>
            </a:endParaRPr>
          </a:p>
        </p:txBody>
      </p:sp>
      <p:sp>
        <p:nvSpPr>
          <p:cNvPr id="367" name="Google Shape;367;g35d24a1ea2c_0_13"/>
          <p:cNvSpPr txBox="1"/>
          <p:nvPr/>
        </p:nvSpPr>
        <p:spPr>
          <a:xfrm>
            <a:off x="7784200" y="2885075"/>
            <a:ext cx="3740400" cy="477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900"/>
              <a:buFont typeface="Arial"/>
              <a:buNone/>
            </a:pPr>
            <a:r>
              <a:rPr lang="zh-TW" sz="1900" b="0" i="0" u="none" strike="noStrike" cap="none">
                <a:solidFill>
                  <a:srgbClr val="000000"/>
                </a:solidFill>
                <a:latin typeface="Calibri"/>
                <a:ea typeface="Calibri"/>
                <a:cs typeface="Calibri"/>
                <a:sym typeface="Calibri"/>
              </a:rPr>
              <a:t>Waterfall Plot</a:t>
            </a:r>
            <a:endParaRPr sz="1900" b="0" i="0" u="none" strike="noStrike" cap="none">
              <a:solidFill>
                <a:srgbClr val="000000"/>
              </a:solidFill>
              <a:latin typeface="Calibri"/>
              <a:ea typeface="Calibri"/>
              <a:cs typeface="Calibri"/>
              <a:sym typeface="Calibri"/>
            </a:endParaRPr>
          </a:p>
        </p:txBody>
      </p:sp>
      <p:pic>
        <p:nvPicPr>
          <p:cNvPr id="368" name="Google Shape;368;g35d24a1ea2c_0_13"/>
          <p:cNvPicPr preferRelativeResize="0"/>
          <p:nvPr/>
        </p:nvPicPr>
        <p:blipFill rotWithShape="1">
          <a:blip r:embed="rId3">
            <a:alphaModFix/>
          </a:blip>
          <a:srcRect/>
          <a:stretch/>
        </p:blipFill>
        <p:spPr>
          <a:xfrm>
            <a:off x="-12" y="3593425"/>
            <a:ext cx="3917582" cy="2523701"/>
          </a:xfrm>
          <a:prstGeom prst="rect">
            <a:avLst/>
          </a:prstGeom>
          <a:noFill/>
          <a:ln>
            <a:noFill/>
          </a:ln>
        </p:spPr>
      </p:pic>
      <p:pic>
        <p:nvPicPr>
          <p:cNvPr id="369" name="Google Shape;369;g35d24a1ea2c_0_13"/>
          <p:cNvPicPr preferRelativeResize="0"/>
          <p:nvPr/>
        </p:nvPicPr>
        <p:blipFill rotWithShape="1">
          <a:blip r:embed="rId4">
            <a:alphaModFix/>
          </a:blip>
          <a:srcRect/>
          <a:stretch/>
        </p:blipFill>
        <p:spPr>
          <a:xfrm>
            <a:off x="7784200" y="3362075"/>
            <a:ext cx="4407806" cy="2686500"/>
          </a:xfrm>
          <a:prstGeom prst="rect">
            <a:avLst/>
          </a:prstGeom>
          <a:noFill/>
          <a:ln>
            <a:noFill/>
          </a:ln>
        </p:spPr>
      </p:pic>
      <p:pic>
        <p:nvPicPr>
          <p:cNvPr id="370" name="Google Shape;370;g35d24a1ea2c_0_13"/>
          <p:cNvPicPr preferRelativeResize="0"/>
          <p:nvPr/>
        </p:nvPicPr>
        <p:blipFill rotWithShape="1">
          <a:blip r:embed="rId5">
            <a:alphaModFix/>
          </a:blip>
          <a:srcRect/>
          <a:stretch/>
        </p:blipFill>
        <p:spPr>
          <a:xfrm>
            <a:off x="4043925" y="3429000"/>
            <a:ext cx="3740274" cy="2852538"/>
          </a:xfrm>
          <a:prstGeom prst="rect">
            <a:avLst/>
          </a:prstGeom>
          <a:noFill/>
          <a:ln>
            <a:noFill/>
          </a:ln>
        </p:spPr>
      </p:pic>
      <p:sp>
        <p:nvSpPr>
          <p:cNvPr id="5" name="文字方塊 4">
            <a:extLst>
              <a:ext uri="{FF2B5EF4-FFF2-40B4-BE49-F238E27FC236}">
                <a16:creationId xmlns:a16="http://schemas.microsoft.com/office/drawing/2014/main" id="{CA1233F7-EECE-AB0C-D159-357BC6A4F496}"/>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2" name="Google Shape;132;p8">
            <a:extLst>
              <a:ext uri="{FF2B5EF4-FFF2-40B4-BE49-F238E27FC236}">
                <a16:creationId xmlns:a16="http://schemas.microsoft.com/office/drawing/2014/main" id="{D7E237FB-4E53-F33C-16BA-D1BF23A56297}"/>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28</a:t>
            </a:fld>
            <a:endParaRPr lang="en-US"/>
          </a:p>
        </p:txBody>
      </p:sp>
      <p:sp>
        <p:nvSpPr>
          <p:cNvPr id="3" name="矩形 2">
            <a:extLst>
              <a:ext uri="{FF2B5EF4-FFF2-40B4-BE49-F238E27FC236}">
                <a16:creationId xmlns:a16="http://schemas.microsoft.com/office/drawing/2014/main" id="{FCDA5E14-FD67-314F-3427-ED348E0D14AB}"/>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Google Shape;376;g35d33317a91_0_17"/>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28</a:t>
            </a:fld>
            <a:endParaRPr/>
          </a:p>
        </p:txBody>
      </p:sp>
      <p:sp>
        <p:nvSpPr>
          <p:cNvPr id="377" name="Google Shape;377;g35d33317a91_0_17"/>
          <p:cNvSpPr txBox="1"/>
          <p:nvPr/>
        </p:nvSpPr>
        <p:spPr>
          <a:xfrm>
            <a:off x="2691774" y="77010"/>
            <a:ext cx="7005000" cy="830966"/>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zh-TW" sz="2800" b="1" i="0" u="none" strike="noStrike" cap="none" dirty="0">
                <a:solidFill>
                  <a:schemeClr val="dk1"/>
                </a:solidFill>
                <a:latin typeface="Calibri"/>
                <a:ea typeface="Calibri"/>
                <a:cs typeface="Calibri"/>
                <a:sym typeface="Calibri"/>
              </a:rPr>
              <a:t>SurvSHAP(t)</a:t>
            </a:r>
            <a:endParaRPr sz="2800" b="0" i="0" u="none" strike="noStrike" cap="none" dirty="0">
              <a:solidFill>
                <a:srgbClr val="000000"/>
              </a:solidFill>
              <a:latin typeface="Calibri"/>
              <a:ea typeface="Calibri"/>
              <a:cs typeface="Calibri"/>
              <a:sym typeface="Calibri"/>
            </a:endParaRPr>
          </a:p>
        </p:txBody>
      </p:sp>
      <p:sp>
        <p:nvSpPr>
          <p:cNvPr id="378" name="Google Shape;378;g35d33317a91_0_17"/>
          <p:cNvSpPr txBox="1"/>
          <p:nvPr/>
        </p:nvSpPr>
        <p:spPr>
          <a:xfrm>
            <a:off x="1036913" y="1053100"/>
            <a:ext cx="10320300" cy="1246465"/>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0"/>
              </a:spcBef>
              <a:spcAft>
                <a:spcPts val="0"/>
              </a:spcAft>
              <a:buClr>
                <a:srgbClr val="000000"/>
              </a:buClr>
              <a:buSzPts val="2000"/>
              <a:buFont typeface="Calibri"/>
              <a:buChar char="●"/>
            </a:pPr>
            <a:r>
              <a:rPr lang="zh-TW" sz="2000" b="0" i="0" u="none" strike="noStrike" cap="none" dirty="0">
                <a:solidFill>
                  <a:srgbClr val="000000"/>
                </a:solidFill>
                <a:latin typeface="Calibri"/>
                <a:ea typeface="Calibri"/>
                <a:cs typeface="Calibri"/>
                <a:sym typeface="Calibri"/>
              </a:rPr>
              <a:t>SurvSHAP(t) provides time-resolved feature attributions for survival models, </a:t>
            </a:r>
            <a:r>
              <a:rPr lang="zh-TW" sz="2000" b="1" i="0" u="none" strike="noStrike" cap="none" dirty="0">
                <a:solidFill>
                  <a:srgbClr val="000000"/>
                </a:solidFill>
                <a:latin typeface="Calibri"/>
                <a:ea typeface="Calibri"/>
                <a:cs typeface="Calibri"/>
                <a:sym typeface="Calibri"/>
              </a:rPr>
              <a:t>showing how each variable increases or decreases the predicted survival probability at different time points.</a:t>
            </a:r>
            <a:endParaRPr sz="2000" b="1" i="0" u="none" strike="noStrike" cap="none" dirty="0">
              <a:solidFill>
                <a:srgbClr val="000000"/>
              </a:solidFill>
              <a:latin typeface="Calibri"/>
              <a:ea typeface="Calibri"/>
              <a:cs typeface="Calibri"/>
              <a:sym typeface="Calibri"/>
            </a:endParaRPr>
          </a:p>
        </p:txBody>
      </p:sp>
      <p:pic>
        <p:nvPicPr>
          <p:cNvPr id="379" name="Google Shape;379;g35d33317a91_0_17" title="螢幕快照 2025-05-26 13-41-43.png"/>
          <p:cNvPicPr preferRelativeResize="0"/>
          <p:nvPr/>
        </p:nvPicPr>
        <p:blipFill rotWithShape="1">
          <a:blip r:embed="rId3">
            <a:alphaModFix/>
          </a:blip>
          <a:srcRect/>
          <a:stretch/>
        </p:blipFill>
        <p:spPr>
          <a:xfrm>
            <a:off x="2301562" y="2061621"/>
            <a:ext cx="6724225" cy="4319401"/>
          </a:xfrm>
          <a:prstGeom prst="rect">
            <a:avLst/>
          </a:prstGeom>
          <a:noFill/>
          <a:ln>
            <a:noFill/>
          </a:ln>
        </p:spPr>
      </p:pic>
      <p:sp>
        <p:nvSpPr>
          <p:cNvPr id="380" name="Google Shape;380;g35d33317a91_0_17"/>
          <p:cNvSpPr txBox="1"/>
          <p:nvPr/>
        </p:nvSpPr>
        <p:spPr>
          <a:xfrm>
            <a:off x="2780731" y="5208985"/>
            <a:ext cx="3000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0" i="0" u="none" strike="noStrike" cap="none">
                <a:solidFill>
                  <a:srgbClr val="000000"/>
                </a:solidFill>
                <a:latin typeface="Arial"/>
                <a:ea typeface="Arial"/>
                <a:cs typeface="Arial"/>
                <a:sym typeface="Arial"/>
              </a:rPr>
              <a:t>Time-specific risk contributions from each feature</a:t>
            </a:r>
            <a:endParaRPr sz="1400" b="0" i="0" u="none" strike="noStrike" cap="none">
              <a:solidFill>
                <a:srgbClr val="000000"/>
              </a:solidFill>
              <a:latin typeface="Arial"/>
              <a:ea typeface="Arial"/>
              <a:cs typeface="Arial"/>
              <a:sym typeface="Arial"/>
            </a:endParaRPr>
          </a:p>
        </p:txBody>
      </p:sp>
      <p:sp>
        <p:nvSpPr>
          <p:cNvPr id="381" name="Google Shape;381;g35d33317a91_0_17"/>
          <p:cNvSpPr txBox="1"/>
          <p:nvPr/>
        </p:nvSpPr>
        <p:spPr>
          <a:xfrm>
            <a:off x="9025787" y="2658146"/>
            <a:ext cx="25992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0" i="0" u="none" strike="noStrike" cap="none" dirty="0">
                <a:solidFill>
                  <a:srgbClr val="000000"/>
                </a:solidFill>
                <a:latin typeface="Arial"/>
                <a:ea typeface="Arial"/>
                <a:cs typeface="Arial"/>
                <a:sym typeface="Arial"/>
              </a:rPr>
              <a:t>The predicted survival curve is the sum of baseline and feature effects</a:t>
            </a:r>
            <a:endParaRPr sz="1400" b="0" i="0" u="none" strike="noStrike" cap="none" dirty="0">
              <a:solidFill>
                <a:srgbClr val="000000"/>
              </a:solidFill>
              <a:latin typeface="Arial"/>
              <a:ea typeface="Arial"/>
              <a:cs typeface="Arial"/>
              <a:sym typeface="Arial"/>
            </a:endParaRPr>
          </a:p>
        </p:txBody>
      </p:sp>
      <p:sp>
        <p:nvSpPr>
          <p:cNvPr id="382" name="Google Shape;382;g35d33317a91_0_17"/>
          <p:cNvSpPr txBox="1"/>
          <p:nvPr/>
        </p:nvSpPr>
        <p:spPr>
          <a:xfrm>
            <a:off x="9397465" y="4901185"/>
            <a:ext cx="2501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zh-TW" sz="1400" b="0" i="0" u="none" strike="noStrike" cap="none">
                <a:solidFill>
                  <a:srgbClr val="000000"/>
                </a:solidFill>
                <a:latin typeface="Arial"/>
                <a:ea typeface="Arial"/>
                <a:cs typeface="Arial"/>
                <a:sym typeface="Arial"/>
              </a:rPr>
              <a:t>Cumulative impact of each feature across time</a:t>
            </a:r>
            <a:endParaRPr sz="1400" b="0" i="0" u="none" strike="noStrike" cap="none">
              <a:solidFill>
                <a:srgbClr val="000000"/>
              </a:solidFill>
              <a:latin typeface="Arial"/>
              <a:ea typeface="Arial"/>
              <a:cs typeface="Arial"/>
              <a:sym typeface="Arial"/>
            </a:endParaRPr>
          </a:p>
        </p:txBody>
      </p:sp>
      <p:sp>
        <p:nvSpPr>
          <p:cNvPr id="5" name="文字方塊 4">
            <a:extLst>
              <a:ext uri="{FF2B5EF4-FFF2-40B4-BE49-F238E27FC236}">
                <a16:creationId xmlns:a16="http://schemas.microsoft.com/office/drawing/2014/main" id="{FE50399C-31CE-4D68-8339-F4CE8C2F1CE2}"/>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
        <p:nvSpPr>
          <p:cNvPr id="6" name="文字方塊 5">
            <a:extLst>
              <a:ext uri="{FF2B5EF4-FFF2-40B4-BE49-F238E27FC236}">
                <a16:creationId xmlns:a16="http://schemas.microsoft.com/office/drawing/2014/main" id="{72452A67-BA64-C4E7-F492-7F9D87570E89}"/>
              </a:ext>
            </a:extLst>
          </p:cNvPr>
          <p:cNvSpPr txBox="1"/>
          <p:nvPr/>
        </p:nvSpPr>
        <p:spPr>
          <a:xfrm>
            <a:off x="9025787" y="6129171"/>
            <a:ext cx="6369050" cy="307777"/>
          </a:xfrm>
          <a:prstGeom prst="rect">
            <a:avLst/>
          </a:prstGeom>
          <a:noFill/>
        </p:spPr>
        <p:txBody>
          <a:bodyPr wrap="square">
            <a:spAutoFit/>
          </a:bodyPr>
          <a:lstStyle/>
          <a:p>
            <a:r>
              <a:rPr lang="en-US" sz="1100" dirty="0">
                <a:solidFill>
                  <a:schemeClr val="bg1">
                    <a:lumMod val="65000"/>
                  </a:schemeClr>
                </a:solidFill>
                <a:latin typeface="Calibri" panose="020F0502020204030204" pitchFamily="34" charset="0"/>
                <a:cs typeface="Calibri" panose="020F0502020204030204" pitchFamily="34" charset="0"/>
              </a:rPr>
              <a:t>Source: </a:t>
            </a:r>
            <a:r>
              <a:rPr lang="en-US" sz="1100" dirty="0" err="1">
                <a:solidFill>
                  <a:schemeClr val="bg1">
                    <a:lumMod val="65000"/>
                  </a:schemeClr>
                </a:solidFill>
                <a:latin typeface="Calibri" panose="020F0502020204030204" pitchFamily="34" charset="0"/>
                <a:cs typeface="Calibri" panose="020F0502020204030204" pitchFamily="34" charset="0"/>
              </a:rPr>
              <a:t>Krzyiński</a:t>
            </a:r>
            <a:r>
              <a:rPr lang="en-US" sz="1100" dirty="0">
                <a:solidFill>
                  <a:schemeClr val="bg1">
                    <a:lumMod val="65000"/>
                  </a:schemeClr>
                </a:solidFill>
                <a:latin typeface="Calibri" panose="020F0502020204030204" pitchFamily="34" charset="0"/>
                <a:cs typeface="Calibri" panose="020F0502020204030204" pitchFamily="34" charset="0"/>
              </a:rPr>
              <a:t> et al., </a:t>
            </a:r>
            <a:r>
              <a:rPr lang="en-US" sz="1100" i="1" dirty="0" err="1">
                <a:solidFill>
                  <a:schemeClr val="bg1">
                    <a:lumMod val="65000"/>
                  </a:schemeClr>
                </a:solidFill>
                <a:latin typeface="Calibri" panose="020F0502020204030204" pitchFamily="34" charset="0"/>
                <a:cs typeface="Calibri" panose="020F0502020204030204" pitchFamily="34" charset="0"/>
              </a:rPr>
              <a:t>Knowl</a:t>
            </a:r>
            <a:r>
              <a:rPr lang="en-US" sz="1100" i="1" dirty="0">
                <a:solidFill>
                  <a:schemeClr val="bg1">
                    <a:lumMod val="65000"/>
                  </a:schemeClr>
                </a:solidFill>
                <a:latin typeface="Calibri" panose="020F0502020204030204" pitchFamily="34" charset="0"/>
                <a:cs typeface="Calibri" panose="020F0502020204030204" pitchFamily="34" charset="0"/>
              </a:rPr>
              <a:t>-Based Syst</a:t>
            </a:r>
            <a:r>
              <a:rPr lang="en-US" sz="1100" dirty="0">
                <a:solidFill>
                  <a:schemeClr val="bg1">
                    <a:lumMod val="65000"/>
                  </a:schemeClr>
                </a:solidFill>
                <a:latin typeface="Calibri" panose="020F0502020204030204" pitchFamily="34" charset="0"/>
                <a:cs typeface="Calibri" panose="020F0502020204030204" pitchFamily="34" charset="0"/>
              </a:rPr>
              <a:t>, 2023</a:t>
            </a:r>
            <a:r>
              <a:rPr lang="en-US" dirty="0"/>
              <a:t>.</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2" name="Google Shape;132;p8">
            <a:extLst>
              <a:ext uri="{FF2B5EF4-FFF2-40B4-BE49-F238E27FC236}">
                <a16:creationId xmlns:a16="http://schemas.microsoft.com/office/drawing/2014/main" id="{57D55BB3-C7CC-AFF5-14AD-30DF0476037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29</a:t>
            </a:fld>
            <a:endParaRPr lang="en-US"/>
          </a:p>
        </p:txBody>
      </p:sp>
      <p:sp>
        <p:nvSpPr>
          <p:cNvPr id="3" name="矩形 2">
            <a:extLst>
              <a:ext uri="{FF2B5EF4-FFF2-40B4-BE49-F238E27FC236}">
                <a16:creationId xmlns:a16="http://schemas.microsoft.com/office/drawing/2014/main" id="{31D6520F-6DE2-2A6A-369A-C5E217629728}"/>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Google Shape;399;g35d440b47b6_0_23"/>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29</a:t>
            </a:fld>
            <a:endParaRPr/>
          </a:p>
        </p:txBody>
      </p:sp>
      <p:sp>
        <p:nvSpPr>
          <p:cNvPr id="400" name="Google Shape;400;g35d440b47b6_0_23"/>
          <p:cNvSpPr txBox="1"/>
          <p:nvPr/>
        </p:nvSpPr>
        <p:spPr>
          <a:xfrm>
            <a:off x="2827725" y="177701"/>
            <a:ext cx="67806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Definition of Threshold</a:t>
            </a:r>
            <a:endParaRPr sz="2800" b="1" i="0" u="none" strike="noStrike" cap="none" dirty="0">
              <a:solidFill>
                <a:srgbClr val="000000"/>
              </a:solidFill>
              <a:latin typeface="Calibri"/>
              <a:ea typeface="Calibri"/>
              <a:cs typeface="Calibri"/>
              <a:sym typeface="Calibri"/>
            </a:endParaRPr>
          </a:p>
        </p:txBody>
      </p:sp>
      <p:sp>
        <p:nvSpPr>
          <p:cNvPr id="401" name="Google Shape;401;g35d440b47b6_0_23"/>
          <p:cNvSpPr txBox="1"/>
          <p:nvPr/>
        </p:nvSpPr>
        <p:spPr>
          <a:xfrm>
            <a:off x="1155488" y="2054700"/>
            <a:ext cx="10320300" cy="538579"/>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0"/>
              </a:spcBef>
              <a:spcAft>
                <a:spcPts val="0"/>
              </a:spcAft>
              <a:buClr>
                <a:srgbClr val="000000"/>
              </a:buClr>
              <a:buSzPts val="2000"/>
              <a:buFont typeface="Calibri"/>
              <a:buAutoNum type="arabicPeriod"/>
            </a:pPr>
            <a:r>
              <a:rPr lang="zh-TW" sz="2000" b="1" i="0" u="none" strike="noStrike" cap="none" dirty="0">
                <a:solidFill>
                  <a:srgbClr val="000000"/>
                </a:solidFill>
                <a:latin typeface="Calibri"/>
                <a:ea typeface="Calibri"/>
                <a:cs typeface="Calibri"/>
                <a:sym typeface="Calibri"/>
              </a:rPr>
              <a:t>SHAP Dependent Plot</a:t>
            </a:r>
            <a:endParaRPr sz="2000" b="1" i="0" u="none" strike="noStrike" cap="none" dirty="0">
              <a:solidFill>
                <a:srgbClr val="000000"/>
              </a:solidFill>
              <a:latin typeface="Calibri"/>
              <a:ea typeface="Calibri"/>
              <a:cs typeface="Calibri"/>
              <a:sym typeface="Calibri"/>
            </a:endParaRPr>
          </a:p>
        </p:txBody>
      </p:sp>
      <p:pic>
        <p:nvPicPr>
          <p:cNvPr id="402" name="Google Shape;402;g35d440b47b6_0_23"/>
          <p:cNvPicPr preferRelativeResize="0"/>
          <p:nvPr/>
        </p:nvPicPr>
        <p:blipFill rotWithShape="1">
          <a:blip r:embed="rId3">
            <a:alphaModFix/>
          </a:blip>
          <a:srcRect/>
          <a:stretch/>
        </p:blipFill>
        <p:spPr>
          <a:xfrm>
            <a:off x="3559275" y="2437475"/>
            <a:ext cx="5317500" cy="4055399"/>
          </a:xfrm>
          <a:prstGeom prst="rect">
            <a:avLst/>
          </a:prstGeom>
          <a:noFill/>
          <a:ln>
            <a:noFill/>
          </a:ln>
        </p:spPr>
      </p:pic>
      <p:sp>
        <p:nvSpPr>
          <p:cNvPr id="403" name="Google Shape;403;g35d440b47b6_0_23"/>
          <p:cNvSpPr txBox="1"/>
          <p:nvPr/>
        </p:nvSpPr>
        <p:spPr>
          <a:xfrm>
            <a:off x="1434450" y="893713"/>
            <a:ext cx="9323100" cy="969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endParaRPr sz="11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zh-TW" sz="2000" b="0" i="0" u="none" strike="noStrike" cap="none" dirty="0">
                <a:solidFill>
                  <a:schemeClr val="dk1"/>
                </a:solidFill>
                <a:latin typeface="Calibri"/>
                <a:ea typeface="Calibri"/>
                <a:cs typeface="Calibri"/>
                <a:sym typeface="Calibri"/>
              </a:rPr>
              <a:t>To identify cut-points (decision boundaries) that distinguish high- vs low-risk groups using model-derived explanations.</a:t>
            </a:r>
            <a:endParaRPr sz="2000" b="0" i="0" u="none" strike="noStrike" cap="none" dirty="0">
              <a:solidFill>
                <a:srgbClr val="000000"/>
              </a:solidFill>
              <a:latin typeface="Calibri"/>
              <a:ea typeface="Calibri"/>
              <a:cs typeface="Calibri"/>
              <a:sym typeface="Calibri"/>
            </a:endParaRPr>
          </a:p>
        </p:txBody>
      </p:sp>
      <p:sp>
        <p:nvSpPr>
          <p:cNvPr id="5" name="文字方塊 4">
            <a:extLst>
              <a:ext uri="{FF2B5EF4-FFF2-40B4-BE49-F238E27FC236}">
                <a16:creationId xmlns:a16="http://schemas.microsoft.com/office/drawing/2014/main" id="{F6DD41CE-8897-0FF5-9C77-238713B2238D}"/>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2" name="Google Shape;132;p8">
            <a:extLst>
              <a:ext uri="{FF2B5EF4-FFF2-40B4-BE49-F238E27FC236}">
                <a16:creationId xmlns:a16="http://schemas.microsoft.com/office/drawing/2014/main" id="{BF029622-74DB-7699-BA96-795585CC91A0}"/>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30</a:t>
            </a:fld>
            <a:endParaRPr lang="en-US"/>
          </a:p>
        </p:txBody>
      </p:sp>
      <p:sp>
        <p:nvSpPr>
          <p:cNvPr id="3" name="矩形 2">
            <a:extLst>
              <a:ext uri="{FF2B5EF4-FFF2-40B4-BE49-F238E27FC236}">
                <a16:creationId xmlns:a16="http://schemas.microsoft.com/office/drawing/2014/main" id="{58613D6A-0639-E34E-78CE-AF2F85A7EFE8}"/>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Google Shape;409;g35d440b47b6_0_32"/>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30</a:t>
            </a:fld>
            <a:endParaRPr/>
          </a:p>
        </p:txBody>
      </p:sp>
      <p:sp>
        <p:nvSpPr>
          <p:cNvPr id="410" name="Google Shape;410;g35d440b47b6_0_32"/>
          <p:cNvSpPr txBox="1"/>
          <p:nvPr/>
        </p:nvSpPr>
        <p:spPr>
          <a:xfrm>
            <a:off x="414563" y="638200"/>
            <a:ext cx="10320300" cy="53857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2000"/>
              <a:buFont typeface="Arial"/>
              <a:buNone/>
            </a:pPr>
            <a:r>
              <a:rPr lang="zh-TW" sz="2000" b="1" i="0" u="none" strike="noStrike" cap="none" dirty="0">
                <a:solidFill>
                  <a:srgbClr val="000000"/>
                </a:solidFill>
                <a:latin typeface="Calibri"/>
                <a:ea typeface="Calibri"/>
                <a:cs typeface="Calibri"/>
                <a:sym typeface="Calibri"/>
              </a:rPr>
              <a:t>2.   SHAP-based Partial Dependence Plots (PDP)</a:t>
            </a:r>
            <a:endParaRPr sz="2000" b="1" i="0" u="none" strike="noStrike" cap="none" dirty="0">
              <a:solidFill>
                <a:srgbClr val="000000"/>
              </a:solidFill>
              <a:latin typeface="Calibri"/>
              <a:ea typeface="Calibri"/>
              <a:cs typeface="Calibri"/>
              <a:sym typeface="Calibri"/>
            </a:endParaRPr>
          </a:p>
        </p:txBody>
      </p:sp>
      <p:pic>
        <p:nvPicPr>
          <p:cNvPr id="411" name="Google Shape;411;g35d440b47b6_0_32" title="螢幕快照 2025-05-26 14-20-35.png"/>
          <p:cNvPicPr preferRelativeResize="0"/>
          <p:nvPr/>
        </p:nvPicPr>
        <p:blipFill rotWithShape="1">
          <a:blip r:embed="rId3">
            <a:alphaModFix/>
          </a:blip>
          <a:srcRect/>
          <a:stretch/>
        </p:blipFill>
        <p:spPr>
          <a:xfrm>
            <a:off x="2483635" y="1605386"/>
            <a:ext cx="6027325" cy="4371353"/>
          </a:xfrm>
          <a:prstGeom prst="rect">
            <a:avLst/>
          </a:prstGeom>
          <a:noFill/>
          <a:ln>
            <a:noFill/>
          </a:ln>
        </p:spPr>
      </p:pic>
      <p:sp>
        <p:nvSpPr>
          <p:cNvPr id="412" name="Google Shape;412;g35d440b47b6_0_32"/>
          <p:cNvSpPr txBox="1"/>
          <p:nvPr/>
        </p:nvSpPr>
        <p:spPr>
          <a:xfrm>
            <a:off x="8176760" y="1769135"/>
            <a:ext cx="3000000" cy="73863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Arial"/>
              <a:buAutoNum type="arabicPeriod"/>
            </a:pPr>
            <a:r>
              <a:rPr lang="zh-TW" sz="1800" b="0" i="0" u="none" strike="noStrike" cap="none">
                <a:solidFill>
                  <a:srgbClr val="000000"/>
                </a:solidFill>
                <a:latin typeface="Calibri" panose="020F0502020204030204" pitchFamily="34" charset="0"/>
                <a:cs typeface="Calibri" panose="020F0502020204030204" pitchFamily="34" charset="0"/>
                <a:sym typeface="Arial"/>
              </a:rPr>
              <a:t>Illustrates nonlinear feature-risk relationships</a:t>
            </a:r>
            <a:endParaRPr sz="18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413" name="Google Shape;413;g35d440b47b6_0_32"/>
          <p:cNvSpPr txBox="1"/>
          <p:nvPr/>
        </p:nvSpPr>
        <p:spPr>
          <a:xfrm>
            <a:off x="8176760" y="4610085"/>
            <a:ext cx="3000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0" i="0" u="none" strike="noStrike" cap="none">
                <a:solidFill>
                  <a:srgbClr val="000000"/>
                </a:solidFill>
                <a:latin typeface="Calibri" panose="020F0502020204030204" pitchFamily="34" charset="0"/>
                <a:cs typeface="Calibri" panose="020F0502020204030204" pitchFamily="34" charset="0"/>
                <a:sym typeface="Arial"/>
              </a:rPr>
              <a:t>2. Apply Binary Change Point Detection</a:t>
            </a:r>
            <a:endParaRPr sz="18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414" name="Google Shape;414;g35d440b47b6_0_32"/>
          <p:cNvSpPr txBox="1"/>
          <p:nvPr/>
        </p:nvSpPr>
        <p:spPr>
          <a:xfrm>
            <a:off x="5105910" y="3546573"/>
            <a:ext cx="43698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zh-TW" sz="1800" b="0" i="0" u="none" strike="noStrike" cap="none">
                <a:solidFill>
                  <a:srgbClr val="000000"/>
                </a:solidFill>
                <a:latin typeface="Calibri" panose="020F0502020204030204" pitchFamily="34" charset="0"/>
                <a:cs typeface="Calibri" panose="020F0502020204030204" pitchFamily="34" charset="0"/>
                <a:sym typeface="Arial"/>
              </a:rPr>
              <a:t>3. Select the optimal cut-point (DVC)</a:t>
            </a:r>
            <a:endParaRPr sz="1800" b="0" i="0" u="none" strike="noStrike" cap="none">
              <a:solidFill>
                <a:srgbClr val="000000"/>
              </a:solidFill>
              <a:latin typeface="Calibri" panose="020F0502020204030204" pitchFamily="34" charset="0"/>
              <a:cs typeface="Calibri" panose="020F0502020204030204" pitchFamily="34" charset="0"/>
              <a:sym typeface="Arial"/>
            </a:endParaRPr>
          </a:p>
        </p:txBody>
      </p:sp>
      <p:sp>
        <p:nvSpPr>
          <p:cNvPr id="5" name="文字方塊 4">
            <a:extLst>
              <a:ext uri="{FF2B5EF4-FFF2-40B4-BE49-F238E27FC236}">
                <a16:creationId xmlns:a16="http://schemas.microsoft.com/office/drawing/2014/main" id="{A83AC794-C823-3B50-54C0-6E2D809F3EED}"/>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2" name="Google Shape;132;p8">
            <a:extLst>
              <a:ext uri="{FF2B5EF4-FFF2-40B4-BE49-F238E27FC236}">
                <a16:creationId xmlns:a16="http://schemas.microsoft.com/office/drawing/2014/main" id="{E7F41089-688D-5E68-F300-63677600E29C}"/>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31</a:t>
            </a:fld>
            <a:endParaRPr lang="en-US"/>
          </a:p>
        </p:txBody>
      </p:sp>
      <p:sp>
        <p:nvSpPr>
          <p:cNvPr id="3" name="矩形 2">
            <a:extLst>
              <a:ext uri="{FF2B5EF4-FFF2-40B4-BE49-F238E27FC236}">
                <a16:creationId xmlns:a16="http://schemas.microsoft.com/office/drawing/2014/main" id="{4B3F1927-2BED-12B1-1F5C-E29799E6B458}"/>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Google Shape;420;g35aa69b00f9_0_57"/>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31</a:t>
            </a:fld>
            <a:endParaRPr/>
          </a:p>
        </p:txBody>
      </p:sp>
      <p:sp>
        <p:nvSpPr>
          <p:cNvPr id="421" name="Google Shape;421;g35aa69b00f9_0_57"/>
          <p:cNvSpPr txBox="1"/>
          <p:nvPr/>
        </p:nvSpPr>
        <p:spPr>
          <a:xfrm>
            <a:off x="2681305" y="178606"/>
            <a:ext cx="6780600" cy="615523"/>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zh-TW" sz="2800" b="1" i="0" u="none" strike="noStrike" cap="none" dirty="0">
                <a:solidFill>
                  <a:srgbClr val="000000"/>
                </a:solidFill>
                <a:latin typeface="Calibri"/>
                <a:ea typeface="Calibri"/>
                <a:cs typeface="Calibri"/>
                <a:sym typeface="Calibri"/>
              </a:rPr>
              <a:t>Validation of Threshold</a:t>
            </a:r>
            <a:endParaRPr sz="2800" b="1" i="0" u="none" strike="noStrike" cap="none" dirty="0">
              <a:solidFill>
                <a:srgbClr val="000000"/>
              </a:solidFill>
              <a:latin typeface="Calibri"/>
              <a:ea typeface="Calibri"/>
              <a:cs typeface="Calibri"/>
              <a:sym typeface="Calibri"/>
            </a:endParaRPr>
          </a:p>
        </p:txBody>
      </p:sp>
      <p:sp>
        <p:nvSpPr>
          <p:cNvPr id="422" name="Google Shape;422;g35aa69b00f9_0_57"/>
          <p:cNvSpPr txBox="1"/>
          <p:nvPr/>
        </p:nvSpPr>
        <p:spPr>
          <a:xfrm>
            <a:off x="731520" y="794129"/>
            <a:ext cx="10829942" cy="110796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zh-TW" sz="2000" b="0" i="0" u="none" strike="noStrike" cap="none" dirty="0">
                <a:solidFill>
                  <a:srgbClr val="000000"/>
                </a:solidFill>
                <a:latin typeface="Calibri"/>
                <a:ea typeface="Calibri"/>
                <a:cs typeface="Calibri"/>
                <a:sym typeface="Calibri"/>
              </a:rPr>
              <a:t>To evaluate whether the identified SHAP-derived cut-point can meaningfully distinguish between high- and low-risk patient groups in terms of survival outcomes.</a:t>
            </a:r>
            <a:endParaRPr sz="2000" b="0" i="0" u="none" strike="noStrike" cap="none" dirty="0">
              <a:solidFill>
                <a:srgbClr val="000000"/>
              </a:solidFill>
              <a:latin typeface="Calibri"/>
              <a:ea typeface="Calibri"/>
              <a:cs typeface="Calibri"/>
              <a:sym typeface="Calibri"/>
            </a:endParaRPr>
          </a:p>
        </p:txBody>
      </p:sp>
      <p:sp>
        <p:nvSpPr>
          <p:cNvPr id="423" name="Google Shape;423;g35aa69b00f9_0_57"/>
          <p:cNvSpPr txBox="1"/>
          <p:nvPr/>
        </p:nvSpPr>
        <p:spPr>
          <a:xfrm>
            <a:off x="1478476" y="1640710"/>
            <a:ext cx="9663848" cy="463200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1200"/>
              </a:spcBef>
              <a:spcAft>
                <a:spcPts val="0"/>
              </a:spcAft>
              <a:buClr>
                <a:srgbClr val="000000"/>
              </a:buClr>
              <a:buSzPts val="1800"/>
              <a:buFont typeface="Arial"/>
              <a:buNone/>
            </a:pPr>
            <a:r>
              <a:rPr lang="zh-TW" sz="2000" b="1" i="0" u="none" strike="noStrike" cap="none" dirty="0">
                <a:solidFill>
                  <a:schemeClr val="dk1"/>
                </a:solidFill>
                <a:latin typeface="Calibri"/>
                <a:ea typeface="Calibri"/>
                <a:cs typeface="Calibri"/>
                <a:sym typeface="Calibri"/>
              </a:rPr>
              <a:t>1. Kaplan–Meier Survival Analysis</a:t>
            </a:r>
            <a:endParaRPr sz="2000" b="1"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120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Stratify patients into </a:t>
            </a:r>
            <a:r>
              <a:rPr lang="zh-TW" sz="1800" b="1" i="0" u="none" strike="noStrike" cap="none" dirty="0">
                <a:solidFill>
                  <a:schemeClr val="dk1"/>
                </a:solidFill>
                <a:latin typeface="Calibri"/>
                <a:ea typeface="Calibri"/>
                <a:cs typeface="Calibri"/>
                <a:sym typeface="Calibri"/>
              </a:rPr>
              <a:t>high-risk vs low-risk</a:t>
            </a:r>
            <a:r>
              <a:rPr lang="zh-TW" sz="1800" b="0" i="0" u="none" strike="noStrike" cap="none" dirty="0">
                <a:solidFill>
                  <a:schemeClr val="dk1"/>
                </a:solidFill>
                <a:latin typeface="Calibri"/>
                <a:ea typeface="Calibri"/>
                <a:cs typeface="Calibri"/>
                <a:sym typeface="Calibri"/>
              </a:rPr>
              <a:t> groups using the selected cut-point</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Plot survival curves</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Arial"/>
              <a:buChar char="●"/>
            </a:pPr>
            <a:r>
              <a:rPr lang="zh-TW" sz="1800" b="0" i="0" u="none" strike="noStrike" cap="none" dirty="0">
                <a:solidFill>
                  <a:schemeClr val="dk1"/>
                </a:solidFill>
                <a:latin typeface="Calibri"/>
                <a:ea typeface="Calibri"/>
                <a:cs typeface="Calibri"/>
                <a:sym typeface="Calibri"/>
              </a:rPr>
              <a:t>Use </a:t>
            </a:r>
            <a:r>
              <a:rPr lang="zh-TW" sz="1800" b="1" i="0" u="none" strike="noStrike" cap="none" dirty="0">
                <a:solidFill>
                  <a:schemeClr val="dk1"/>
                </a:solidFill>
                <a:latin typeface="Calibri"/>
                <a:ea typeface="Calibri"/>
                <a:cs typeface="Calibri"/>
                <a:sym typeface="Calibri"/>
              </a:rPr>
              <a:t>log-rank test</a:t>
            </a:r>
            <a:r>
              <a:rPr lang="zh-TW" sz="1800" b="0" i="0" u="none" strike="noStrike" cap="none" dirty="0">
                <a:solidFill>
                  <a:schemeClr val="dk1"/>
                </a:solidFill>
                <a:latin typeface="Calibri"/>
                <a:ea typeface="Calibri"/>
                <a:cs typeface="Calibri"/>
                <a:sym typeface="Calibri"/>
              </a:rPr>
              <a:t> to assess statistical significance (p &lt; 0.05)</a:t>
            </a:r>
            <a:endParaRPr sz="1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1200"/>
              </a:spcBef>
              <a:spcAft>
                <a:spcPts val="0"/>
              </a:spcAft>
              <a:buClr>
                <a:srgbClr val="000000"/>
              </a:buClr>
              <a:buSzPts val="1800"/>
              <a:buFont typeface="Arial"/>
              <a:buNone/>
            </a:pPr>
            <a:r>
              <a:rPr lang="zh-TW" sz="2000" b="1" i="0" u="none" strike="noStrike" cap="none" dirty="0">
                <a:solidFill>
                  <a:schemeClr val="dk1"/>
                </a:solidFill>
                <a:latin typeface="Calibri"/>
                <a:ea typeface="Calibri"/>
                <a:cs typeface="Calibri"/>
                <a:sym typeface="Calibri"/>
              </a:rPr>
              <a:t>2. (Optional) Cox Proportional Hazards Model</a:t>
            </a:r>
            <a:endParaRPr sz="2000" b="1"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1200"/>
              </a:spcBef>
              <a:spcAft>
                <a:spcPts val="0"/>
              </a:spcAft>
              <a:buClr>
                <a:schemeClr val="dk1"/>
              </a:buClr>
              <a:buSzPts val="1800"/>
              <a:buFont typeface="Calibri"/>
              <a:buChar char="●"/>
            </a:pPr>
            <a:r>
              <a:rPr lang="zh-TW" sz="1800" b="1" i="0" u="none" strike="noStrike" cap="none" dirty="0">
                <a:solidFill>
                  <a:schemeClr val="dk1"/>
                </a:solidFill>
                <a:latin typeface="Calibri"/>
                <a:ea typeface="Calibri"/>
                <a:cs typeface="Calibri"/>
                <a:sym typeface="Calibri"/>
              </a:rPr>
              <a:t>Cox regression estimates the magnitude of risk difference between groups</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Estimate the </a:t>
            </a:r>
            <a:r>
              <a:rPr lang="zh-TW" sz="1800" b="1" i="0" u="none" strike="noStrike" cap="none" dirty="0">
                <a:solidFill>
                  <a:schemeClr val="dk1"/>
                </a:solidFill>
                <a:latin typeface="Calibri"/>
                <a:ea typeface="Calibri"/>
                <a:cs typeface="Calibri"/>
                <a:sym typeface="Calibri"/>
              </a:rPr>
              <a:t>hazard ratio (HR)</a:t>
            </a:r>
            <a:r>
              <a:rPr lang="zh-TW" sz="1800" b="0" i="0" u="none" strike="noStrike" cap="none" dirty="0">
                <a:solidFill>
                  <a:schemeClr val="dk1"/>
                </a:solidFill>
                <a:latin typeface="Calibri"/>
                <a:ea typeface="Calibri"/>
                <a:cs typeface="Calibri"/>
                <a:sym typeface="Calibri"/>
              </a:rPr>
              <a:t> for the high-risk group</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Adjust for covariates (e.g., age, sex, stage) if needed</a:t>
            </a:r>
            <a:endParaRPr sz="1800" b="0" i="0" u="none" strike="noStrike" cap="none" dirty="0">
              <a:solidFill>
                <a:schemeClr val="dk1"/>
              </a:solidFill>
              <a:latin typeface="Calibri"/>
              <a:ea typeface="Calibri"/>
              <a:cs typeface="Calibri"/>
              <a:sym typeface="Calibri"/>
            </a:endParaRPr>
          </a:p>
          <a:p>
            <a:pPr marL="457200" marR="0" lvl="0" indent="-342900" algn="l" rtl="0">
              <a:lnSpc>
                <a:spcPct val="150000"/>
              </a:lnSpc>
              <a:spcBef>
                <a:spcPts val="0"/>
              </a:spcBef>
              <a:spcAft>
                <a:spcPts val="0"/>
              </a:spcAft>
              <a:buClr>
                <a:schemeClr val="dk1"/>
              </a:buClr>
              <a:buSzPts val="1800"/>
              <a:buFont typeface="Calibri"/>
              <a:buChar char="●"/>
            </a:pPr>
            <a:r>
              <a:rPr lang="zh-TW" sz="1800" b="0" i="0" u="none" strike="noStrike" cap="none" dirty="0">
                <a:solidFill>
                  <a:schemeClr val="dk1"/>
                </a:solidFill>
                <a:latin typeface="Calibri"/>
                <a:ea typeface="Calibri"/>
                <a:cs typeface="Calibri"/>
                <a:sym typeface="Calibri"/>
              </a:rPr>
              <a:t>Report: HR, 95% CI, and p-value (HR &gt; 1: increased risk; HR &lt; 1: protective) </a:t>
            </a:r>
            <a:endParaRPr sz="1800" b="0" i="0" u="none" strike="noStrike" cap="none" dirty="0">
              <a:solidFill>
                <a:schemeClr val="dk1"/>
              </a:solidFill>
              <a:latin typeface="Calibri"/>
              <a:ea typeface="Calibri"/>
              <a:cs typeface="Calibri"/>
              <a:sym typeface="Calibri"/>
            </a:endParaRPr>
          </a:p>
        </p:txBody>
      </p:sp>
      <p:sp>
        <p:nvSpPr>
          <p:cNvPr id="5" name="文字方塊 4">
            <a:extLst>
              <a:ext uri="{FF2B5EF4-FFF2-40B4-BE49-F238E27FC236}">
                <a16:creationId xmlns:a16="http://schemas.microsoft.com/office/drawing/2014/main" id="{9FA30538-02A5-40C7-C2AD-D0DCE3826A8B}"/>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2.3 SHAP-based Interpretation, Threshold Discovery and Validation</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C2E832C6-63A3-1A27-3D0E-586228EFD821}"/>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7A90091E-AAB9-0627-B2BF-713285507164}"/>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32</a:t>
            </a:fld>
            <a:endParaRPr lang="en-US"/>
          </a:p>
        </p:txBody>
      </p:sp>
      <p:sp>
        <p:nvSpPr>
          <p:cNvPr id="3" name="矩形 2">
            <a:extLst>
              <a:ext uri="{FF2B5EF4-FFF2-40B4-BE49-F238E27FC236}">
                <a16:creationId xmlns:a16="http://schemas.microsoft.com/office/drawing/2014/main" id="{AA24BAF3-103C-21CB-392F-D74D297CA277}"/>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Google Shape;451;p28">
            <a:extLst>
              <a:ext uri="{FF2B5EF4-FFF2-40B4-BE49-F238E27FC236}">
                <a16:creationId xmlns:a16="http://schemas.microsoft.com/office/drawing/2014/main" id="{2D25A95E-2F31-9975-EE27-153C2E57AACB}"/>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32</a:t>
            </a:fld>
            <a:endParaRPr/>
          </a:p>
        </p:txBody>
      </p:sp>
      <p:sp>
        <p:nvSpPr>
          <p:cNvPr id="6" name="文字方塊 5">
            <a:extLst>
              <a:ext uri="{FF2B5EF4-FFF2-40B4-BE49-F238E27FC236}">
                <a16:creationId xmlns:a16="http://schemas.microsoft.com/office/drawing/2014/main" id="{E3D3256A-04C9-4A8F-6DD3-864F717CE428}"/>
              </a:ext>
            </a:extLst>
          </p:cNvPr>
          <p:cNvSpPr txBox="1"/>
          <p:nvPr/>
        </p:nvSpPr>
        <p:spPr>
          <a:xfrm>
            <a:off x="2781611" y="111297"/>
            <a:ext cx="6370320" cy="671851"/>
          </a:xfrm>
          <a:prstGeom prst="rect">
            <a:avLst/>
          </a:prstGeom>
          <a:noFill/>
        </p:spPr>
        <p:txBody>
          <a:bodyPr wrap="square">
            <a:spAutoFit/>
          </a:bodyPr>
          <a:lstStyle/>
          <a:p>
            <a:pPr marL="457200" marR="0" lvl="0" indent="0" algn="ctr" rtl="0">
              <a:lnSpc>
                <a:spcPct val="150000"/>
              </a:lnSpc>
              <a:spcBef>
                <a:spcPts val="0"/>
              </a:spcBef>
              <a:spcAft>
                <a:spcPts val="0"/>
              </a:spcAft>
              <a:buClr>
                <a:schemeClr val="dk1"/>
              </a:buClr>
              <a:buSzPts val="1100"/>
              <a:buFont typeface="Arial"/>
              <a:buNone/>
            </a:pPr>
            <a:r>
              <a:rPr lang="en-US" sz="2800" b="1" dirty="0">
                <a:solidFill>
                  <a:schemeClr val="tx1"/>
                </a:solidFill>
                <a:latin typeface="Calibri"/>
                <a:ea typeface="Calibri"/>
                <a:cs typeface="Calibri"/>
                <a:sym typeface="Calibri"/>
              </a:rPr>
              <a:t>Preliminary Results</a:t>
            </a:r>
            <a:endParaRPr lang="en-US" sz="2800" b="1" i="0" u="none" strike="noStrike" cap="none" dirty="0">
              <a:solidFill>
                <a:schemeClr val="tx1"/>
              </a:solidFill>
              <a:latin typeface="Calibri"/>
              <a:ea typeface="Calibri"/>
              <a:cs typeface="Calibri"/>
              <a:sym typeface="Calibri"/>
            </a:endParaRPr>
          </a:p>
        </p:txBody>
      </p:sp>
      <p:sp>
        <p:nvSpPr>
          <p:cNvPr id="8" name="文字方塊 7">
            <a:extLst>
              <a:ext uri="{FF2B5EF4-FFF2-40B4-BE49-F238E27FC236}">
                <a16:creationId xmlns:a16="http://schemas.microsoft.com/office/drawing/2014/main" id="{8FFF6413-6711-F9BB-FAAC-046E56FC5701}"/>
              </a:ext>
            </a:extLst>
          </p:cNvPr>
          <p:cNvSpPr txBox="1"/>
          <p:nvPr/>
        </p:nvSpPr>
        <p:spPr>
          <a:xfrm>
            <a:off x="786782" y="1196574"/>
            <a:ext cx="10774680" cy="4384277"/>
          </a:xfrm>
          <a:prstGeom prst="rect">
            <a:avLst/>
          </a:prstGeom>
          <a:noFill/>
        </p:spPr>
        <p:txBody>
          <a:bodyPr wrap="square">
            <a:spAutoFit/>
          </a:bodyPr>
          <a:lstStyle/>
          <a:p>
            <a:pPr>
              <a:lnSpc>
                <a:spcPct val="150000"/>
              </a:lnSpc>
              <a:buNone/>
            </a:pPr>
            <a:r>
              <a:rPr lang="en-US" sz="2000" b="1" dirty="0">
                <a:latin typeface="Calibri" panose="020F0502020204030204" pitchFamily="34" charset="0"/>
                <a:cs typeface="Calibri" panose="020F0502020204030204" pitchFamily="34" charset="0"/>
              </a:rPr>
              <a:t>Data Preprocessing</a:t>
            </a:r>
          </a:p>
          <a:p>
            <a:pPr marL="342900" indent="-34290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Two patients with missing </a:t>
            </a:r>
            <a:r>
              <a:rPr lang="en-US" sz="1800" b="1" dirty="0">
                <a:latin typeface="Calibri" panose="020F0502020204030204" pitchFamily="34" charset="0"/>
                <a:cs typeface="Calibri" panose="020F0502020204030204" pitchFamily="34" charset="0"/>
              </a:rPr>
              <a:t>Skeletal Muscle Density (SMD)</a:t>
            </a:r>
            <a:r>
              <a:rPr lang="en-US" sz="1800" dirty="0">
                <a:latin typeface="Calibri" panose="020F0502020204030204" pitchFamily="34" charset="0"/>
                <a:cs typeface="Calibri" panose="020F0502020204030204" pitchFamily="34" charset="0"/>
              </a:rPr>
              <a:t> values were excluded from analysis.</a:t>
            </a:r>
          </a:p>
          <a:p>
            <a:pPr>
              <a:lnSpc>
                <a:spcPct val="150000"/>
              </a:lnSpc>
              <a:buNone/>
            </a:pPr>
            <a:r>
              <a:rPr lang="en-US" sz="2000" b="1" dirty="0">
                <a:latin typeface="Calibri" panose="020F0502020204030204" pitchFamily="34" charset="0"/>
                <a:cs typeface="Calibri" panose="020F0502020204030204" pitchFamily="34" charset="0"/>
              </a:rPr>
              <a:t>Dataset Split</a:t>
            </a:r>
          </a:p>
          <a:p>
            <a:pPr marL="342900" indent="-34290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The dataset was randomly divided into:</a:t>
            </a:r>
          </a:p>
          <a:p>
            <a:pPr marL="742950" lvl="1"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80% training set </a:t>
            </a:r>
            <a:r>
              <a:rPr lang="en-US" sz="1800" dirty="0">
                <a:latin typeface="Calibri" panose="020F0502020204030204" pitchFamily="34" charset="0"/>
                <a:cs typeface="Calibri" panose="020F0502020204030204" pitchFamily="34" charset="0"/>
              </a:rPr>
              <a:t>(</a:t>
            </a:r>
            <a:r>
              <a:rPr lang="en-US" altLang="zh-TW" sz="1800" dirty="0">
                <a:latin typeface="Calibri" panose="020F0502020204030204" pitchFamily="34" charset="0"/>
                <a:cs typeface="Calibri" panose="020F0502020204030204" pitchFamily="34" charset="0"/>
              </a:rPr>
              <a:t>OS:</a:t>
            </a:r>
            <a:r>
              <a:rPr lang="zh-TW" altLang="en-US" sz="180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178/322,</a:t>
            </a:r>
            <a:r>
              <a:rPr lang="zh-TW" altLang="en-US" sz="1800" dirty="0">
                <a:latin typeface="Calibri" panose="020F0502020204030204" pitchFamily="34" charset="0"/>
                <a:cs typeface="Calibri" panose="020F0502020204030204" pitchFamily="34" charset="0"/>
              </a:rPr>
              <a:t> </a:t>
            </a:r>
            <a:r>
              <a:rPr lang="en-US" altLang="zh-TW" sz="1800" dirty="0">
                <a:latin typeface="Calibri" panose="020F0502020204030204" pitchFamily="34" charset="0"/>
                <a:cs typeface="Calibri" panose="020F0502020204030204" pitchFamily="34" charset="0"/>
              </a:rPr>
              <a:t>PFS:</a:t>
            </a:r>
            <a:r>
              <a:rPr lang="zh-TW" altLang="en-US" sz="1800" dirty="0">
                <a:latin typeface="Calibri" panose="020F0502020204030204" pitchFamily="34" charset="0"/>
                <a:cs typeface="Calibri" panose="020F0502020204030204" pitchFamily="34" charset="0"/>
              </a:rPr>
              <a:t> </a:t>
            </a:r>
            <a:r>
              <a:rPr lang="en-US" altLang="zh-TW" sz="1800" dirty="0">
                <a:latin typeface="Calibri" panose="020F0502020204030204" pitchFamily="34" charset="0"/>
                <a:cs typeface="Calibri" panose="020F0502020204030204" pitchFamily="34" charset="0"/>
              </a:rPr>
              <a:t>239/261</a:t>
            </a:r>
            <a:r>
              <a:rPr lang="en-US" sz="1800" dirty="0">
                <a:latin typeface="Calibri" panose="020F0502020204030204" pitchFamily="34" charset="0"/>
                <a:cs typeface="Calibri" panose="020F0502020204030204" pitchFamily="34" charset="0"/>
              </a:rPr>
              <a:t>)</a:t>
            </a:r>
          </a:p>
          <a:p>
            <a:pPr marL="742950" lvl="1" indent="-28575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20% testing set </a:t>
            </a:r>
            <a:r>
              <a:rPr lang="en-US" sz="1800" dirty="0">
                <a:latin typeface="Calibri" panose="020F0502020204030204" pitchFamily="34" charset="0"/>
                <a:cs typeface="Calibri" panose="020F0502020204030204" pitchFamily="34" charset="0"/>
              </a:rPr>
              <a:t>(</a:t>
            </a:r>
            <a:r>
              <a:rPr lang="en-US" altLang="zh-TW" sz="1800" dirty="0">
                <a:latin typeface="Calibri" panose="020F0502020204030204" pitchFamily="34" charset="0"/>
                <a:cs typeface="Calibri" panose="020F0502020204030204" pitchFamily="34" charset="0"/>
              </a:rPr>
              <a:t>OS:</a:t>
            </a:r>
            <a:r>
              <a:rPr lang="zh-TW" altLang="en-US" sz="180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45/80, </a:t>
            </a:r>
            <a:r>
              <a:rPr lang="en-US" altLang="zh-TW" sz="1800" dirty="0">
                <a:latin typeface="Calibri" panose="020F0502020204030204" pitchFamily="34" charset="0"/>
                <a:cs typeface="Calibri" panose="020F0502020204030204" pitchFamily="34" charset="0"/>
              </a:rPr>
              <a:t> PFS:</a:t>
            </a:r>
            <a:r>
              <a:rPr lang="zh-TW" altLang="en-US" sz="1800" dirty="0">
                <a:latin typeface="Calibri" panose="020F0502020204030204" pitchFamily="34" charset="0"/>
                <a:cs typeface="Calibri" panose="020F0502020204030204" pitchFamily="34" charset="0"/>
              </a:rPr>
              <a:t> </a:t>
            </a:r>
            <a:r>
              <a:rPr lang="en-US" altLang="zh-TW" sz="1800" dirty="0">
                <a:latin typeface="Calibri" panose="020F0502020204030204" pitchFamily="34" charset="0"/>
                <a:cs typeface="Calibri" panose="020F0502020204030204" pitchFamily="34" charset="0"/>
              </a:rPr>
              <a:t>60/65</a:t>
            </a:r>
            <a:r>
              <a:rPr lang="en-US" sz="18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No internal cross-validation or hyperparameter tuning was conducted in this preliminary phase. </a:t>
            </a:r>
          </a:p>
          <a:p>
            <a:pPr>
              <a:lnSpc>
                <a:spcPct val="150000"/>
              </a:lnSpc>
            </a:pPr>
            <a:r>
              <a:rPr lang="en-US" sz="2000" b="1" dirty="0">
                <a:latin typeface="Calibri" panose="020F0502020204030204" pitchFamily="34" charset="0"/>
                <a:cs typeface="Calibri" panose="020F0502020204030204" pitchFamily="34" charset="0"/>
              </a:rPr>
              <a:t>Modeling Approaches</a:t>
            </a:r>
          </a:p>
          <a:p>
            <a:pPr marL="342900" indent="-342900">
              <a:lnSpc>
                <a:spcPct val="150000"/>
              </a:lnSpc>
              <a:buFont typeface="Arial" panose="020B0604020202020204" pitchFamily="34" charset="0"/>
              <a:buChar char="•"/>
            </a:pPr>
            <a:r>
              <a:rPr lang="en-US" sz="1800" b="1" dirty="0">
                <a:latin typeface="Calibri" panose="020F0502020204030204" pitchFamily="34" charset="0"/>
                <a:cs typeface="Calibri" panose="020F0502020204030204" pitchFamily="34" charset="0"/>
              </a:rPr>
              <a:t>Time-to-event survival analysis:</a:t>
            </a:r>
            <a:endParaRPr lang="en-US" sz="1800" dirty="0">
              <a:latin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Applied </a:t>
            </a:r>
            <a:r>
              <a:rPr lang="en-US" sz="1800" b="1" dirty="0">
                <a:latin typeface="Calibri" panose="020F0502020204030204" pitchFamily="34" charset="0"/>
                <a:cs typeface="Calibri" panose="020F0502020204030204" pitchFamily="34" charset="0"/>
              </a:rPr>
              <a:t>Cox Proportional Hazards (CPH)</a:t>
            </a:r>
            <a:r>
              <a:rPr lang="en-US" sz="1800" dirty="0">
                <a:latin typeface="Calibri" panose="020F0502020204030204" pitchFamily="34" charset="0"/>
                <a:cs typeface="Calibri" panose="020F0502020204030204" pitchFamily="34" charset="0"/>
              </a:rPr>
              <a:t> and </a:t>
            </a:r>
            <a:r>
              <a:rPr lang="en-US" sz="1800" b="1" dirty="0">
                <a:latin typeface="Calibri" panose="020F0502020204030204" pitchFamily="34" charset="0"/>
                <a:cs typeface="Calibri" panose="020F0502020204030204" pitchFamily="34" charset="0"/>
              </a:rPr>
              <a:t>Random Survival Forest (RSF)</a:t>
            </a:r>
            <a:r>
              <a:rPr lang="en-US" sz="1800" dirty="0">
                <a:latin typeface="Calibri" panose="020F0502020204030204" pitchFamily="34" charset="0"/>
                <a:cs typeface="Calibri" panose="020F0502020204030204" pitchFamily="34" charset="0"/>
              </a:rPr>
              <a:t> models</a:t>
            </a:r>
            <a:r>
              <a:rPr lang="en-US" sz="2000" dirty="0">
                <a:latin typeface="Calibri" panose="020F0502020204030204" pitchFamily="34" charset="0"/>
                <a:cs typeface="Calibri" panose="020F0502020204030204" pitchFamily="34" charset="0"/>
              </a:rPr>
              <a:t>.</a:t>
            </a:r>
          </a:p>
        </p:txBody>
      </p:sp>
      <p:sp>
        <p:nvSpPr>
          <p:cNvPr id="5" name="文字方塊 4">
            <a:extLst>
              <a:ext uri="{FF2B5EF4-FFF2-40B4-BE49-F238E27FC236}">
                <a16:creationId xmlns:a16="http://schemas.microsoft.com/office/drawing/2014/main" id="{3EB41E8A-3C30-F475-1920-2637FD3562AC}"/>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2.4 Preliminary Results</a:t>
            </a:r>
            <a:endParaRPr lang="en-US" sz="1400" b="0" i="0" u="none" strike="noStrike" cap="none"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647921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93465520-1461-128E-79FE-028C51E22BC2}"/>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F0BE3AF1-51A4-48A4-0FA1-248B28833A84}"/>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33</a:t>
            </a:fld>
            <a:endParaRPr lang="en-US"/>
          </a:p>
        </p:txBody>
      </p:sp>
      <p:sp>
        <p:nvSpPr>
          <p:cNvPr id="3" name="矩形 2">
            <a:extLst>
              <a:ext uri="{FF2B5EF4-FFF2-40B4-BE49-F238E27FC236}">
                <a16:creationId xmlns:a16="http://schemas.microsoft.com/office/drawing/2014/main" id="{5964EAED-0D90-93B4-E1C2-6816CBD9D1F8}"/>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Google Shape;451;p28">
            <a:extLst>
              <a:ext uri="{FF2B5EF4-FFF2-40B4-BE49-F238E27FC236}">
                <a16:creationId xmlns:a16="http://schemas.microsoft.com/office/drawing/2014/main" id="{0A3634AF-CB23-AD69-64A2-61430E630771}"/>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33</a:t>
            </a:fld>
            <a:endParaRPr/>
          </a:p>
        </p:txBody>
      </p:sp>
      <p:sp>
        <p:nvSpPr>
          <p:cNvPr id="7" name="文字方塊 6">
            <a:extLst>
              <a:ext uri="{FF2B5EF4-FFF2-40B4-BE49-F238E27FC236}">
                <a16:creationId xmlns:a16="http://schemas.microsoft.com/office/drawing/2014/main" id="{51A7FF02-0612-9E96-D298-BEB277B3D2D7}"/>
              </a:ext>
            </a:extLst>
          </p:cNvPr>
          <p:cNvSpPr txBox="1"/>
          <p:nvPr/>
        </p:nvSpPr>
        <p:spPr>
          <a:xfrm>
            <a:off x="1552363" y="950004"/>
            <a:ext cx="6177914" cy="967957"/>
          </a:xfrm>
          <a:prstGeom prst="rect">
            <a:avLst/>
          </a:prstGeom>
          <a:noFill/>
        </p:spPr>
        <p:txBody>
          <a:bodyPr wrap="square">
            <a:spAutoFit/>
          </a:bodyPr>
          <a:lstStyle/>
          <a:p>
            <a:pPr>
              <a:lnSpc>
                <a:spcPct val="150000"/>
              </a:lnSpc>
            </a:pPr>
            <a:r>
              <a:rPr lang="en-US" sz="2000" dirty="0">
                <a:solidFill>
                  <a:srgbClr val="1F1F1F"/>
                </a:solidFill>
                <a:latin typeface="Calibri" panose="020F0502020204030204" pitchFamily="34" charset="0"/>
                <a:cs typeface="Calibri" panose="020F0502020204030204" pitchFamily="34" charset="0"/>
              </a:rPr>
              <a:t>C</a:t>
            </a:r>
            <a:r>
              <a:rPr lang="en-US" sz="2000" i="0" dirty="0">
                <a:solidFill>
                  <a:srgbClr val="1F1F1F"/>
                </a:solidFill>
                <a:effectLst/>
                <a:latin typeface="Calibri" panose="020F0502020204030204" pitchFamily="34" charset="0"/>
                <a:cs typeface="Calibri" panose="020F0502020204030204" pitchFamily="34" charset="0"/>
              </a:rPr>
              <a:t>PH </a:t>
            </a:r>
            <a:r>
              <a:rPr lang="en-US" sz="2000" dirty="0">
                <a:solidFill>
                  <a:srgbClr val="1F1F1F"/>
                </a:solidFill>
                <a:latin typeface="Calibri" panose="020F0502020204030204" pitchFamily="34" charset="0"/>
                <a:cs typeface="Calibri" panose="020F0502020204030204" pitchFamily="34" charset="0"/>
              </a:rPr>
              <a:t>(</a:t>
            </a:r>
            <a:r>
              <a:rPr lang="en-US" altLang="zh-TW" sz="2000" dirty="0">
                <a:solidFill>
                  <a:srgbClr val="1F1F1F"/>
                </a:solidFill>
                <a:latin typeface="Calibri" panose="020F0502020204030204" pitchFamily="34" charset="0"/>
                <a:cs typeface="Calibri" panose="020F0502020204030204" pitchFamily="34" charset="0"/>
              </a:rPr>
              <a:t>O</a:t>
            </a:r>
            <a:r>
              <a:rPr lang="en-US" sz="2000" dirty="0">
                <a:solidFill>
                  <a:srgbClr val="1F1F1F"/>
                </a:solidFill>
                <a:latin typeface="Calibri" panose="020F0502020204030204" pitchFamily="34" charset="0"/>
                <a:cs typeface="Calibri" panose="020F0502020204030204" pitchFamily="34" charset="0"/>
              </a:rPr>
              <a:t>S) </a:t>
            </a:r>
            <a:r>
              <a:rPr lang="en-US" sz="2000" i="0" dirty="0">
                <a:solidFill>
                  <a:srgbClr val="1F1F1F"/>
                </a:solidFill>
                <a:effectLst/>
                <a:latin typeface="Calibri" panose="020F0502020204030204" pitchFamily="34" charset="0"/>
                <a:cs typeface="Calibri" panose="020F0502020204030204" pitchFamily="34" charset="0"/>
              </a:rPr>
              <a:t>C-index: 0.8141</a:t>
            </a:r>
          </a:p>
          <a:p>
            <a:pPr>
              <a:lnSpc>
                <a:spcPct val="150000"/>
              </a:lnSpc>
            </a:pPr>
            <a:r>
              <a:rPr lang="en-US" sz="2000" i="0" dirty="0">
                <a:solidFill>
                  <a:srgbClr val="1F1F1F"/>
                </a:solidFill>
                <a:effectLst/>
                <a:latin typeface="Calibri" panose="020F0502020204030204" pitchFamily="34" charset="0"/>
                <a:cs typeface="Calibri" panose="020F0502020204030204" pitchFamily="34" charset="0"/>
              </a:rPr>
              <a:t>RSF </a:t>
            </a:r>
            <a:r>
              <a:rPr lang="en-US" sz="2000" dirty="0">
                <a:solidFill>
                  <a:srgbClr val="1F1F1F"/>
                </a:solidFill>
                <a:latin typeface="Calibri" panose="020F0502020204030204" pitchFamily="34" charset="0"/>
                <a:cs typeface="Calibri" panose="020F0502020204030204" pitchFamily="34" charset="0"/>
              </a:rPr>
              <a:t>(</a:t>
            </a:r>
            <a:r>
              <a:rPr lang="en-US" altLang="zh-TW" sz="2000" dirty="0">
                <a:solidFill>
                  <a:srgbClr val="1F1F1F"/>
                </a:solidFill>
                <a:latin typeface="Calibri" panose="020F0502020204030204" pitchFamily="34" charset="0"/>
                <a:cs typeface="Calibri" panose="020F0502020204030204" pitchFamily="34" charset="0"/>
              </a:rPr>
              <a:t>OS</a:t>
            </a:r>
            <a:r>
              <a:rPr lang="en-US" sz="2000" dirty="0">
                <a:solidFill>
                  <a:srgbClr val="1F1F1F"/>
                </a:solidFill>
                <a:latin typeface="Calibri" panose="020F0502020204030204" pitchFamily="34" charset="0"/>
                <a:cs typeface="Calibri" panose="020F0502020204030204" pitchFamily="34" charset="0"/>
              </a:rPr>
              <a:t>) </a:t>
            </a:r>
            <a:r>
              <a:rPr lang="en-US" sz="2000" i="0" dirty="0">
                <a:solidFill>
                  <a:srgbClr val="1F1F1F"/>
                </a:solidFill>
                <a:effectLst/>
                <a:latin typeface="Calibri" panose="020F0502020204030204" pitchFamily="34" charset="0"/>
                <a:cs typeface="Calibri" panose="020F0502020204030204" pitchFamily="34" charset="0"/>
              </a:rPr>
              <a:t>C-index: 0.8070</a:t>
            </a:r>
            <a:endParaRPr lang="en-US" sz="2000" dirty="0">
              <a:latin typeface="Calibri" panose="020F0502020204030204" pitchFamily="34" charset="0"/>
              <a:cs typeface="Calibri" panose="020F0502020204030204" pitchFamily="34" charset="0"/>
            </a:endParaRPr>
          </a:p>
        </p:txBody>
      </p:sp>
      <p:sp>
        <p:nvSpPr>
          <p:cNvPr id="12" name="文字方塊 11">
            <a:extLst>
              <a:ext uri="{FF2B5EF4-FFF2-40B4-BE49-F238E27FC236}">
                <a16:creationId xmlns:a16="http://schemas.microsoft.com/office/drawing/2014/main" id="{CDFCD706-0F77-AD40-CA0B-081E742F27B1}"/>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2.4 Preliminary Results</a:t>
            </a:r>
            <a:endParaRPr lang="en-US" sz="1400" b="0" i="0" u="none" strike="noStrike" cap="none" dirty="0">
              <a:solidFill>
                <a:schemeClr val="bg1"/>
              </a:solidFill>
              <a:latin typeface="Calibri"/>
              <a:ea typeface="Calibri"/>
              <a:cs typeface="Calibri"/>
              <a:sym typeface="Calibri"/>
            </a:endParaRPr>
          </a:p>
        </p:txBody>
      </p:sp>
      <p:sp>
        <p:nvSpPr>
          <p:cNvPr id="6" name="文字方塊 5">
            <a:extLst>
              <a:ext uri="{FF2B5EF4-FFF2-40B4-BE49-F238E27FC236}">
                <a16:creationId xmlns:a16="http://schemas.microsoft.com/office/drawing/2014/main" id="{824291EF-1EA6-759F-EA61-0DD34A42713F}"/>
              </a:ext>
            </a:extLst>
          </p:cNvPr>
          <p:cNvSpPr txBox="1"/>
          <p:nvPr/>
        </p:nvSpPr>
        <p:spPr>
          <a:xfrm>
            <a:off x="1936252" y="248824"/>
            <a:ext cx="7680960" cy="523220"/>
          </a:xfrm>
          <a:prstGeom prst="rect">
            <a:avLst/>
          </a:prstGeom>
          <a:noFill/>
        </p:spPr>
        <p:txBody>
          <a:bodyPr wrap="square">
            <a:spAutoFit/>
          </a:bodyPr>
          <a:lstStyle/>
          <a:p>
            <a:pPr algn="ctr"/>
            <a:r>
              <a:rPr lang="en-US" sz="2800" b="1" dirty="0">
                <a:latin typeface="Calibri" panose="020F0502020204030204" pitchFamily="34" charset="0"/>
                <a:cs typeface="Calibri" panose="020F0502020204030204" pitchFamily="34" charset="0"/>
              </a:rPr>
              <a:t>Survival Prediction for Overall Survival (OS)</a:t>
            </a:r>
          </a:p>
        </p:txBody>
      </p:sp>
      <p:pic>
        <p:nvPicPr>
          <p:cNvPr id="13" name="圖片 12">
            <a:extLst>
              <a:ext uri="{FF2B5EF4-FFF2-40B4-BE49-F238E27FC236}">
                <a16:creationId xmlns:a16="http://schemas.microsoft.com/office/drawing/2014/main" id="{9745739B-A0C4-6681-BED9-252C4AA636EF}"/>
              </a:ext>
            </a:extLst>
          </p:cNvPr>
          <p:cNvPicPr>
            <a:picLocks noChangeAspect="1"/>
          </p:cNvPicPr>
          <p:nvPr/>
        </p:nvPicPr>
        <p:blipFill>
          <a:blip r:embed="rId3"/>
          <a:stretch>
            <a:fillRect/>
          </a:stretch>
        </p:blipFill>
        <p:spPr>
          <a:xfrm>
            <a:off x="581990" y="2003194"/>
            <a:ext cx="4965955" cy="4489681"/>
          </a:xfrm>
          <a:prstGeom prst="rect">
            <a:avLst/>
          </a:prstGeom>
        </p:spPr>
      </p:pic>
      <p:pic>
        <p:nvPicPr>
          <p:cNvPr id="5" name="圖片 4">
            <a:extLst>
              <a:ext uri="{FF2B5EF4-FFF2-40B4-BE49-F238E27FC236}">
                <a16:creationId xmlns:a16="http://schemas.microsoft.com/office/drawing/2014/main" id="{6538C992-4F46-B9C8-B015-B9F30E50C380}"/>
              </a:ext>
            </a:extLst>
          </p:cNvPr>
          <p:cNvPicPr>
            <a:picLocks noChangeAspect="1"/>
          </p:cNvPicPr>
          <p:nvPr/>
        </p:nvPicPr>
        <p:blipFill>
          <a:blip r:embed="rId4"/>
          <a:stretch>
            <a:fillRect/>
          </a:stretch>
        </p:blipFill>
        <p:spPr>
          <a:xfrm>
            <a:off x="5591128" y="885581"/>
            <a:ext cx="6308772" cy="5523152"/>
          </a:xfrm>
          <a:prstGeom prst="rect">
            <a:avLst/>
          </a:prstGeom>
        </p:spPr>
      </p:pic>
    </p:spTree>
    <p:extLst>
      <p:ext uri="{BB962C8B-B14F-4D97-AF65-F5344CB8AC3E}">
        <p14:creationId xmlns:p14="http://schemas.microsoft.com/office/powerpoint/2010/main" val="7305838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9DCBE94F-7A7C-9FE4-392E-5201D2BD6441}"/>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260068D8-55CC-FD2D-D470-9850736488E9}"/>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34</a:t>
            </a:fld>
            <a:endParaRPr lang="en-US"/>
          </a:p>
        </p:txBody>
      </p:sp>
      <p:sp>
        <p:nvSpPr>
          <p:cNvPr id="3" name="矩形 2">
            <a:extLst>
              <a:ext uri="{FF2B5EF4-FFF2-40B4-BE49-F238E27FC236}">
                <a16:creationId xmlns:a16="http://schemas.microsoft.com/office/drawing/2014/main" id="{80C91332-A79C-995F-6709-2712E4536355}"/>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Google Shape;451;p28">
            <a:extLst>
              <a:ext uri="{FF2B5EF4-FFF2-40B4-BE49-F238E27FC236}">
                <a16:creationId xmlns:a16="http://schemas.microsoft.com/office/drawing/2014/main" id="{8F7FD7DB-4F76-9B94-E920-A0CDA51C713A}"/>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34</a:t>
            </a:fld>
            <a:endParaRPr/>
          </a:p>
        </p:txBody>
      </p:sp>
      <p:pic>
        <p:nvPicPr>
          <p:cNvPr id="5" name="圖片 4">
            <a:extLst>
              <a:ext uri="{FF2B5EF4-FFF2-40B4-BE49-F238E27FC236}">
                <a16:creationId xmlns:a16="http://schemas.microsoft.com/office/drawing/2014/main" id="{7405A9F1-D4E2-76EB-6FFC-23C775AEA7D8}"/>
              </a:ext>
            </a:extLst>
          </p:cNvPr>
          <p:cNvPicPr>
            <a:picLocks noChangeAspect="1"/>
          </p:cNvPicPr>
          <p:nvPr/>
        </p:nvPicPr>
        <p:blipFill>
          <a:blip r:embed="rId3"/>
          <a:stretch>
            <a:fillRect/>
          </a:stretch>
        </p:blipFill>
        <p:spPr>
          <a:xfrm>
            <a:off x="177496" y="1899727"/>
            <a:ext cx="5918504" cy="3746693"/>
          </a:xfrm>
          <a:prstGeom prst="rect">
            <a:avLst/>
          </a:prstGeom>
        </p:spPr>
      </p:pic>
      <p:pic>
        <p:nvPicPr>
          <p:cNvPr id="9" name="圖片 8">
            <a:extLst>
              <a:ext uri="{FF2B5EF4-FFF2-40B4-BE49-F238E27FC236}">
                <a16:creationId xmlns:a16="http://schemas.microsoft.com/office/drawing/2014/main" id="{585D94EB-4B48-53B0-905A-F24628FE7574}"/>
              </a:ext>
            </a:extLst>
          </p:cNvPr>
          <p:cNvPicPr>
            <a:picLocks noChangeAspect="1"/>
          </p:cNvPicPr>
          <p:nvPr/>
        </p:nvPicPr>
        <p:blipFill>
          <a:blip r:embed="rId4"/>
          <a:stretch>
            <a:fillRect/>
          </a:stretch>
        </p:blipFill>
        <p:spPr>
          <a:xfrm>
            <a:off x="5897265" y="2001398"/>
            <a:ext cx="6117239" cy="3645022"/>
          </a:xfrm>
          <a:prstGeom prst="rect">
            <a:avLst/>
          </a:prstGeom>
        </p:spPr>
      </p:pic>
      <p:sp>
        <p:nvSpPr>
          <p:cNvPr id="10" name="文字方塊 9">
            <a:extLst>
              <a:ext uri="{FF2B5EF4-FFF2-40B4-BE49-F238E27FC236}">
                <a16:creationId xmlns:a16="http://schemas.microsoft.com/office/drawing/2014/main" id="{EC40290A-B6FC-42A4-14AF-677B4F0C9A00}"/>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2.4 Preliminary Results</a:t>
            </a:r>
            <a:endParaRPr lang="en-US" sz="1400" b="0" i="0" u="none" strike="noStrike" cap="none" dirty="0">
              <a:solidFill>
                <a:schemeClr val="bg1"/>
              </a:solidFill>
              <a:latin typeface="Calibri"/>
              <a:ea typeface="Calibri"/>
              <a:cs typeface="Calibri"/>
              <a:sym typeface="Calibri"/>
            </a:endParaRPr>
          </a:p>
        </p:txBody>
      </p:sp>
      <p:sp>
        <p:nvSpPr>
          <p:cNvPr id="4" name="文字方塊 3">
            <a:extLst>
              <a:ext uri="{FF2B5EF4-FFF2-40B4-BE49-F238E27FC236}">
                <a16:creationId xmlns:a16="http://schemas.microsoft.com/office/drawing/2014/main" id="{E14C7E7C-B967-7C3E-2D41-B82EDD3282FF}"/>
              </a:ext>
            </a:extLst>
          </p:cNvPr>
          <p:cNvSpPr txBox="1"/>
          <p:nvPr/>
        </p:nvSpPr>
        <p:spPr>
          <a:xfrm>
            <a:off x="1936252" y="248824"/>
            <a:ext cx="7680960" cy="523220"/>
          </a:xfrm>
          <a:prstGeom prst="rect">
            <a:avLst/>
          </a:prstGeom>
          <a:noFill/>
        </p:spPr>
        <p:txBody>
          <a:bodyPr wrap="square">
            <a:spAutoFit/>
          </a:bodyPr>
          <a:lstStyle/>
          <a:p>
            <a:pPr algn="ctr"/>
            <a:r>
              <a:rPr lang="en-US" sz="2800" b="1" dirty="0">
                <a:latin typeface="Calibri" panose="020F0502020204030204" pitchFamily="34" charset="0"/>
                <a:cs typeface="Calibri" panose="020F0502020204030204" pitchFamily="34" charset="0"/>
              </a:rPr>
              <a:t>SHAP</a:t>
            </a:r>
            <a:endParaRPr lang="en-US" sz="2800" b="1" dirty="0">
              <a:solidFill>
                <a:srgbClr val="FF0000"/>
              </a:solidFill>
              <a:latin typeface="Calibri" panose="020F0502020204030204" pitchFamily="34" charset="0"/>
              <a:cs typeface="Calibri" panose="020F0502020204030204" pitchFamily="34" charset="0"/>
            </a:endParaRPr>
          </a:p>
        </p:txBody>
      </p:sp>
      <p:sp>
        <p:nvSpPr>
          <p:cNvPr id="6" name="文字方塊 5">
            <a:extLst>
              <a:ext uri="{FF2B5EF4-FFF2-40B4-BE49-F238E27FC236}">
                <a16:creationId xmlns:a16="http://schemas.microsoft.com/office/drawing/2014/main" id="{2858C990-B013-C614-CC5A-FA9017F1CC45}"/>
              </a:ext>
            </a:extLst>
          </p:cNvPr>
          <p:cNvSpPr txBox="1"/>
          <p:nvPr/>
        </p:nvSpPr>
        <p:spPr>
          <a:xfrm>
            <a:off x="2581062" y="1071879"/>
            <a:ext cx="7036149" cy="506292"/>
          </a:xfrm>
          <a:prstGeom prst="rect">
            <a:avLst/>
          </a:prstGeom>
          <a:noFill/>
        </p:spPr>
        <p:txBody>
          <a:bodyPr wrap="square">
            <a:spAutoFit/>
          </a:bodyPr>
          <a:lstStyle/>
          <a:p>
            <a:pPr>
              <a:lnSpc>
                <a:spcPct val="150000"/>
              </a:lnSpc>
            </a:pPr>
            <a:r>
              <a:rPr lang="en-US" sz="2000" b="1" dirty="0">
                <a:solidFill>
                  <a:srgbClr val="1F1F1F"/>
                </a:solidFill>
                <a:latin typeface="Calibri" panose="020F0502020204030204" pitchFamily="34" charset="0"/>
                <a:cs typeface="Calibri" panose="020F0502020204030204" pitchFamily="34" charset="0"/>
              </a:rPr>
              <a:t>C</a:t>
            </a:r>
            <a:r>
              <a:rPr lang="en-US" sz="2000" b="1" i="0" dirty="0">
                <a:solidFill>
                  <a:srgbClr val="1F1F1F"/>
                </a:solidFill>
                <a:effectLst/>
                <a:latin typeface="Calibri" panose="020F0502020204030204" pitchFamily="34" charset="0"/>
                <a:cs typeface="Calibri" panose="020F0502020204030204" pitchFamily="34" charset="0"/>
              </a:rPr>
              <a:t>PH                                                                                              RSF</a:t>
            </a:r>
            <a:endParaRPr 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99063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78BA8D17-0DC8-5391-3F7F-31E0025B08ED}"/>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C17F7515-221D-C573-EC25-77928C39F31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35</a:t>
            </a:fld>
            <a:endParaRPr lang="en-US"/>
          </a:p>
        </p:txBody>
      </p:sp>
      <p:sp>
        <p:nvSpPr>
          <p:cNvPr id="3" name="矩形 2">
            <a:extLst>
              <a:ext uri="{FF2B5EF4-FFF2-40B4-BE49-F238E27FC236}">
                <a16:creationId xmlns:a16="http://schemas.microsoft.com/office/drawing/2014/main" id="{1374C122-34AC-F391-DB89-D62057BE2336}"/>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Google Shape;451;p28">
            <a:extLst>
              <a:ext uri="{FF2B5EF4-FFF2-40B4-BE49-F238E27FC236}">
                <a16:creationId xmlns:a16="http://schemas.microsoft.com/office/drawing/2014/main" id="{0A7B9700-543C-88DA-21BF-DCBD6F4E0B12}"/>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35</a:t>
            </a:fld>
            <a:endParaRPr/>
          </a:p>
        </p:txBody>
      </p:sp>
      <p:sp>
        <p:nvSpPr>
          <p:cNvPr id="7" name="文字方塊 6">
            <a:extLst>
              <a:ext uri="{FF2B5EF4-FFF2-40B4-BE49-F238E27FC236}">
                <a16:creationId xmlns:a16="http://schemas.microsoft.com/office/drawing/2014/main" id="{F850DABD-162F-4507-37C3-0A1562E3A972}"/>
              </a:ext>
            </a:extLst>
          </p:cNvPr>
          <p:cNvSpPr txBox="1"/>
          <p:nvPr/>
        </p:nvSpPr>
        <p:spPr>
          <a:xfrm>
            <a:off x="1552363" y="950004"/>
            <a:ext cx="6177914" cy="967957"/>
          </a:xfrm>
          <a:prstGeom prst="rect">
            <a:avLst/>
          </a:prstGeom>
          <a:noFill/>
        </p:spPr>
        <p:txBody>
          <a:bodyPr wrap="square">
            <a:spAutoFit/>
          </a:bodyPr>
          <a:lstStyle/>
          <a:p>
            <a:pPr>
              <a:lnSpc>
                <a:spcPct val="150000"/>
              </a:lnSpc>
            </a:pPr>
            <a:r>
              <a:rPr lang="en-US" sz="2000" dirty="0">
                <a:solidFill>
                  <a:srgbClr val="1F1F1F"/>
                </a:solidFill>
                <a:latin typeface="Calibri" panose="020F0502020204030204" pitchFamily="34" charset="0"/>
                <a:cs typeface="Calibri" panose="020F0502020204030204" pitchFamily="34" charset="0"/>
              </a:rPr>
              <a:t>CPH (PFS) C-index: 0.8060</a:t>
            </a:r>
          </a:p>
          <a:p>
            <a:pPr>
              <a:lnSpc>
                <a:spcPct val="150000"/>
              </a:lnSpc>
            </a:pPr>
            <a:r>
              <a:rPr lang="en-US" sz="2000" i="0" dirty="0">
                <a:solidFill>
                  <a:srgbClr val="1F1F1F"/>
                </a:solidFill>
                <a:effectLst/>
                <a:latin typeface="Calibri" panose="020F0502020204030204" pitchFamily="34" charset="0"/>
                <a:cs typeface="Calibri" panose="020F0502020204030204" pitchFamily="34" charset="0"/>
              </a:rPr>
              <a:t>RSF (PFS) C-index: 0.8118</a:t>
            </a:r>
            <a:endParaRPr lang="en-US" sz="2000" dirty="0">
              <a:latin typeface="Calibri" panose="020F0502020204030204" pitchFamily="34" charset="0"/>
              <a:cs typeface="Calibri" panose="020F0502020204030204" pitchFamily="34" charset="0"/>
            </a:endParaRPr>
          </a:p>
        </p:txBody>
      </p:sp>
      <p:sp>
        <p:nvSpPr>
          <p:cNvPr id="6" name="文字方塊 5">
            <a:extLst>
              <a:ext uri="{FF2B5EF4-FFF2-40B4-BE49-F238E27FC236}">
                <a16:creationId xmlns:a16="http://schemas.microsoft.com/office/drawing/2014/main" id="{1A8F4942-D3CF-C889-A6DC-CD682C88C451}"/>
              </a:ext>
            </a:extLst>
          </p:cNvPr>
          <p:cNvSpPr txBox="1"/>
          <p:nvPr/>
        </p:nvSpPr>
        <p:spPr>
          <a:xfrm>
            <a:off x="1936252" y="248824"/>
            <a:ext cx="8490448" cy="523220"/>
          </a:xfrm>
          <a:prstGeom prst="rect">
            <a:avLst/>
          </a:prstGeom>
          <a:noFill/>
        </p:spPr>
        <p:txBody>
          <a:bodyPr wrap="square">
            <a:spAutoFit/>
          </a:bodyPr>
          <a:lstStyle/>
          <a:p>
            <a:pPr algn="ctr"/>
            <a:r>
              <a:rPr lang="en-US" sz="2800" b="1" dirty="0">
                <a:latin typeface="Calibri" panose="020F0502020204030204" pitchFamily="34" charset="0"/>
                <a:cs typeface="Calibri" panose="020F0502020204030204" pitchFamily="34" charset="0"/>
              </a:rPr>
              <a:t>Survival Prediction for Progression-Free Survival (</a:t>
            </a:r>
            <a:r>
              <a:rPr lang="en-US" altLang="zh-TW" sz="2800" b="1" dirty="0">
                <a:latin typeface="Calibri" panose="020F0502020204030204" pitchFamily="34" charset="0"/>
                <a:cs typeface="Calibri" panose="020F0502020204030204" pitchFamily="34" charset="0"/>
              </a:rPr>
              <a:t>PFS</a:t>
            </a:r>
            <a:r>
              <a:rPr lang="en-US" sz="2800" b="1" dirty="0">
                <a:latin typeface="Calibri" panose="020F0502020204030204" pitchFamily="34" charset="0"/>
                <a:cs typeface="Calibri" panose="020F0502020204030204" pitchFamily="34" charset="0"/>
              </a:rPr>
              <a:t>)</a:t>
            </a:r>
          </a:p>
        </p:txBody>
      </p:sp>
      <p:pic>
        <p:nvPicPr>
          <p:cNvPr id="18" name="圖片 17">
            <a:extLst>
              <a:ext uri="{FF2B5EF4-FFF2-40B4-BE49-F238E27FC236}">
                <a16:creationId xmlns:a16="http://schemas.microsoft.com/office/drawing/2014/main" id="{1B0B3196-C6C3-FF10-BAFC-8CF121551E16}"/>
              </a:ext>
            </a:extLst>
          </p:cNvPr>
          <p:cNvPicPr>
            <a:picLocks noChangeAspect="1"/>
          </p:cNvPicPr>
          <p:nvPr/>
        </p:nvPicPr>
        <p:blipFill>
          <a:blip r:embed="rId3"/>
          <a:stretch>
            <a:fillRect/>
          </a:stretch>
        </p:blipFill>
        <p:spPr>
          <a:xfrm>
            <a:off x="485977" y="2030758"/>
            <a:ext cx="4865423" cy="4373903"/>
          </a:xfrm>
          <a:prstGeom prst="rect">
            <a:avLst/>
          </a:prstGeom>
        </p:spPr>
      </p:pic>
      <p:pic>
        <p:nvPicPr>
          <p:cNvPr id="5" name="圖片 4">
            <a:extLst>
              <a:ext uri="{FF2B5EF4-FFF2-40B4-BE49-F238E27FC236}">
                <a16:creationId xmlns:a16="http://schemas.microsoft.com/office/drawing/2014/main" id="{61E2EB00-F851-AA3F-37E7-069E8F0D309A}"/>
              </a:ext>
            </a:extLst>
          </p:cNvPr>
          <p:cNvPicPr>
            <a:picLocks noChangeAspect="1"/>
          </p:cNvPicPr>
          <p:nvPr/>
        </p:nvPicPr>
        <p:blipFill>
          <a:blip r:embed="rId4"/>
          <a:stretch>
            <a:fillRect/>
          </a:stretch>
        </p:blipFill>
        <p:spPr>
          <a:xfrm>
            <a:off x="5513091" y="920186"/>
            <a:ext cx="6442121" cy="5531114"/>
          </a:xfrm>
          <a:prstGeom prst="rect">
            <a:avLst/>
          </a:prstGeom>
        </p:spPr>
      </p:pic>
      <p:sp>
        <p:nvSpPr>
          <p:cNvPr id="9" name="文字方塊 8">
            <a:extLst>
              <a:ext uri="{FF2B5EF4-FFF2-40B4-BE49-F238E27FC236}">
                <a16:creationId xmlns:a16="http://schemas.microsoft.com/office/drawing/2014/main" id="{F0D6514B-326A-091A-5540-3B672289E838}"/>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2.4 Preliminary Results</a:t>
            </a:r>
            <a:endParaRPr lang="en-US" sz="1400" b="0" i="0" u="none" strike="noStrike" cap="none"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6201161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95C98C23-CC2D-FD31-B4A0-629A8138BB3A}"/>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8B280F09-FC0A-EA2A-3AB7-AE32F693EC6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36</a:t>
            </a:fld>
            <a:endParaRPr lang="en-US"/>
          </a:p>
        </p:txBody>
      </p:sp>
      <p:sp>
        <p:nvSpPr>
          <p:cNvPr id="3" name="矩形 2">
            <a:extLst>
              <a:ext uri="{FF2B5EF4-FFF2-40B4-BE49-F238E27FC236}">
                <a16:creationId xmlns:a16="http://schemas.microsoft.com/office/drawing/2014/main" id="{597133E7-119E-8E55-8EB7-DF0A3676BFAE}"/>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Google Shape;451;p28">
            <a:extLst>
              <a:ext uri="{FF2B5EF4-FFF2-40B4-BE49-F238E27FC236}">
                <a16:creationId xmlns:a16="http://schemas.microsoft.com/office/drawing/2014/main" id="{F84D68F2-14CA-AD9A-238E-53EDACBE26E7}"/>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36</a:t>
            </a:fld>
            <a:endParaRPr/>
          </a:p>
        </p:txBody>
      </p:sp>
      <p:sp>
        <p:nvSpPr>
          <p:cNvPr id="4" name="文字方塊 3">
            <a:extLst>
              <a:ext uri="{FF2B5EF4-FFF2-40B4-BE49-F238E27FC236}">
                <a16:creationId xmlns:a16="http://schemas.microsoft.com/office/drawing/2014/main" id="{86D4FF18-13D1-EBB0-0A73-CF5C395DC7F7}"/>
              </a:ext>
            </a:extLst>
          </p:cNvPr>
          <p:cNvSpPr txBox="1"/>
          <p:nvPr/>
        </p:nvSpPr>
        <p:spPr>
          <a:xfrm>
            <a:off x="1936252" y="248824"/>
            <a:ext cx="7680960" cy="523220"/>
          </a:xfrm>
          <a:prstGeom prst="rect">
            <a:avLst/>
          </a:prstGeom>
          <a:noFill/>
        </p:spPr>
        <p:txBody>
          <a:bodyPr wrap="square">
            <a:spAutoFit/>
          </a:bodyPr>
          <a:lstStyle/>
          <a:p>
            <a:pPr algn="ctr"/>
            <a:r>
              <a:rPr lang="en-US" sz="2800" b="1" dirty="0">
                <a:latin typeface="Calibri" panose="020F0502020204030204" pitchFamily="34" charset="0"/>
                <a:cs typeface="Calibri" panose="020F0502020204030204" pitchFamily="34" charset="0"/>
              </a:rPr>
              <a:t>SHAP</a:t>
            </a:r>
          </a:p>
        </p:txBody>
      </p:sp>
      <p:sp>
        <p:nvSpPr>
          <p:cNvPr id="6" name="文字方塊 5">
            <a:extLst>
              <a:ext uri="{FF2B5EF4-FFF2-40B4-BE49-F238E27FC236}">
                <a16:creationId xmlns:a16="http://schemas.microsoft.com/office/drawing/2014/main" id="{F187A142-AA73-8825-3A4D-A203B3F8E707}"/>
              </a:ext>
            </a:extLst>
          </p:cNvPr>
          <p:cNvSpPr txBox="1"/>
          <p:nvPr/>
        </p:nvSpPr>
        <p:spPr>
          <a:xfrm>
            <a:off x="2581062" y="1071879"/>
            <a:ext cx="7036149" cy="506292"/>
          </a:xfrm>
          <a:prstGeom prst="rect">
            <a:avLst/>
          </a:prstGeom>
          <a:noFill/>
        </p:spPr>
        <p:txBody>
          <a:bodyPr wrap="square">
            <a:spAutoFit/>
          </a:bodyPr>
          <a:lstStyle/>
          <a:p>
            <a:pPr>
              <a:lnSpc>
                <a:spcPct val="150000"/>
              </a:lnSpc>
            </a:pPr>
            <a:r>
              <a:rPr lang="en-US" sz="2000" b="1" dirty="0">
                <a:solidFill>
                  <a:srgbClr val="1F1F1F"/>
                </a:solidFill>
                <a:latin typeface="Calibri" panose="020F0502020204030204" pitchFamily="34" charset="0"/>
                <a:cs typeface="Calibri" panose="020F0502020204030204" pitchFamily="34" charset="0"/>
              </a:rPr>
              <a:t>C</a:t>
            </a:r>
            <a:r>
              <a:rPr lang="en-US" sz="2000" b="1" i="0" dirty="0">
                <a:solidFill>
                  <a:srgbClr val="1F1F1F"/>
                </a:solidFill>
                <a:effectLst/>
                <a:latin typeface="Calibri" panose="020F0502020204030204" pitchFamily="34" charset="0"/>
                <a:cs typeface="Calibri" panose="020F0502020204030204" pitchFamily="34" charset="0"/>
              </a:rPr>
              <a:t>PH                                                                                             RSF</a:t>
            </a:r>
            <a:endParaRPr lang="en-US" sz="2000" b="1" dirty="0">
              <a:latin typeface="Calibri" panose="020F0502020204030204" pitchFamily="34" charset="0"/>
              <a:cs typeface="Calibri" panose="020F0502020204030204" pitchFamily="34" charset="0"/>
            </a:endParaRPr>
          </a:p>
        </p:txBody>
      </p:sp>
      <p:pic>
        <p:nvPicPr>
          <p:cNvPr id="7" name="圖片 6">
            <a:extLst>
              <a:ext uri="{FF2B5EF4-FFF2-40B4-BE49-F238E27FC236}">
                <a16:creationId xmlns:a16="http://schemas.microsoft.com/office/drawing/2014/main" id="{E69FC633-CFF4-CD5A-29F4-D9061E8FBF4E}"/>
              </a:ext>
            </a:extLst>
          </p:cNvPr>
          <p:cNvPicPr>
            <a:picLocks noChangeAspect="1"/>
          </p:cNvPicPr>
          <p:nvPr/>
        </p:nvPicPr>
        <p:blipFill>
          <a:blip r:embed="rId3"/>
          <a:stretch>
            <a:fillRect/>
          </a:stretch>
        </p:blipFill>
        <p:spPr>
          <a:xfrm>
            <a:off x="6095999" y="1878006"/>
            <a:ext cx="5619891" cy="3483794"/>
          </a:xfrm>
          <a:prstGeom prst="rect">
            <a:avLst/>
          </a:prstGeom>
        </p:spPr>
      </p:pic>
      <p:pic>
        <p:nvPicPr>
          <p:cNvPr id="9" name="圖片 8">
            <a:extLst>
              <a:ext uri="{FF2B5EF4-FFF2-40B4-BE49-F238E27FC236}">
                <a16:creationId xmlns:a16="http://schemas.microsoft.com/office/drawing/2014/main" id="{5B900BCA-CB37-481C-16AA-6FBB8167079C}"/>
              </a:ext>
            </a:extLst>
          </p:cNvPr>
          <p:cNvPicPr>
            <a:picLocks noChangeAspect="1"/>
          </p:cNvPicPr>
          <p:nvPr/>
        </p:nvPicPr>
        <p:blipFill>
          <a:blip r:embed="rId4"/>
          <a:stretch>
            <a:fillRect/>
          </a:stretch>
        </p:blipFill>
        <p:spPr>
          <a:xfrm>
            <a:off x="476110" y="1903119"/>
            <a:ext cx="5467631" cy="3499030"/>
          </a:xfrm>
          <a:prstGeom prst="rect">
            <a:avLst/>
          </a:prstGeom>
        </p:spPr>
      </p:pic>
      <p:sp>
        <p:nvSpPr>
          <p:cNvPr id="5" name="文字方塊 4">
            <a:extLst>
              <a:ext uri="{FF2B5EF4-FFF2-40B4-BE49-F238E27FC236}">
                <a16:creationId xmlns:a16="http://schemas.microsoft.com/office/drawing/2014/main" id="{EE9415CD-8C53-00E3-E19D-0682AF73E073}"/>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2.4 Preliminary Results</a:t>
            </a:r>
            <a:endParaRPr lang="en-US" sz="1400" b="0" i="0" u="none" strike="noStrike" cap="none"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1890350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2" name="Google Shape;132;p8">
            <a:extLst>
              <a:ext uri="{FF2B5EF4-FFF2-40B4-BE49-F238E27FC236}">
                <a16:creationId xmlns:a16="http://schemas.microsoft.com/office/drawing/2014/main" id="{3A8F4A3B-B16E-3BD6-DB19-8C5734DFEDF5}"/>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37</a:t>
            </a:fld>
            <a:endParaRPr lang="en-US"/>
          </a:p>
        </p:txBody>
      </p:sp>
      <p:sp>
        <p:nvSpPr>
          <p:cNvPr id="3" name="矩形 2">
            <a:extLst>
              <a:ext uri="{FF2B5EF4-FFF2-40B4-BE49-F238E27FC236}">
                <a16:creationId xmlns:a16="http://schemas.microsoft.com/office/drawing/2014/main" id="{292A3170-0839-5ABA-9AD7-4D120956F237}"/>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Google Shape;429;g35aa69b00f9_0_65"/>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37</a:t>
            </a:fld>
            <a:endParaRPr/>
          </a:p>
        </p:txBody>
      </p:sp>
      <p:sp>
        <p:nvSpPr>
          <p:cNvPr id="430" name="Google Shape;430;g35aa69b00f9_0_65"/>
          <p:cNvSpPr txBox="1"/>
          <p:nvPr/>
        </p:nvSpPr>
        <p:spPr>
          <a:xfrm>
            <a:off x="429150" y="1463153"/>
            <a:ext cx="11333700" cy="4325769"/>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Development of survival prediction models</a:t>
            </a:r>
            <a:r>
              <a:rPr lang="zh-TW" sz="1800" b="0" i="0" u="none" strike="noStrike" cap="none" dirty="0">
                <a:solidFill>
                  <a:schemeClr val="dk1"/>
                </a:solidFill>
                <a:latin typeface="Calibri"/>
                <a:ea typeface="Calibri"/>
                <a:cs typeface="Calibri"/>
                <a:sym typeface="Calibri"/>
              </a:rPr>
              <a:t> based on pre-treatment skeletal muscle index (SMI) and skeletal muscle density (SMD), incorporating relevant clinical features.</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Implementation of explainable AI (e.g., SHAP)</a:t>
            </a:r>
            <a:r>
              <a:rPr lang="zh-TW" sz="1800" b="0" i="0" u="none" strike="noStrike" cap="none" dirty="0">
                <a:solidFill>
                  <a:schemeClr val="dk1"/>
                </a:solidFill>
                <a:latin typeface="Calibri"/>
                <a:ea typeface="Calibri"/>
                <a:cs typeface="Calibri"/>
                <a:sym typeface="Calibri"/>
              </a:rPr>
              <a:t> to quantify feature contributions and visualize non-linear risk patterns.</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Identification of optimal, data-driven thresholds</a:t>
            </a:r>
            <a:r>
              <a:rPr lang="zh-TW" sz="1800" b="0" i="0" u="none" strike="noStrike" cap="none" dirty="0">
                <a:solidFill>
                  <a:schemeClr val="dk1"/>
                </a:solidFill>
                <a:latin typeface="Calibri"/>
                <a:ea typeface="Calibri"/>
                <a:cs typeface="Calibri"/>
                <a:sym typeface="Calibri"/>
              </a:rPr>
              <a:t> for SMI and SMD using SHAP dependence plots and change-point detection.</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zh-TW" sz="1800" b="1" i="0" u="none" strike="noStrike" cap="none" dirty="0">
                <a:solidFill>
                  <a:schemeClr val="dk1"/>
                </a:solidFill>
                <a:latin typeface="Calibri"/>
                <a:ea typeface="Calibri"/>
                <a:cs typeface="Calibri"/>
                <a:sym typeface="Calibri"/>
              </a:rPr>
              <a:t>Validation of AI-derived cut-offs</a:t>
            </a:r>
            <a:r>
              <a:rPr lang="zh-TW" sz="1800" b="0" i="0" u="none" strike="noStrike" cap="none" dirty="0">
                <a:solidFill>
                  <a:schemeClr val="dk1"/>
                </a:solidFill>
                <a:latin typeface="Calibri"/>
                <a:ea typeface="Calibri"/>
                <a:cs typeface="Calibri"/>
                <a:sym typeface="Calibri"/>
              </a:rPr>
              <a:t> via survival analysis (Kaplan–Meier curves, log-rank test, Cox regression)</a:t>
            </a:r>
            <a:r>
              <a:rPr lang="en-US" altLang="zh-TW" sz="1800" b="0" i="0" u="none" strike="noStrike" cap="none" dirty="0">
                <a:solidFill>
                  <a:schemeClr val="dk1"/>
                </a:solidFill>
                <a:latin typeface="Calibri"/>
                <a:ea typeface="Calibri"/>
                <a:cs typeface="Calibri"/>
                <a:sym typeface="Calibri"/>
              </a:rPr>
              <a:t>.</a:t>
            </a:r>
            <a:br>
              <a:rPr lang="zh-TW" sz="1800" b="0" i="0" u="none" strike="noStrike" cap="none" dirty="0">
                <a:solidFill>
                  <a:schemeClr val="dk1"/>
                </a:solidFill>
                <a:latin typeface="Calibri"/>
                <a:ea typeface="Calibri"/>
                <a:cs typeface="Calibri"/>
                <a:sym typeface="Calibri"/>
              </a:rPr>
            </a:br>
            <a:endParaRPr sz="1800" b="0" i="0" u="none" strike="noStrike" cap="none" dirty="0">
              <a:solidFill>
                <a:schemeClr val="dk1"/>
              </a:solidFill>
              <a:latin typeface="Calibri"/>
              <a:ea typeface="Calibri"/>
              <a:cs typeface="Calibri"/>
              <a:sym typeface="Calibri"/>
            </a:endParaRPr>
          </a:p>
          <a:p>
            <a:pPr marL="457200" marR="0" lvl="0" indent="-342900" algn="l" rtl="0">
              <a:lnSpc>
                <a:spcPct val="115000"/>
              </a:lnSpc>
              <a:spcBef>
                <a:spcPts val="0"/>
              </a:spcBef>
              <a:spcAft>
                <a:spcPts val="0"/>
              </a:spcAft>
              <a:buClr>
                <a:schemeClr val="dk1"/>
              </a:buClr>
              <a:buSzPts val="1800"/>
              <a:buFont typeface="Arial"/>
              <a:buChar char="●"/>
            </a:pPr>
            <a:r>
              <a:rPr lang="en-US" altLang="zh-TW" sz="1800" i="0" u="none" strike="noStrike" cap="none" dirty="0">
                <a:solidFill>
                  <a:schemeClr val="dk1"/>
                </a:solidFill>
                <a:latin typeface="Calibri"/>
                <a:ea typeface="Calibri"/>
                <a:cs typeface="Calibri"/>
                <a:sym typeface="Calibri"/>
              </a:rPr>
              <a:t>These findings may support more refined patient stratification and serve as a reference for future clinical decision-making and research.</a:t>
            </a:r>
            <a:endParaRPr lang="en-US" sz="1800" i="0" u="none" strike="noStrike" cap="none" dirty="0">
              <a:solidFill>
                <a:schemeClr val="dk1"/>
              </a:solidFill>
              <a:latin typeface="Calibri"/>
              <a:ea typeface="Calibri"/>
              <a:cs typeface="Calibri"/>
              <a:sym typeface="Calibri"/>
            </a:endParaRPr>
          </a:p>
        </p:txBody>
      </p:sp>
      <p:sp>
        <p:nvSpPr>
          <p:cNvPr id="431" name="Google Shape;431;g35aa69b00f9_0_65"/>
          <p:cNvSpPr txBox="1"/>
          <p:nvPr/>
        </p:nvSpPr>
        <p:spPr>
          <a:xfrm>
            <a:off x="1689961" y="197110"/>
            <a:ext cx="9109450" cy="934841"/>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rgbClr val="000000"/>
              </a:buClr>
              <a:buSzPts val="2500"/>
              <a:buFont typeface="Arial"/>
              <a:buNone/>
            </a:pPr>
            <a:r>
              <a:rPr lang="en-US" altLang="zh-TW" sz="2500" b="1" i="0" u="none" strike="noStrike" cap="none" dirty="0">
                <a:solidFill>
                  <a:schemeClr val="dk1"/>
                </a:solidFill>
                <a:latin typeface="Arial"/>
                <a:ea typeface="Arial"/>
                <a:cs typeface="Arial"/>
                <a:sym typeface="Arial"/>
              </a:rPr>
              <a:t>Conclusion and Future Work</a:t>
            </a:r>
            <a:endParaRPr lang="en-US" sz="2500" b="1" i="0" u="none" strike="noStrike" cap="none" dirty="0">
              <a:solidFill>
                <a:schemeClr val="dk1"/>
              </a:solidFill>
              <a:latin typeface="Arial"/>
              <a:ea typeface="Arial"/>
              <a:cs typeface="Arial"/>
              <a:sym typeface="Arial"/>
            </a:endParaRPr>
          </a:p>
        </p:txBody>
      </p:sp>
      <p:sp>
        <p:nvSpPr>
          <p:cNvPr id="5" name="文字方塊 4">
            <a:extLst>
              <a:ext uri="{FF2B5EF4-FFF2-40B4-BE49-F238E27FC236}">
                <a16:creationId xmlns:a16="http://schemas.microsoft.com/office/drawing/2014/main" id="{BB907BE3-DAB5-A59C-1E91-3A066F1E471C}"/>
              </a:ext>
            </a:extLst>
          </p:cNvPr>
          <p:cNvSpPr txBox="1"/>
          <p:nvPr/>
        </p:nvSpPr>
        <p:spPr>
          <a:xfrm>
            <a:off x="-397183" y="6451325"/>
            <a:ext cx="6177914" cy="382092"/>
          </a:xfrm>
          <a:prstGeom prst="rect">
            <a:avLst/>
          </a:prstGeom>
          <a:noFill/>
        </p:spPr>
        <p:txBody>
          <a:bodyPr wrap="square">
            <a:spAutoFit/>
          </a:bodyPr>
          <a:lstStyle/>
          <a:p>
            <a:pPr marL="457200" marR="0" lvl="0" indent="0" algn="l" rtl="0">
              <a:lnSpc>
                <a:spcPct val="150000"/>
              </a:lnSpc>
              <a:spcBef>
                <a:spcPts val="0"/>
              </a:spcBef>
              <a:spcAft>
                <a:spcPts val="0"/>
              </a:spcAft>
              <a:buClr>
                <a:schemeClr val="dk1"/>
              </a:buClr>
              <a:buSzPts val="1100"/>
              <a:buFont typeface="Arial"/>
              <a:buNone/>
            </a:pPr>
            <a:r>
              <a:rPr lang="en-US" sz="1400" dirty="0">
                <a:solidFill>
                  <a:schemeClr val="bg1"/>
                </a:solidFill>
                <a:latin typeface="Calibri"/>
                <a:ea typeface="Calibri"/>
                <a:cs typeface="Calibri"/>
                <a:sym typeface="Calibri"/>
              </a:rPr>
              <a:t>2.5 Conclusion and Future Work</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C48D6AB-26EE-8DC6-59AD-5C1421A96843}"/>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22782406-5575-44DE-32EE-EC8EB6679FF6}"/>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38</a:t>
            </a:fld>
            <a:endParaRPr lang="en-US"/>
          </a:p>
        </p:txBody>
      </p:sp>
      <p:sp>
        <p:nvSpPr>
          <p:cNvPr id="3" name="矩形 2">
            <a:extLst>
              <a:ext uri="{FF2B5EF4-FFF2-40B4-BE49-F238E27FC236}">
                <a16:creationId xmlns:a16="http://schemas.microsoft.com/office/drawing/2014/main" id="{015ABB9F-6D51-A54D-1441-22FE1E9FFD73}"/>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Google Shape;93;p3">
            <a:extLst>
              <a:ext uri="{FF2B5EF4-FFF2-40B4-BE49-F238E27FC236}">
                <a16:creationId xmlns:a16="http://schemas.microsoft.com/office/drawing/2014/main" id="{D7AE8A70-BCA8-DF23-4F01-3A4DC0B79AA3}"/>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38</a:t>
            </a:fld>
            <a:endParaRPr/>
          </a:p>
        </p:txBody>
      </p:sp>
      <p:sp>
        <p:nvSpPr>
          <p:cNvPr id="94" name="Google Shape;94;p3">
            <a:extLst>
              <a:ext uri="{FF2B5EF4-FFF2-40B4-BE49-F238E27FC236}">
                <a16:creationId xmlns:a16="http://schemas.microsoft.com/office/drawing/2014/main" id="{38A54402-1F20-C9F7-254F-B7AB343E8A71}"/>
              </a:ext>
            </a:extLst>
          </p:cNvPr>
          <p:cNvSpPr txBox="1"/>
          <p:nvPr/>
        </p:nvSpPr>
        <p:spPr>
          <a:xfrm>
            <a:off x="210234" y="685070"/>
            <a:ext cx="11771532" cy="8200676"/>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Mourtzakis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M, Prado CMM, Lieffers JR, Reiman T, McCargar LJ,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Baracos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VE. A practical and precise approach to quantification of body composition in cancer patients using computed tomography images acquired during routine care. Appl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Physiol</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Nutr</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Metab</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2008;33(5):997–1006. doi:10.1139/H08-075</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Shen W,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Punyanitya</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M, Wang Z, Gallagher D, St-Onge MP, Albu J, et al. Total body skeletal muscle and adipose tissue volumes: estimation from a single abdominal cross-sectional image. J Appl Physiol. 2004;97(6):2333–8. doi:10.1152/japplphysiol.00744.2004</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Mourtzakis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M, Prado CM, Lieffers JR, Reiman T, McCargar LJ,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Baracos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VE. A practical and precise approach to quantification of body composition in cancer patients using computed tomography images acquired during routine care. Appl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Physiol</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Nutr</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Metab</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2008;33(5):997–1006.</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Shachar SS, Williams GR, Muss HB, Nishijima TF. Prognostic value of sarcopenia in adults with solid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tumours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 meta-analysis and systematic review.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Eur</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J Cancer. 2016;57:58–67.</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Aleixo GFP, Shachar SS, Nyrop KA, Muss HB, Malpica L, Williams GR.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Myosteatosis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and prognosis in cancer: Systematic review and meta-analysis. Crit Rev Oncol Hematol. 2020;145:102839.</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Di Giorgio A, Rotolo S,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Cintoni</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M, et al. Prognostic value of skeletal muscle index after cytoreduction and HIPEC for peritoneal metastases from colorectal cancer: A systematic review and meta-analysis.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Eur</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J Surg Oncol. 2022;48(3):649–656.</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Tranoulis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 Kwong FLA,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Lakhiani</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 et al. Prevalence of CT-based sarcopenia and prognostic value of skeletal muscle index and attenuation in epithelial ovarian cancer: A systematic review and meta-analysis.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Eur</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J Surg Oncol. 2022;48:1441–1454.</a:t>
            </a:r>
          </a:p>
          <a:p>
            <a:pPr>
              <a:buSzPts val="1400"/>
            </a:pPr>
            <a:endParaRPr lang="en-US" sz="1400" dirty="0"/>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endParaRPr lang="en-US" altLang="zh-TW" sz="15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endParaRPr sz="1500" b="0" i="0" u="none" strike="noStrike" cap="none" dirty="0">
              <a:solidFill>
                <a:schemeClr val="dk1"/>
              </a:solidFill>
              <a:latin typeface="Arial"/>
              <a:ea typeface="Arial"/>
              <a:cs typeface="Arial"/>
              <a:sym typeface="Arial"/>
            </a:endParaRPr>
          </a:p>
          <a:p>
            <a:pPr marL="457200" marR="0" lvl="0" indent="0" algn="l" rtl="0">
              <a:lnSpc>
                <a:spcPct val="115000"/>
              </a:lnSpc>
              <a:spcBef>
                <a:spcPts val="1200"/>
              </a:spcBef>
              <a:spcAft>
                <a:spcPts val="120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
        <p:nvSpPr>
          <p:cNvPr id="6" name="Google Shape;96;p3">
            <a:extLst>
              <a:ext uri="{FF2B5EF4-FFF2-40B4-BE49-F238E27FC236}">
                <a16:creationId xmlns:a16="http://schemas.microsoft.com/office/drawing/2014/main" id="{975AF2C4-094C-EC01-F0C3-21472BCF5BAC}"/>
              </a:ext>
            </a:extLst>
          </p:cNvPr>
          <p:cNvSpPr txBox="1"/>
          <p:nvPr/>
        </p:nvSpPr>
        <p:spPr>
          <a:xfrm>
            <a:off x="-301519" y="0"/>
            <a:ext cx="12795038" cy="859692"/>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400"/>
              </a:spcBef>
              <a:spcAft>
                <a:spcPts val="0"/>
              </a:spcAft>
              <a:buClr>
                <a:srgbClr val="000000"/>
              </a:buClr>
              <a:buSzPts val="2500"/>
              <a:buFont typeface="Arial"/>
              <a:buNone/>
            </a:pPr>
            <a:r>
              <a:rPr lang="en-US" altLang="zh-TW" sz="2800" b="1" i="0" u="none" strike="noStrike" cap="none" dirty="0">
                <a:solidFill>
                  <a:schemeClr val="dk1"/>
                </a:solidFill>
                <a:latin typeface="Calibri"/>
                <a:ea typeface="Calibri"/>
                <a:cs typeface="Calibri"/>
                <a:sym typeface="Calibri"/>
              </a:rPr>
              <a:t>Reference</a:t>
            </a:r>
            <a:endParaRPr sz="2500" b="1"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6950079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23D29DFE-7C6E-6EDE-DC18-36A56E22CF35}"/>
            </a:ext>
          </a:extLst>
        </p:cNvPr>
        <p:cNvGrpSpPr/>
        <p:nvPr/>
      </p:nvGrpSpPr>
      <p:grpSpPr>
        <a:xfrm>
          <a:off x="0" y="0"/>
          <a:ext cx="0" cy="0"/>
          <a:chOff x="0" y="0"/>
          <a:chExt cx="0" cy="0"/>
        </a:xfrm>
      </p:grpSpPr>
      <p:sp>
        <p:nvSpPr>
          <p:cNvPr id="2" name="Google Shape;132;p8">
            <a:extLst>
              <a:ext uri="{FF2B5EF4-FFF2-40B4-BE49-F238E27FC236}">
                <a16:creationId xmlns:a16="http://schemas.microsoft.com/office/drawing/2014/main" id="{334622BA-8F5F-A83E-D897-3834AD94E361}"/>
              </a:ext>
            </a:extLst>
          </p:cNvPr>
          <p:cNvSpPr txBox="1">
            <a:spLocks/>
          </p:cNvSpPr>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Times New Roman"/>
                <a:ea typeface="Times New Roman"/>
                <a:cs typeface="Times New Roman"/>
                <a:sym typeface="Times New Roman"/>
              </a:defRPr>
            </a:lvl9pPr>
          </a:lstStyle>
          <a:p>
            <a:fld id="{00000000-1234-1234-1234-123412341234}" type="slidenum">
              <a:rPr lang="en-US" altLang="zh-TW" smtClean="0"/>
              <a:pPr/>
              <a:t>39</a:t>
            </a:fld>
            <a:endParaRPr lang="en-US"/>
          </a:p>
        </p:txBody>
      </p:sp>
      <p:sp>
        <p:nvSpPr>
          <p:cNvPr id="3" name="矩形 2">
            <a:extLst>
              <a:ext uri="{FF2B5EF4-FFF2-40B4-BE49-F238E27FC236}">
                <a16:creationId xmlns:a16="http://schemas.microsoft.com/office/drawing/2014/main" id="{3A9D4A6E-17BB-B911-557C-2FC818B62D53}"/>
              </a:ext>
            </a:extLst>
          </p:cNvPr>
          <p:cNvSpPr/>
          <p:nvPr/>
        </p:nvSpPr>
        <p:spPr>
          <a:xfrm>
            <a:off x="0" y="6492875"/>
            <a:ext cx="12192000" cy="365125"/>
          </a:xfrm>
          <a:prstGeom prst="rect">
            <a:avLst/>
          </a:prstGeom>
          <a:solidFill>
            <a:srgbClr val="072F6F"/>
          </a:solidFill>
          <a:ln>
            <a:solidFill>
              <a:srgbClr val="072F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Google Shape;93;p3">
            <a:extLst>
              <a:ext uri="{FF2B5EF4-FFF2-40B4-BE49-F238E27FC236}">
                <a16:creationId xmlns:a16="http://schemas.microsoft.com/office/drawing/2014/main" id="{BF58C890-AD0F-7FC0-6E21-F798462A81C6}"/>
              </a:ext>
            </a:extLst>
          </p:cNvPr>
          <p:cNvSpPr txBox="1">
            <a:spLocks noGrp="1"/>
          </p:cNvSpPr>
          <p:nvPr>
            <p:ph type="sldNum" idx="12"/>
          </p:nvPr>
        </p:nvSpPr>
        <p:spPr>
          <a:xfrm>
            <a:off x="11561462" y="6492875"/>
            <a:ext cx="7875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39</a:t>
            </a:fld>
            <a:endParaRPr/>
          </a:p>
        </p:txBody>
      </p:sp>
      <p:sp>
        <p:nvSpPr>
          <p:cNvPr id="94" name="Google Shape;94;p3">
            <a:extLst>
              <a:ext uri="{FF2B5EF4-FFF2-40B4-BE49-F238E27FC236}">
                <a16:creationId xmlns:a16="http://schemas.microsoft.com/office/drawing/2014/main" id="{02FD6C7E-4D96-1E98-5484-417A65A46C18}"/>
              </a:ext>
            </a:extLst>
          </p:cNvPr>
          <p:cNvSpPr txBox="1"/>
          <p:nvPr/>
        </p:nvSpPr>
        <p:spPr>
          <a:xfrm>
            <a:off x="420468" y="429846"/>
            <a:ext cx="11771532" cy="8322248"/>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endParaRPr lang="en-US" altLang="zh-TW" sz="1800" i="0" u="none" strike="noStrike" cap="none" dirty="0">
              <a:solidFill>
                <a:schemeClr val="dk1"/>
              </a:solidFill>
              <a:latin typeface="Calibri" panose="020F0502020204030204" pitchFamily="34" charset="0"/>
              <a:cs typeface="Calibri" panose="020F0502020204030204" pitchFamily="34" charset="0"/>
              <a:sym typeface="Arial"/>
            </a:endParaRP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Xu L, Jing Y, Zhao C, et al. Preoperative CT-assessed skeletal muscle index as a prognostic factor in hepatocellular carcinoma after hepatectomy: A meta-analysis. J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Gastrointest</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Oncol. 2020;11(5):1040–1053.</a:t>
            </a:r>
            <a:endParaRPr lang="en-US" sz="1600" dirty="0"/>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Guo H, Chen S, Zheng T, et al. Association of low skeletal muscle mass and radiodensity with outcomes in robotic radical gastric cancer surgery: A population-based cohort study. BMC Cancer. 2025;25:741.</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McGovern J, Dolan RD, Horgan PG, Laird BJ, McMillan DC. CT-defined low skeletal muscle index and density in cancer: A systematic review. J Cachexia Sarcopenia Muscle. 2021;12(6):1408–1417.</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Surov</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 Thormann M, Wienke A, Ricke J, Seidensticker M. Different cutoff values for skeletal muscle mass and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myosteatosis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affect survival outcomes in oncology: A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subanalysis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of a clinical trial. J Cancer Res Clin Oncol. 2025;151:141–151.</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Ladbury</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C,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Zarinshenas</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R, Semwal H, et al. Utilization of model-agnostic explainable AI frameworks in oncology: A narrative review.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Transl</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Cancer Res. 2022;11(10):3853–3868.</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Moncada-Torres A, van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Maaren</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MC, Hendriks MP,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Siesling</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S,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Geleijnse</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G. Explainable machine learning outperforms Cox regression in breast cancer survival prediction. Sci Rep. 2021;11:6968.</a:t>
            </a:r>
          </a:p>
          <a:p>
            <a:pPr marL="285750" marR="0" lvl="0" indent="-285750" algn="l" rtl="0">
              <a:lnSpc>
                <a:spcPct val="115000"/>
              </a:lnSpc>
              <a:spcBef>
                <a:spcPts val="1200"/>
              </a:spcBef>
              <a:spcAft>
                <a:spcPts val="0"/>
              </a:spcAft>
              <a:buClr>
                <a:srgbClr val="000000"/>
              </a:buClr>
              <a:buSzPts val="2000"/>
              <a:buFont typeface="Arial" panose="020B0604020202020204" pitchFamily="34" charset="0"/>
              <a:buChar char="•"/>
            </a:pP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Lee SH, Geng H, Arnold J, et al. Interpretable machine learning for choosing dose-volume constraints associated with survival in NRG Oncology RTOG 0617. Int J </a:t>
            </a:r>
            <a:r>
              <a:rPr lang="en-US" altLang="zh-TW" sz="1600" i="0" u="none" strike="noStrike" cap="none" dirty="0" err="1">
                <a:solidFill>
                  <a:schemeClr val="dk1"/>
                </a:solidFill>
                <a:latin typeface="Calibri" panose="020F0502020204030204" pitchFamily="34" charset="0"/>
                <a:cs typeface="Calibri" panose="020F0502020204030204" pitchFamily="34" charset="0"/>
                <a:sym typeface="Arial"/>
              </a:rPr>
              <a:t>Radiat</a:t>
            </a:r>
            <a:r>
              <a:rPr lang="en-US" altLang="zh-TW" sz="1600" i="0" u="none" strike="noStrike" cap="none" dirty="0">
                <a:solidFill>
                  <a:schemeClr val="dk1"/>
                </a:solidFill>
                <a:latin typeface="Calibri" panose="020F0502020204030204" pitchFamily="34" charset="0"/>
                <a:cs typeface="Calibri" panose="020F0502020204030204" pitchFamily="34" charset="0"/>
                <a:sym typeface="Arial"/>
              </a:rPr>
              <a:t> Oncol Biol Phys. 2023;117(5):1270–1286.</a:t>
            </a:r>
          </a:p>
          <a:p>
            <a:pPr>
              <a:buSzPts val="1400"/>
            </a:pPr>
            <a:endParaRPr lang="en-US" sz="1400" dirty="0"/>
          </a:p>
          <a:p>
            <a:pPr>
              <a:buSzPts val="1400"/>
            </a:pPr>
            <a:endParaRPr lang="en-US" sz="1400" dirty="0"/>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lvl="0" indent="0" algn="l" rtl="0">
              <a:lnSpc>
                <a:spcPct val="100000"/>
              </a:lnSpc>
              <a:spcBef>
                <a:spcPts val="0"/>
              </a:spcBef>
              <a:spcAft>
                <a:spcPts val="0"/>
              </a:spcAft>
              <a:buSzPts val="1400"/>
              <a:buNone/>
            </a:pPr>
            <a:endParaRPr lang="en-US" sz="1500" dirty="0">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endParaRPr lang="en-US" altLang="zh-TW" sz="1500" b="1" i="0" u="none" strike="noStrike" cap="none" dirty="0">
              <a:solidFill>
                <a:schemeClr val="dk1"/>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000"/>
              <a:buFont typeface="Arial"/>
              <a:buNone/>
            </a:pPr>
            <a:endParaRPr sz="1500" b="0" i="0" u="none" strike="noStrike" cap="none" dirty="0">
              <a:solidFill>
                <a:schemeClr val="dk1"/>
              </a:solidFill>
              <a:latin typeface="Arial"/>
              <a:ea typeface="Arial"/>
              <a:cs typeface="Arial"/>
              <a:sym typeface="Arial"/>
            </a:endParaRPr>
          </a:p>
          <a:p>
            <a:pPr marL="457200" marR="0" lvl="0" indent="0" algn="l" rtl="0">
              <a:lnSpc>
                <a:spcPct val="115000"/>
              </a:lnSpc>
              <a:spcBef>
                <a:spcPts val="1200"/>
              </a:spcBef>
              <a:spcAft>
                <a:spcPts val="120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
        <p:nvSpPr>
          <p:cNvPr id="96" name="Google Shape;96;p3">
            <a:extLst>
              <a:ext uri="{FF2B5EF4-FFF2-40B4-BE49-F238E27FC236}">
                <a16:creationId xmlns:a16="http://schemas.microsoft.com/office/drawing/2014/main" id="{48DAC815-335B-61CD-43E9-7C4772BEC3F7}"/>
              </a:ext>
            </a:extLst>
          </p:cNvPr>
          <p:cNvSpPr txBox="1"/>
          <p:nvPr/>
        </p:nvSpPr>
        <p:spPr>
          <a:xfrm>
            <a:off x="-301519" y="0"/>
            <a:ext cx="12795038" cy="859692"/>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400"/>
              </a:spcBef>
              <a:spcAft>
                <a:spcPts val="0"/>
              </a:spcAft>
              <a:buClr>
                <a:srgbClr val="000000"/>
              </a:buClr>
              <a:buSzPts val="2500"/>
              <a:buFont typeface="Arial"/>
              <a:buNone/>
            </a:pPr>
            <a:r>
              <a:rPr lang="en-US" altLang="zh-TW" sz="2800" b="1" i="0" u="none" strike="noStrike" cap="none" dirty="0">
                <a:solidFill>
                  <a:schemeClr val="dk1"/>
                </a:solidFill>
                <a:latin typeface="Calibri"/>
                <a:ea typeface="Calibri"/>
                <a:cs typeface="Calibri"/>
                <a:sym typeface="Calibri"/>
              </a:rPr>
              <a:t>Reference</a:t>
            </a:r>
            <a:endParaRPr sz="2500" b="1"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38104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4"/>
          <p:cNvSpPr txBox="1">
            <a:spLocks noGrp="1"/>
          </p:cNvSpPr>
          <p:nvPr>
            <p:ph type="title"/>
          </p:nvPr>
        </p:nvSpPr>
        <p:spPr>
          <a:xfrm>
            <a:off x="838200" y="3057525"/>
            <a:ext cx="10515600" cy="763588"/>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400"/>
              <a:buFont typeface="Times New Roman"/>
              <a:buNone/>
            </a:pPr>
            <a:r>
              <a:rPr lang="zh-TW" sz="5400" b="1" dirty="0">
                <a:latin typeface="Calibri" panose="020F0502020204030204" pitchFamily="34" charset="0"/>
                <a:cs typeface="Calibri" panose="020F0502020204030204" pitchFamily="34" charset="0"/>
                <a:sym typeface="Times New Roman"/>
              </a:rPr>
              <a:t>Thank you !</a:t>
            </a:r>
            <a:endParaRPr sz="5400" b="1" dirty="0">
              <a:latin typeface="Calibri" panose="020F0502020204030204" pitchFamily="34" charset="0"/>
              <a:cs typeface="Calibri" panose="020F0502020204030204" pitchFamily="34" charset="0"/>
              <a:sym typeface="Times New Roman"/>
            </a:endParaRPr>
          </a:p>
        </p:txBody>
      </p:sp>
      <p:sp>
        <p:nvSpPr>
          <p:cNvPr id="461" name="Google Shape;461;p14"/>
          <p:cNvSpPr txBox="1">
            <a:spLocks noGrp="1"/>
          </p:cNvSpPr>
          <p:nvPr>
            <p:ph type="sldNum" idx="12"/>
          </p:nvPr>
        </p:nvSpPr>
        <p:spPr>
          <a:xfrm>
            <a:off x="11561463" y="6492875"/>
            <a:ext cx="7874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Font typeface="Arial"/>
              <a:buNone/>
            </a:pPr>
            <a:fld id="{00000000-1234-1234-1234-123412341234}" type="slidenum">
              <a:rPr lang="en-US" altLang="zh-TW"/>
              <a:t>40</a:t>
            </a:fld>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6196</TotalTime>
  <Words>4166</Words>
  <Application>Microsoft Macintosh PowerPoint</Application>
  <PresentationFormat>寬螢幕</PresentationFormat>
  <Paragraphs>575</Paragraphs>
  <Slides>40</Slides>
  <Notes>40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40</vt:i4>
      </vt:variant>
    </vt:vector>
  </HeadingPairs>
  <TitlesOfParts>
    <vt:vector size="44" baseType="lpstr">
      <vt:lpstr>Arial</vt:lpstr>
      <vt:lpstr>Times New Roman</vt:lpstr>
      <vt:lpstr>Calibri</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Claire</dc:creator>
  <cp:lastModifiedBy>翁寧緗</cp:lastModifiedBy>
  <cp:revision>61</cp:revision>
  <dcterms:modified xsi:type="dcterms:W3CDTF">2025-09-07T08:44:48Z</dcterms:modified>
</cp:coreProperties>
</file>